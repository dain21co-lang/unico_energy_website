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57200" y="420230"/>
            <a:ext cx="2668133" cy="48483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mailto:Info@ise-ag.com" TargetMode="External"/><Relationship Id="rId5" Type="http://schemas.openxmlformats.org/officeDocument/2006/relationships/hyperlink" Target="http://www.ise-ag.com/" TargetMode="Externa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mailto:Info@ise-ag.com" TargetMode="External"/><Relationship Id="rId3" Type="http://schemas.openxmlformats.org/officeDocument/2006/relationships/hyperlink" Target="http://www.ise-ag.com/" TargetMode="Externa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hyperlink" Target="mailto:Info@ise-ag.com" TargetMode="External"/><Relationship Id="rId4" Type="http://schemas.openxmlformats.org/officeDocument/2006/relationships/hyperlink" Target="http://www.ise-ag.com/" TargetMode="Externa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Relationship Id="rId3" Type="http://schemas.openxmlformats.org/officeDocument/2006/relationships/hyperlink" Target="mailto:Info@ise-ag.com" TargetMode="External"/><Relationship Id="rId4" Type="http://schemas.openxmlformats.org/officeDocument/2006/relationships/hyperlink" Target="http://www.ise-ag.com/" TargetMode="Externa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png"/><Relationship Id="rId5" Type="http://schemas.openxmlformats.org/officeDocument/2006/relationships/hyperlink" Target="mailto:Info@ise-ag.com" TargetMode="External"/><Relationship Id="rId6" Type="http://schemas.openxmlformats.org/officeDocument/2006/relationships/hyperlink" Target="http://www.ise-ag.com/" TargetMode="Externa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10.jpg"/><Relationship Id="rId5" Type="http://schemas.openxmlformats.org/officeDocument/2006/relationships/hyperlink" Target="mailto:Info@ise-ag.com" TargetMode="External"/><Relationship Id="rId6" Type="http://schemas.openxmlformats.org/officeDocument/2006/relationships/hyperlink" Target="http://www.ise-ag.com/" TargetMode="Externa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Relationship Id="rId3" Type="http://schemas.openxmlformats.org/officeDocument/2006/relationships/image" Target="../media/image8.png"/><Relationship Id="rId4" Type="http://schemas.openxmlformats.org/officeDocument/2006/relationships/image" Target="../media/image12.jpg"/><Relationship Id="rId5" Type="http://schemas.openxmlformats.org/officeDocument/2006/relationships/hyperlink" Target="mailto:Info@ise-ag.com" TargetMode="External"/><Relationship Id="rId6" Type="http://schemas.openxmlformats.org/officeDocument/2006/relationships/hyperlink" Target="http://www.ise-ag.com/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88628" y="415928"/>
            <a:ext cx="152781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5730" marR="5080" indent="-113664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Sample</a:t>
            </a:r>
            <a:r>
              <a:rPr dirty="0" sz="900" spc="-1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taking</a:t>
            </a:r>
            <a:r>
              <a:rPr dirty="0" sz="900" spc="-1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ID: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 ISE-ST2025437</a:t>
            </a:r>
            <a:r>
              <a:rPr dirty="0" sz="900" spc="500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Inspection</a:t>
            </a:r>
            <a:r>
              <a:rPr dirty="0" sz="900" spc="-20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ID:</a:t>
            </a:r>
            <a:r>
              <a:rPr dirty="0" sz="900" spc="-1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ISE-IR20252501</a:t>
            </a:r>
            <a:r>
              <a:rPr dirty="0" sz="900" spc="500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Valuation</a:t>
            </a:r>
            <a:r>
              <a:rPr dirty="0" sz="900" spc="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ID:</a:t>
            </a:r>
            <a:r>
              <a:rPr dirty="0" sz="900" spc="210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ISE-V202511468</a:t>
            </a:r>
            <a:endParaRPr sz="900">
              <a:latin typeface="Calibri Light"/>
              <a:cs typeface="Calibri Light"/>
            </a:endParaRPr>
          </a:p>
          <a:p>
            <a:pPr marL="845185">
              <a:lnSpc>
                <a:spcPct val="100000"/>
              </a:lnSpc>
            </a:pP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SKR-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20251032</a:t>
            </a:r>
            <a:endParaRPr sz="9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25731" y="9398353"/>
            <a:ext cx="9017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 i="1">
                <a:solidFill>
                  <a:srgbClr val="58595B"/>
                </a:solidFill>
                <a:latin typeface="Calibri"/>
                <a:cs typeface="Calibri"/>
              </a:rPr>
              <a:t>1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08332" y="9398353"/>
            <a:ext cx="234442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58595B"/>
                </a:solidFill>
                <a:latin typeface="Calibri"/>
                <a:cs typeface="Calibri"/>
              </a:rPr>
              <a:t>Customer:</a:t>
            </a:r>
            <a:r>
              <a:rPr dirty="0" sz="1000" spc="-10">
                <a:solidFill>
                  <a:srgbClr val="58595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58595B"/>
                </a:solidFill>
                <a:latin typeface="Calibri"/>
                <a:cs typeface="Calibri"/>
              </a:rPr>
              <a:t>Mercury</a:t>
            </a:r>
            <a:r>
              <a:rPr dirty="0" sz="1000" spc="-10">
                <a:solidFill>
                  <a:srgbClr val="58595B"/>
                </a:solidFill>
                <a:latin typeface="Calibri"/>
                <a:cs typeface="Calibri"/>
              </a:rPr>
              <a:t> Natural</a:t>
            </a:r>
            <a:r>
              <a:rPr dirty="0" sz="1000" spc="-15">
                <a:solidFill>
                  <a:srgbClr val="58595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58595B"/>
                </a:solidFill>
                <a:latin typeface="Calibri"/>
                <a:cs typeface="Calibri"/>
              </a:rPr>
              <a:t>Resources </a:t>
            </a:r>
            <a:r>
              <a:rPr dirty="0" sz="1000" spc="-20">
                <a:solidFill>
                  <a:srgbClr val="58595B"/>
                </a:solidFill>
                <a:latin typeface="Calibri"/>
                <a:cs typeface="Calibri"/>
              </a:rPr>
              <a:t>GmbH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4500" y="1059902"/>
            <a:ext cx="183007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800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Calibri Light"/>
                <a:cs typeface="Calibri Light"/>
              </a:rPr>
              <a:t>ISE </a:t>
            </a:r>
            <a:r>
              <a:rPr dirty="0" u="sng" sz="800" spc="-10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Calibri Light"/>
                <a:cs typeface="Calibri Light"/>
              </a:rPr>
              <a:t>Furrengasse</a:t>
            </a:r>
            <a:r>
              <a:rPr dirty="0" u="sng" sz="800" spc="-5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Calibri Light"/>
                <a:cs typeface="Calibri Light"/>
              </a:rPr>
              <a:t> </a:t>
            </a:r>
            <a:r>
              <a:rPr dirty="0" u="sng" sz="800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Calibri Light"/>
                <a:cs typeface="Calibri Light"/>
              </a:rPr>
              <a:t>21,</a:t>
            </a:r>
            <a:r>
              <a:rPr dirty="0" u="sng" sz="800" spc="5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Calibri Light"/>
                <a:cs typeface="Calibri Light"/>
              </a:rPr>
              <a:t> </a:t>
            </a:r>
            <a:r>
              <a:rPr dirty="0" u="sng" sz="800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Calibri Light"/>
                <a:cs typeface="Calibri Light"/>
              </a:rPr>
              <a:t>6004 Luzern</a:t>
            </a:r>
            <a:r>
              <a:rPr dirty="0" u="sng" sz="800" spc="5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Calibri Light"/>
                <a:cs typeface="Calibri Light"/>
              </a:rPr>
              <a:t> </a:t>
            </a:r>
            <a:r>
              <a:rPr dirty="0" u="sng" sz="800" spc="-10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Calibri Light"/>
                <a:cs typeface="Calibri Light"/>
              </a:rPr>
              <a:t>Switzerland</a:t>
            </a:r>
            <a:endParaRPr sz="800">
              <a:latin typeface="Calibri Light"/>
              <a:cs typeface="Calibri 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4500" y="1263203"/>
            <a:ext cx="211010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Mercury</a:t>
            </a:r>
            <a:r>
              <a:rPr dirty="0" sz="1200" spc="-4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Natural</a:t>
            </a:r>
            <a:r>
              <a:rPr dirty="0" sz="1200" spc="-4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Resources</a:t>
            </a:r>
            <a:r>
              <a:rPr dirty="0" sz="1200" spc="-4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GmbH </a:t>
            </a:r>
            <a:r>
              <a:rPr dirty="0" sz="1200" spc="-35">
                <a:solidFill>
                  <a:srgbClr val="231F20"/>
                </a:solidFill>
                <a:latin typeface="Calibri Light"/>
                <a:cs typeface="Calibri Light"/>
              </a:rPr>
              <a:t>Mr.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Michael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 Schäfer</a:t>
            </a:r>
            <a:endParaRPr sz="12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Ballindamm</a:t>
            </a:r>
            <a:r>
              <a:rPr dirty="0" sz="1200" spc="-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13</a:t>
            </a:r>
            <a:endParaRPr sz="12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20095</a:t>
            </a:r>
            <a:r>
              <a:rPr dirty="0" sz="1200" spc="-3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Hamburg</a:t>
            </a:r>
            <a:endParaRPr sz="1200">
              <a:latin typeface="Calibri Light"/>
              <a:cs typeface="Calibri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4500" y="2361245"/>
            <a:ext cx="6671945" cy="18230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Lucerne,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23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June</a:t>
            </a:r>
            <a:r>
              <a:rPr dirty="0" sz="1200" spc="-1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2025</a:t>
            </a:r>
            <a:endParaRPr sz="12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790"/>
              </a:spcBef>
            </a:pPr>
            <a:endParaRPr sz="1200">
              <a:latin typeface="Calibri Light"/>
              <a:cs typeface="Calibri Light"/>
            </a:endParaRPr>
          </a:p>
          <a:p>
            <a:pPr marL="12700" marR="862965">
              <a:lnSpc>
                <a:spcPct val="100000"/>
              </a:lnSpc>
            </a:pP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Analysis</a:t>
            </a:r>
            <a:r>
              <a:rPr dirty="0" sz="1200" spc="-2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200" spc="-2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copper</a:t>
            </a:r>
            <a:r>
              <a:rPr dirty="0" sz="1200" spc="-2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powder</a:t>
            </a:r>
            <a:r>
              <a:rPr dirty="0" sz="1200" spc="-2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for</a:t>
            </a:r>
            <a:r>
              <a:rPr dirty="0" sz="1200" spc="-2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31F20"/>
                </a:solidFill>
                <a:latin typeface="Calibri"/>
                <a:cs typeface="Calibri"/>
              </a:rPr>
              <a:t>chemical</a:t>
            </a:r>
            <a:r>
              <a:rPr dirty="0" sz="1200" spc="-1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purity</a:t>
            </a:r>
            <a:r>
              <a:rPr dirty="0" sz="1200" spc="-2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200" spc="-2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31F20"/>
                </a:solidFill>
                <a:latin typeface="Calibri"/>
                <a:cs typeface="Calibri"/>
              </a:rPr>
              <a:t>determination</a:t>
            </a:r>
            <a:r>
              <a:rPr dirty="0" sz="1200" spc="-2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200" spc="-2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31F20"/>
                </a:solidFill>
                <a:latin typeface="Calibri"/>
                <a:cs typeface="Calibri"/>
              </a:rPr>
              <a:t>particle</a:t>
            </a:r>
            <a:r>
              <a:rPr dirty="0" sz="1200" spc="-2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shape</a:t>
            </a:r>
            <a:r>
              <a:rPr dirty="0" sz="1200" spc="-2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200" spc="-2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31F20"/>
                </a:solidFill>
                <a:latin typeface="Calibri"/>
                <a:cs typeface="Calibri"/>
              </a:rPr>
              <a:t>size. </a:t>
            </a:r>
            <a:r>
              <a:rPr dirty="0" sz="1200" spc="-25" b="1">
                <a:solidFill>
                  <a:srgbClr val="231F20"/>
                </a:solidFill>
                <a:latin typeface="Calibri"/>
                <a:cs typeface="Calibri"/>
              </a:rPr>
              <a:t>Your</a:t>
            </a:r>
            <a:r>
              <a:rPr dirty="0" sz="1200" spc="-4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order</a:t>
            </a:r>
            <a:r>
              <a:rPr dirty="0" sz="1200" spc="-4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dated</a:t>
            </a:r>
            <a:r>
              <a:rPr dirty="0" sz="1200" spc="-4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3</a:t>
            </a:r>
            <a:r>
              <a:rPr dirty="0" sz="1200" spc="-4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June</a:t>
            </a:r>
            <a:r>
              <a:rPr dirty="0" sz="1200" spc="-4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31F20"/>
                </a:solidFill>
                <a:latin typeface="Calibri"/>
                <a:cs typeface="Calibri"/>
              </a:rPr>
              <a:t>2025.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Analysis</a:t>
            </a:r>
            <a:r>
              <a:rPr dirty="0" sz="1200" spc="-2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report</a:t>
            </a:r>
            <a:r>
              <a:rPr dirty="0" sz="1200" spc="-1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No.</a:t>
            </a:r>
            <a:r>
              <a:rPr dirty="0" sz="1200" spc="-20" b="1">
                <a:solidFill>
                  <a:srgbClr val="231F20"/>
                </a:solidFill>
                <a:latin typeface="Calibri"/>
                <a:cs typeface="Calibri"/>
              </a:rPr>
              <a:t> ISE-</a:t>
            </a:r>
            <a:r>
              <a:rPr dirty="0" sz="1200" spc="-10" b="1">
                <a:solidFill>
                  <a:srgbClr val="231F20"/>
                </a:solidFill>
                <a:latin typeface="Calibri"/>
                <a:cs typeface="Calibri"/>
              </a:rPr>
              <a:t>A20258366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200">
              <a:latin typeface="Calibri"/>
              <a:cs typeface="Calibri"/>
            </a:endParaRPr>
          </a:p>
          <a:p>
            <a:pPr marL="12700" marR="433705">
              <a:lnSpc>
                <a:spcPct val="100000"/>
              </a:lnSpc>
            </a:pP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In</a:t>
            </a:r>
            <a:r>
              <a:rPr dirty="0" sz="1200" spc="-1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accordance</a:t>
            </a:r>
            <a:r>
              <a:rPr dirty="0" sz="1200" spc="-1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with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the</a:t>
            </a:r>
            <a:r>
              <a:rPr dirty="0" sz="1200" spc="-1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above-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mentioned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order,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a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sample</a:t>
            </a:r>
            <a:r>
              <a:rPr dirty="0" sz="1200" spc="-1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of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the</a:t>
            </a:r>
            <a:r>
              <a:rPr dirty="0" sz="1200" spc="-1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customer’s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goods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was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 taken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by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an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ISE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inspector</a:t>
            </a:r>
            <a:r>
              <a:rPr dirty="0" sz="1200" spc="-1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on</a:t>
            </a:r>
            <a:r>
              <a:rPr dirty="0" sz="1200" spc="-1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3</a:t>
            </a:r>
            <a:r>
              <a:rPr dirty="0" sz="1200" spc="-1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June</a:t>
            </a:r>
            <a:r>
              <a:rPr dirty="0" sz="1200" spc="-1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2025,</a:t>
            </a:r>
            <a:r>
              <a:rPr dirty="0" sz="1200" spc="-1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for</a:t>
            </a:r>
            <a:r>
              <a:rPr dirty="0" sz="1200" spc="-1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GD/MS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purity</a:t>
            </a:r>
            <a:r>
              <a:rPr dirty="0" sz="1200" spc="-1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analysis</a:t>
            </a:r>
            <a:r>
              <a:rPr dirty="0" sz="1200" spc="-1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and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 determination</a:t>
            </a:r>
            <a:r>
              <a:rPr dirty="0" sz="1200" spc="-1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of</a:t>
            </a:r>
            <a:r>
              <a:rPr dirty="0" sz="1200" spc="-1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particle</a:t>
            </a:r>
            <a:r>
              <a:rPr dirty="0" sz="1200" spc="-1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shape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and</a:t>
            </a:r>
            <a:r>
              <a:rPr dirty="0" sz="1200" spc="-1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size.</a:t>
            </a:r>
            <a:endParaRPr sz="1200">
              <a:latin typeface="Calibri Light"/>
              <a:cs typeface="Calibr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4500" y="4602896"/>
            <a:ext cx="19081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The</a:t>
            </a:r>
            <a:r>
              <a:rPr dirty="0" sz="1200" spc="-3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sample</a:t>
            </a:r>
            <a:r>
              <a:rPr dirty="0" sz="1200" spc="-3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was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designated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as:</a:t>
            </a:r>
            <a:endParaRPr sz="1200">
              <a:latin typeface="Calibri Light"/>
              <a:cs typeface="Calibri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38144" y="4602896"/>
            <a:ext cx="208280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Copper</a:t>
            </a:r>
            <a:r>
              <a:rPr dirty="0" sz="1200" spc="-7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31F20"/>
                </a:solidFill>
                <a:latin typeface="Calibri"/>
                <a:cs typeface="Calibri"/>
              </a:rPr>
              <a:t>Powder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Sample</a:t>
            </a:r>
            <a:r>
              <a:rPr dirty="0" sz="1200" spc="-3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taking</a:t>
            </a:r>
            <a:r>
              <a:rPr dirty="0" sz="1200" spc="-2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ID:</a:t>
            </a:r>
            <a:r>
              <a:rPr dirty="0" sz="1200" spc="-20" b="1">
                <a:solidFill>
                  <a:srgbClr val="231F20"/>
                </a:solidFill>
                <a:latin typeface="Calibri"/>
                <a:cs typeface="Calibri"/>
              </a:rPr>
              <a:t> ISE-</a:t>
            </a:r>
            <a:r>
              <a:rPr dirty="0" sz="1200" spc="-10" b="1">
                <a:solidFill>
                  <a:srgbClr val="231F20"/>
                </a:solidFill>
                <a:latin typeface="Calibri"/>
                <a:cs typeface="Calibri"/>
              </a:rPr>
              <a:t>ST2025437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Sample:</a:t>
            </a:r>
            <a:r>
              <a:rPr dirty="0" sz="1200" spc="3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spc="-20" b="1">
                <a:solidFill>
                  <a:srgbClr val="231F20"/>
                </a:solidFill>
                <a:latin typeface="Calibri"/>
                <a:cs typeface="Calibri"/>
              </a:rPr>
              <a:t>ISE-5262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20" b="1">
                <a:solidFill>
                  <a:srgbClr val="231F20"/>
                </a:solidFill>
                <a:latin typeface="Calibri"/>
                <a:cs typeface="Calibri"/>
              </a:rPr>
              <a:t>Total</a:t>
            </a:r>
            <a:r>
              <a:rPr dirty="0" sz="1200" spc="-3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Quantity:</a:t>
            </a:r>
            <a:r>
              <a:rPr dirty="0" sz="1200" spc="-3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600</a:t>
            </a:r>
            <a:r>
              <a:rPr dirty="0" sz="1200" spc="-3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spc="-25" b="1">
                <a:solidFill>
                  <a:srgbClr val="231F20"/>
                </a:solidFill>
                <a:latin typeface="Calibri"/>
                <a:cs typeface="Calibri"/>
              </a:rPr>
              <a:t>kg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4500" y="5523240"/>
            <a:ext cx="6624320" cy="25088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According</a:t>
            </a:r>
            <a:r>
              <a:rPr dirty="0" sz="1200" spc="-3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to</a:t>
            </a:r>
            <a:r>
              <a:rPr dirty="0" sz="1200" spc="-3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the</a:t>
            </a:r>
            <a:r>
              <a:rPr dirty="0" sz="1200" spc="-3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attached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analytical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report,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the</a:t>
            </a:r>
            <a:r>
              <a:rPr dirty="0" sz="1200" spc="-3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chemical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purity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grade</a:t>
            </a:r>
            <a:r>
              <a:rPr dirty="0" sz="1200" spc="-3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of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the</a:t>
            </a:r>
            <a:r>
              <a:rPr dirty="0" sz="1200" spc="-3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copper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powder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is:</a:t>
            </a:r>
            <a:endParaRPr sz="1200">
              <a:latin typeface="Calibri Light"/>
              <a:cs typeface="Calibri Light"/>
            </a:endParaRPr>
          </a:p>
          <a:p>
            <a:pPr algn="ctr" marL="46355">
              <a:lnSpc>
                <a:spcPct val="100000"/>
              </a:lnSpc>
              <a:spcBef>
                <a:spcPts val="1015"/>
              </a:spcBef>
            </a:pP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Cu</a:t>
            </a:r>
            <a:r>
              <a:rPr dirty="0" sz="1200" spc="1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31F20"/>
                </a:solidFill>
                <a:latin typeface="Calibri"/>
                <a:cs typeface="Calibri"/>
              </a:rPr>
              <a:t>(Remainder)</a:t>
            </a:r>
            <a:r>
              <a:rPr dirty="0" sz="1200" spc="1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=</a:t>
            </a:r>
            <a:r>
              <a:rPr dirty="0" sz="1200" spc="1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99,9999%</a:t>
            </a:r>
            <a:r>
              <a:rPr dirty="0" sz="1200" spc="1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31F20"/>
                </a:solidFill>
                <a:latin typeface="Calibri"/>
                <a:cs typeface="Calibri"/>
              </a:rPr>
              <a:t>according</a:t>
            </a:r>
            <a:r>
              <a:rPr dirty="0" sz="1200" spc="1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200" spc="1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TU</a:t>
            </a:r>
            <a:r>
              <a:rPr dirty="0" sz="1200" spc="1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spc="-20" b="1">
                <a:solidFill>
                  <a:srgbClr val="231F20"/>
                </a:solidFill>
                <a:latin typeface="Calibri"/>
                <a:cs typeface="Calibri"/>
              </a:rPr>
              <a:t>24.44.21-002-75815004-</a:t>
            </a:r>
            <a:r>
              <a:rPr dirty="0" sz="1200" spc="-10" b="1">
                <a:solidFill>
                  <a:srgbClr val="231F20"/>
                </a:solidFill>
                <a:latin typeface="Calibri"/>
                <a:cs typeface="Calibri"/>
              </a:rPr>
              <a:t>2022.</a:t>
            </a:r>
            <a:endParaRPr sz="1200">
              <a:latin typeface="Calibri"/>
              <a:cs typeface="Calibri"/>
            </a:endParaRPr>
          </a:p>
          <a:p>
            <a:pPr algn="ctr" marL="45720">
              <a:lnSpc>
                <a:spcPct val="100000"/>
              </a:lnSpc>
            </a:pP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200" spc="-2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31F20"/>
                </a:solidFill>
                <a:latin typeface="Calibri"/>
                <a:cs typeface="Calibri"/>
              </a:rPr>
              <a:t>particle</a:t>
            </a:r>
            <a:r>
              <a:rPr dirty="0" sz="1200" spc="-2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shape</a:t>
            </a:r>
            <a:r>
              <a:rPr dirty="0" sz="1200" spc="-2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1200" spc="-2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round</a:t>
            </a:r>
            <a:r>
              <a:rPr dirty="0" sz="1200" spc="-2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200" spc="-1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31F20"/>
                </a:solidFill>
                <a:latin typeface="Calibri"/>
                <a:cs typeface="Calibri"/>
              </a:rPr>
              <a:t>dendritic.</a:t>
            </a:r>
            <a:endParaRPr sz="1200">
              <a:latin typeface="Calibri"/>
              <a:cs typeface="Calibri"/>
            </a:endParaRPr>
          </a:p>
          <a:p>
            <a:pPr algn="ctr" marL="45085">
              <a:lnSpc>
                <a:spcPct val="100000"/>
              </a:lnSpc>
            </a:pP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More</a:t>
            </a:r>
            <a:r>
              <a:rPr dirty="0" sz="1200" spc="-2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than</a:t>
            </a:r>
            <a:r>
              <a:rPr dirty="0" sz="1200" spc="-1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50%</a:t>
            </a:r>
            <a:r>
              <a:rPr dirty="0" sz="1200" spc="-2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200" spc="-2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31F20"/>
                </a:solidFill>
                <a:latin typeface="Calibri"/>
                <a:cs typeface="Calibri"/>
              </a:rPr>
              <a:t>particle</a:t>
            </a:r>
            <a:r>
              <a:rPr dirty="0" sz="1200" spc="-2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size</a:t>
            </a:r>
            <a:r>
              <a:rPr dirty="0" sz="1200" spc="-2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varies</a:t>
            </a:r>
            <a:r>
              <a:rPr dirty="0" sz="1200" spc="-1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200" spc="-2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200" spc="-2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31F20"/>
                </a:solidFill>
                <a:latin typeface="Calibri"/>
                <a:cs typeface="Calibri"/>
              </a:rPr>
              <a:t>range</a:t>
            </a:r>
            <a:r>
              <a:rPr dirty="0" sz="1200" spc="-2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200" spc="-2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31F20"/>
                </a:solidFill>
                <a:latin typeface="Calibri"/>
                <a:cs typeface="Calibri"/>
              </a:rPr>
              <a:t>13-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48</a:t>
            </a:r>
            <a:r>
              <a:rPr dirty="0" sz="1200" spc="-2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μm,</a:t>
            </a:r>
            <a:r>
              <a:rPr dirty="0" sz="1200" spc="-1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less</a:t>
            </a:r>
            <a:r>
              <a:rPr dirty="0" sz="1200" spc="-1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than</a:t>
            </a:r>
            <a:r>
              <a:rPr dirty="0" sz="1200" spc="-2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50%</a:t>
            </a:r>
            <a:r>
              <a:rPr dirty="0" sz="1200" spc="-2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200" spc="-1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200" spc="-2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31F20"/>
                </a:solidFill>
                <a:latin typeface="Calibri"/>
                <a:cs typeface="Calibri"/>
              </a:rPr>
              <a:t>range</a:t>
            </a:r>
            <a:r>
              <a:rPr dirty="0" sz="1200" spc="-2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200" spc="-2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31F20"/>
                </a:solidFill>
                <a:latin typeface="Calibri"/>
                <a:cs typeface="Calibri"/>
              </a:rPr>
              <a:t>0,6-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1,2</a:t>
            </a:r>
            <a:r>
              <a:rPr dirty="0" sz="1200" spc="-1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spc="-25" b="1">
                <a:solidFill>
                  <a:srgbClr val="231F20"/>
                </a:solidFill>
                <a:latin typeface="Calibri"/>
                <a:cs typeface="Calibri"/>
              </a:rPr>
              <a:t>μm.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1200">
              <a:latin typeface="Calibri"/>
              <a:cs typeface="Calibri"/>
            </a:endParaRPr>
          </a:p>
          <a:p>
            <a:pPr algn="just" marL="12700" marR="80645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The</a:t>
            </a:r>
            <a:r>
              <a:rPr dirty="0" sz="1200" spc="-3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impurities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contents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of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copper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powder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for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prescribed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impurities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(page</a:t>
            </a:r>
            <a:r>
              <a:rPr dirty="0" sz="1200" spc="-3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3)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are</a:t>
            </a:r>
            <a:r>
              <a:rPr dirty="0" sz="1200" spc="-3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no</a:t>
            </a:r>
            <a:r>
              <a:rPr dirty="0" sz="1200" spc="-3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more</a:t>
            </a:r>
            <a:r>
              <a:rPr dirty="0" sz="1200" spc="-3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than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0,41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ppm.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It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was</a:t>
            </a:r>
            <a:r>
              <a:rPr dirty="0" sz="1200" spc="-3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calculated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as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difference</a:t>
            </a:r>
            <a:r>
              <a:rPr dirty="0" sz="1200" spc="-3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between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100%</a:t>
            </a:r>
            <a:r>
              <a:rPr dirty="0" sz="1200" spc="-3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and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sum</a:t>
            </a:r>
            <a:r>
              <a:rPr dirty="0" sz="1200" spc="-3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of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impurities.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Тhе</a:t>
            </a:r>
            <a:r>
              <a:rPr dirty="0" sz="1200" spc="-3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impurities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list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and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grade</a:t>
            </a:r>
            <a:r>
              <a:rPr dirty="0" sz="1200" spc="-3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have</a:t>
            </a:r>
            <a:r>
              <a:rPr dirty="0" sz="1200" spc="-3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been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determined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 according</a:t>
            </a:r>
            <a:r>
              <a:rPr dirty="0" sz="1200" spc="-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to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the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technical</a:t>
            </a:r>
            <a:r>
              <a:rPr dirty="0" sz="1200" spc="-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standard</a:t>
            </a:r>
            <a:r>
              <a:rPr dirty="0" sz="1200" spc="-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TU</a:t>
            </a:r>
            <a:r>
              <a:rPr dirty="0" sz="1200" spc="-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24.44.21-002-75815004-2022.</a:t>
            </a:r>
            <a:endParaRPr sz="1200">
              <a:latin typeface="Calibri Light"/>
              <a:cs typeface="Calibri Light"/>
            </a:endParaRPr>
          </a:p>
          <a:p>
            <a:pPr algn="just" marL="12700">
              <a:lnSpc>
                <a:spcPct val="100000"/>
              </a:lnSpc>
              <a:spcBef>
                <a:spcPts val="459"/>
              </a:spcBef>
            </a:pP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The</a:t>
            </a:r>
            <a:r>
              <a:rPr dirty="0" sz="1200" spc="-3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analytical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reports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are</a:t>
            </a:r>
            <a:r>
              <a:rPr dirty="0" sz="1200" spc="-3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attached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to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this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letter.</a:t>
            </a:r>
            <a:endParaRPr sz="1200">
              <a:latin typeface="Calibri Light"/>
              <a:cs typeface="Calibri Light"/>
            </a:endParaRPr>
          </a:p>
          <a:p>
            <a:pPr algn="just" marL="12700">
              <a:lnSpc>
                <a:spcPct val="100000"/>
              </a:lnSpc>
            </a:pP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If</a:t>
            </a:r>
            <a:r>
              <a:rPr dirty="0" sz="1200" spc="-3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you</a:t>
            </a:r>
            <a:r>
              <a:rPr dirty="0" sz="1200" spc="-3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have</a:t>
            </a:r>
            <a:r>
              <a:rPr dirty="0" sz="1200" spc="-3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questions</a:t>
            </a:r>
            <a:r>
              <a:rPr dirty="0" sz="1200" spc="-3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about</a:t>
            </a:r>
            <a:r>
              <a:rPr dirty="0" sz="1200" spc="-3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the</a:t>
            </a:r>
            <a:r>
              <a:rPr dirty="0" sz="1200" spc="-3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results,</a:t>
            </a:r>
            <a:r>
              <a:rPr dirty="0" sz="1200" spc="-3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please</a:t>
            </a:r>
            <a:r>
              <a:rPr dirty="0" sz="1200" spc="-3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feel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free</a:t>
            </a:r>
            <a:r>
              <a:rPr dirty="0" sz="1200" spc="-3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to</a:t>
            </a:r>
            <a:r>
              <a:rPr dirty="0" sz="1200" spc="-3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contact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us.</a:t>
            </a:r>
            <a:endParaRPr sz="12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12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Signed:</a:t>
            </a:r>
            <a:endParaRPr sz="1200">
              <a:latin typeface="Calibri Light"/>
              <a:cs typeface="Calibri Ligh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4652" y="8671519"/>
            <a:ext cx="21151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Institut</a:t>
            </a:r>
            <a:r>
              <a:rPr dirty="0" sz="1200" spc="-4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for</a:t>
            </a:r>
            <a:r>
              <a:rPr dirty="0" sz="1200" spc="-4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Rare</a:t>
            </a:r>
            <a:r>
              <a:rPr dirty="0" sz="1200" spc="-4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Earths</a:t>
            </a:r>
            <a:r>
              <a:rPr dirty="0" sz="1200" spc="-3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and</a:t>
            </a:r>
            <a:r>
              <a:rPr dirty="0" sz="1200" spc="-4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Metals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Arndt</a:t>
            </a:r>
            <a:r>
              <a:rPr dirty="0" sz="1200" spc="-3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Uhlendorff</a:t>
            </a:r>
            <a:endParaRPr sz="1200">
              <a:latin typeface="Calibri Light"/>
              <a:cs typeface="Calibri Ligh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9999" y="8055459"/>
            <a:ext cx="1930499" cy="66678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13822" y="7735354"/>
            <a:ext cx="1726641" cy="1747850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444500" y="9826103"/>
            <a:ext cx="1938655" cy="4140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>
                <a:solidFill>
                  <a:srgbClr val="58595B"/>
                </a:solidFill>
                <a:latin typeface="Calibri"/>
                <a:cs typeface="Calibri"/>
              </a:rPr>
              <a:t>Institut</a:t>
            </a:r>
            <a:r>
              <a:rPr dirty="0" sz="900" spc="-35">
                <a:solidFill>
                  <a:srgbClr val="58595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95B"/>
                </a:solidFill>
                <a:latin typeface="Calibri"/>
                <a:cs typeface="Calibri"/>
              </a:rPr>
              <a:t>für</a:t>
            </a:r>
            <a:r>
              <a:rPr dirty="0" sz="900" spc="-30">
                <a:solidFill>
                  <a:srgbClr val="58595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95B"/>
                </a:solidFill>
                <a:latin typeface="Calibri"/>
                <a:cs typeface="Calibri"/>
              </a:rPr>
              <a:t>Seltene</a:t>
            </a:r>
            <a:r>
              <a:rPr dirty="0" sz="900" spc="-35">
                <a:solidFill>
                  <a:srgbClr val="58595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95B"/>
                </a:solidFill>
                <a:latin typeface="Calibri"/>
                <a:cs typeface="Calibri"/>
              </a:rPr>
              <a:t>Erden</a:t>
            </a:r>
            <a:r>
              <a:rPr dirty="0" sz="900" spc="-35">
                <a:solidFill>
                  <a:srgbClr val="58595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95B"/>
                </a:solidFill>
                <a:latin typeface="Calibri"/>
                <a:cs typeface="Calibri"/>
              </a:rPr>
              <a:t>und</a:t>
            </a:r>
            <a:r>
              <a:rPr dirty="0" sz="900" spc="-40">
                <a:solidFill>
                  <a:srgbClr val="58595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95B"/>
                </a:solidFill>
                <a:latin typeface="Calibri"/>
                <a:cs typeface="Calibri"/>
              </a:rPr>
              <a:t>Metalle</a:t>
            </a:r>
            <a:r>
              <a:rPr dirty="0" sz="900" spc="-30">
                <a:solidFill>
                  <a:srgbClr val="58595B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58595B"/>
                </a:solidFill>
                <a:latin typeface="Calibri"/>
                <a:cs typeface="Calibri"/>
              </a:rPr>
              <a:t>AG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Furrengasse</a:t>
            </a:r>
            <a:r>
              <a:rPr dirty="0" sz="900" spc="10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21,</a:t>
            </a:r>
            <a:r>
              <a:rPr dirty="0" sz="900" spc="1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Postfach</a:t>
            </a:r>
            <a:endParaRPr sz="9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6000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Luzern</a:t>
            </a:r>
            <a:r>
              <a:rPr dirty="0" sz="900" spc="-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6,</a:t>
            </a:r>
            <a:r>
              <a:rPr dirty="0" sz="900" spc="-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Schweiz</a:t>
            </a:r>
            <a:endParaRPr sz="900">
              <a:latin typeface="Calibri Light"/>
              <a:cs typeface="Calibri Ligh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70554" y="9826103"/>
            <a:ext cx="1207135" cy="4140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Email:</a:t>
            </a:r>
            <a:r>
              <a:rPr dirty="0" sz="900" spc="50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 spc="-20">
                <a:solidFill>
                  <a:srgbClr val="58595B"/>
                </a:solidFill>
                <a:latin typeface="Calibri Light"/>
                <a:cs typeface="Calibri Light"/>
                <a:hlinkClick r:id="rId4"/>
              </a:rPr>
              <a:t>Info@ise-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  <a:hlinkClick r:id="rId4"/>
              </a:rPr>
              <a:t>ag.com</a:t>
            </a:r>
            <a:endParaRPr sz="9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Phone:</a:t>
            </a:r>
            <a:r>
              <a:rPr dirty="0" sz="900" spc="-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+41-41 5 11 11 </a:t>
            </a:r>
            <a:r>
              <a:rPr dirty="0" sz="900" spc="-25">
                <a:solidFill>
                  <a:srgbClr val="58595B"/>
                </a:solidFill>
                <a:latin typeface="Calibri Light"/>
                <a:cs typeface="Calibri Light"/>
              </a:rPr>
              <a:t>20</a:t>
            </a:r>
            <a:endParaRPr sz="9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Web:</a:t>
            </a:r>
            <a:r>
              <a:rPr dirty="0" sz="900" spc="10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 spc="-20">
                <a:solidFill>
                  <a:srgbClr val="58595B"/>
                </a:solidFill>
                <a:latin typeface="Calibri Light"/>
                <a:cs typeface="Calibri Light"/>
                <a:hlinkClick r:id="rId5"/>
              </a:rPr>
              <a:t>www.ise-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  <a:hlinkClick r:id="rId5"/>
              </a:rPr>
              <a:t>ag.com</a:t>
            </a:r>
            <a:endParaRPr sz="900">
              <a:latin typeface="Calibri Light"/>
              <a:cs typeface="Calibri Ligh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304421" y="9826103"/>
            <a:ext cx="1390650" cy="4140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Handelsregisteramt</a:t>
            </a:r>
            <a:r>
              <a:rPr dirty="0" sz="900" spc="30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Luzern</a:t>
            </a:r>
            <a:endParaRPr sz="9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CHE-456.752.545</a:t>
            </a:r>
            <a:endParaRPr sz="9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Verwaltungsrat:</a:t>
            </a:r>
            <a:r>
              <a:rPr dirty="0" sz="900" spc="-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A.</a:t>
            </a:r>
            <a:r>
              <a:rPr dirty="0" sz="900" spc="-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Uhlendorff</a:t>
            </a:r>
            <a:endParaRPr sz="9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88628" y="415928"/>
            <a:ext cx="152781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36525" marR="5080" indent="-12446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Sample</a:t>
            </a:r>
            <a:r>
              <a:rPr dirty="0" sz="900" spc="-1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taking</a:t>
            </a:r>
            <a:r>
              <a:rPr dirty="0" sz="900" spc="-1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ID: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 ISE-ST2025437</a:t>
            </a:r>
            <a:r>
              <a:rPr dirty="0" sz="900" spc="500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Inspection</a:t>
            </a:r>
            <a:r>
              <a:rPr dirty="0" sz="900" spc="-20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ID:</a:t>
            </a:r>
            <a:r>
              <a:rPr dirty="0" sz="900" spc="-1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ISE-IR20252501</a:t>
            </a:r>
            <a:r>
              <a:rPr dirty="0" sz="900" spc="500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Valuation</a:t>
            </a:r>
            <a:r>
              <a:rPr dirty="0" sz="900" spc="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ID:</a:t>
            </a:r>
            <a:r>
              <a:rPr dirty="0" sz="900" spc="10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ISE-V202511468</a:t>
            </a:r>
            <a:endParaRPr sz="900">
              <a:latin typeface="Calibri Light"/>
              <a:cs typeface="Calibri Light"/>
            </a:endParaRPr>
          </a:p>
          <a:p>
            <a:pPr marL="845185">
              <a:lnSpc>
                <a:spcPct val="100000"/>
              </a:lnSpc>
            </a:pP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SKR-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20251032</a:t>
            </a:r>
            <a:endParaRPr sz="900">
              <a:latin typeface="Calibri Light"/>
              <a:cs typeface="Calibri Ligh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44500" y="9826103"/>
            <a:ext cx="1938655" cy="4140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>
                <a:solidFill>
                  <a:srgbClr val="58595B"/>
                </a:solidFill>
                <a:latin typeface="Calibri"/>
                <a:cs typeface="Calibri"/>
              </a:rPr>
              <a:t>Institut</a:t>
            </a:r>
            <a:r>
              <a:rPr dirty="0" sz="900" spc="-35">
                <a:solidFill>
                  <a:srgbClr val="58595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95B"/>
                </a:solidFill>
                <a:latin typeface="Calibri"/>
                <a:cs typeface="Calibri"/>
              </a:rPr>
              <a:t>für</a:t>
            </a:r>
            <a:r>
              <a:rPr dirty="0" sz="900" spc="-30">
                <a:solidFill>
                  <a:srgbClr val="58595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95B"/>
                </a:solidFill>
                <a:latin typeface="Calibri"/>
                <a:cs typeface="Calibri"/>
              </a:rPr>
              <a:t>Seltene</a:t>
            </a:r>
            <a:r>
              <a:rPr dirty="0" sz="900" spc="-35">
                <a:solidFill>
                  <a:srgbClr val="58595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95B"/>
                </a:solidFill>
                <a:latin typeface="Calibri"/>
                <a:cs typeface="Calibri"/>
              </a:rPr>
              <a:t>Erden</a:t>
            </a:r>
            <a:r>
              <a:rPr dirty="0" sz="900" spc="-35">
                <a:solidFill>
                  <a:srgbClr val="58595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95B"/>
                </a:solidFill>
                <a:latin typeface="Calibri"/>
                <a:cs typeface="Calibri"/>
              </a:rPr>
              <a:t>und</a:t>
            </a:r>
            <a:r>
              <a:rPr dirty="0" sz="900" spc="-40">
                <a:solidFill>
                  <a:srgbClr val="58595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95B"/>
                </a:solidFill>
                <a:latin typeface="Calibri"/>
                <a:cs typeface="Calibri"/>
              </a:rPr>
              <a:t>Metalle</a:t>
            </a:r>
            <a:r>
              <a:rPr dirty="0" sz="900" spc="-30">
                <a:solidFill>
                  <a:srgbClr val="58595B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58595B"/>
                </a:solidFill>
                <a:latin typeface="Calibri"/>
                <a:cs typeface="Calibri"/>
              </a:rPr>
              <a:t>AG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Furrengasse</a:t>
            </a:r>
            <a:r>
              <a:rPr dirty="0" sz="900" spc="10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21,</a:t>
            </a:r>
            <a:r>
              <a:rPr dirty="0" sz="900" spc="1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Postfach</a:t>
            </a:r>
            <a:endParaRPr sz="9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6000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Luzern</a:t>
            </a:r>
            <a:r>
              <a:rPr dirty="0" sz="900" spc="-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6,</a:t>
            </a:r>
            <a:r>
              <a:rPr dirty="0" sz="900" spc="-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Schweiz</a:t>
            </a:r>
            <a:endParaRPr sz="900">
              <a:latin typeface="Calibri Light"/>
              <a:cs typeface="Calibri Ligh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170554" y="9826103"/>
            <a:ext cx="1207135" cy="4140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Email:</a:t>
            </a:r>
            <a:r>
              <a:rPr dirty="0" sz="900" spc="50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 spc="-20">
                <a:solidFill>
                  <a:srgbClr val="58595B"/>
                </a:solidFill>
                <a:latin typeface="Calibri Light"/>
                <a:cs typeface="Calibri Light"/>
                <a:hlinkClick r:id="rId2"/>
              </a:rPr>
              <a:t>Info@ise-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  <a:hlinkClick r:id="rId2"/>
              </a:rPr>
              <a:t>ag.com</a:t>
            </a:r>
            <a:endParaRPr sz="9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Phone:</a:t>
            </a:r>
            <a:r>
              <a:rPr dirty="0" sz="900" spc="-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+41-41 5 11 11 </a:t>
            </a:r>
            <a:r>
              <a:rPr dirty="0" sz="900" spc="-25">
                <a:solidFill>
                  <a:srgbClr val="58595B"/>
                </a:solidFill>
                <a:latin typeface="Calibri Light"/>
                <a:cs typeface="Calibri Light"/>
              </a:rPr>
              <a:t>20</a:t>
            </a:r>
            <a:endParaRPr sz="9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Web:</a:t>
            </a:r>
            <a:r>
              <a:rPr dirty="0" sz="900" spc="10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 spc="-20">
                <a:solidFill>
                  <a:srgbClr val="58595B"/>
                </a:solidFill>
                <a:latin typeface="Calibri Light"/>
                <a:cs typeface="Calibri Light"/>
                <a:hlinkClick r:id="rId3"/>
              </a:rPr>
              <a:t>www.ise-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  <a:hlinkClick r:id="rId3"/>
              </a:rPr>
              <a:t>ag.com</a:t>
            </a:r>
            <a:endParaRPr sz="900">
              <a:latin typeface="Calibri Light"/>
              <a:cs typeface="Calibri Ligh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304421" y="9826103"/>
            <a:ext cx="1390650" cy="4140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Handelsregisteramt</a:t>
            </a:r>
            <a:r>
              <a:rPr dirty="0" sz="900" spc="30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Luzern</a:t>
            </a:r>
            <a:endParaRPr sz="9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CHE-456.752.545</a:t>
            </a:r>
            <a:endParaRPr sz="9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Verwaltungsrat:</a:t>
            </a:r>
            <a:r>
              <a:rPr dirty="0" sz="900" spc="-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A.</a:t>
            </a:r>
            <a:r>
              <a:rPr dirty="0" sz="900" spc="-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Uhlendorff</a:t>
            </a:r>
            <a:endParaRPr sz="9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25731" y="9398353"/>
            <a:ext cx="9017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 i="1">
                <a:solidFill>
                  <a:srgbClr val="58595B"/>
                </a:solidFill>
                <a:latin typeface="Calibri"/>
                <a:cs typeface="Calibri"/>
              </a:rPr>
              <a:t>2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08332" y="9412752"/>
            <a:ext cx="234442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58595B"/>
                </a:solidFill>
                <a:latin typeface="Calibri"/>
                <a:cs typeface="Calibri"/>
              </a:rPr>
              <a:t>Customer:</a:t>
            </a:r>
            <a:r>
              <a:rPr dirty="0" sz="1000" spc="-10">
                <a:solidFill>
                  <a:srgbClr val="58595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58595B"/>
                </a:solidFill>
                <a:latin typeface="Calibri"/>
                <a:cs typeface="Calibri"/>
              </a:rPr>
              <a:t>Mercury</a:t>
            </a:r>
            <a:r>
              <a:rPr dirty="0" sz="1000" spc="-10">
                <a:solidFill>
                  <a:srgbClr val="58595B"/>
                </a:solidFill>
                <a:latin typeface="Calibri"/>
                <a:cs typeface="Calibri"/>
              </a:rPr>
              <a:t> Natural</a:t>
            </a:r>
            <a:r>
              <a:rPr dirty="0" sz="1000" spc="-15">
                <a:solidFill>
                  <a:srgbClr val="58595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58595B"/>
                </a:solidFill>
                <a:latin typeface="Calibri"/>
                <a:cs typeface="Calibri"/>
              </a:rPr>
              <a:t>Resources </a:t>
            </a:r>
            <a:r>
              <a:rPr dirty="0" sz="1000" spc="-20">
                <a:solidFill>
                  <a:srgbClr val="58595B"/>
                </a:solidFill>
                <a:latin typeface="Calibri"/>
                <a:cs typeface="Calibri"/>
              </a:rPr>
              <a:t>GmbH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5299" y="1137202"/>
            <a:ext cx="211010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Mercury</a:t>
            </a:r>
            <a:r>
              <a:rPr dirty="0" sz="1200" spc="-4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Natural</a:t>
            </a:r>
            <a:r>
              <a:rPr dirty="0" sz="1200" spc="-4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Resources</a:t>
            </a:r>
            <a:r>
              <a:rPr dirty="0" sz="1200" spc="-4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GmbH </a:t>
            </a:r>
            <a:r>
              <a:rPr dirty="0" sz="1200" spc="-35">
                <a:solidFill>
                  <a:srgbClr val="231F20"/>
                </a:solidFill>
                <a:latin typeface="Calibri Light"/>
                <a:cs typeface="Calibri Light"/>
              </a:rPr>
              <a:t>Mr.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Michael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 Schäfer</a:t>
            </a:r>
            <a:endParaRPr sz="12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Ballindamm</a:t>
            </a:r>
            <a:r>
              <a:rPr dirty="0" sz="1200" spc="-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13</a:t>
            </a:r>
            <a:endParaRPr sz="12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20095</a:t>
            </a:r>
            <a:r>
              <a:rPr dirty="0" sz="1200" spc="-3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Hamburg</a:t>
            </a:r>
            <a:endParaRPr sz="1200">
              <a:latin typeface="Calibri Light"/>
              <a:cs typeface="Calibri 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03956" y="1137202"/>
            <a:ext cx="166560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Dipl.-Ing.</a:t>
            </a:r>
            <a:r>
              <a:rPr dirty="0" sz="1200" spc="1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Peter</a:t>
            </a:r>
            <a:r>
              <a:rPr dirty="0" sz="1200" spc="1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Glörfeld</a:t>
            </a:r>
            <a:endParaRPr sz="1200">
              <a:latin typeface="Calibri Light"/>
              <a:cs typeface="Calibri Light"/>
            </a:endParaRPr>
          </a:p>
          <a:p>
            <a:pPr algn="r" marL="12700" marR="5080" indent="789940">
              <a:lnSpc>
                <a:spcPct val="100000"/>
              </a:lnSpc>
            </a:pPr>
            <a:r>
              <a:rPr dirty="0" sz="1200" spc="-35">
                <a:solidFill>
                  <a:srgbClr val="231F20"/>
                </a:solidFill>
                <a:latin typeface="Calibri Light"/>
                <a:cs typeface="Calibri Light"/>
              </a:rPr>
              <a:t>Dr.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Myint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 Sein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ISE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Laboratory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/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Elmaspecs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Willich,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11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June</a:t>
            </a:r>
            <a:r>
              <a:rPr dirty="0" sz="1200" spc="-1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2025</a:t>
            </a:r>
            <a:endParaRPr sz="1200">
              <a:latin typeface="Calibri Light"/>
              <a:cs typeface="Calibri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5299" y="3217802"/>
            <a:ext cx="4046854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231F20"/>
                </a:solidFill>
                <a:latin typeface="Calibri"/>
                <a:cs typeface="Calibri"/>
              </a:rPr>
              <a:t>Analytic</a:t>
            </a:r>
            <a:r>
              <a:rPr dirty="0" sz="2000" spc="-4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231F20"/>
                </a:solidFill>
                <a:latin typeface="Calibri"/>
                <a:cs typeface="Calibri"/>
              </a:rPr>
              <a:t>certificate</a:t>
            </a:r>
            <a:r>
              <a:rPr dirty="0" sz="2000" spc="-4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231F20"/>
                </a:solidFill>
                <a:latin typeface="Calibri"/>
                <a:cs typeface="Calibri"/>
              </a:rPr>
              <a:t>No.</a:t>
            </a:r>
            <a:r>
              <a:rPr dirty="0" sz="2000" spc="-4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000" spc="-25" b="1">
                <a:solidFill>
                  <a:srgbClr val="231F20"/>
                </a:solidFill>
                <a:latin typeface="Calibri"/>
                <a:cs typeface="Calibri"/>
              </a:rPr>
              <a:t>ISE-</a:t>
            </a:r>
            <a:r>
              <a:rPr dirty="0" sz="2000" spc="-10" b="1">
                <a:solidFill>
                  <a:srgbClr val="231F20"/>
                </a:solidFill>
                <a:latin typeface="Calibri"/>
                <a:cs typeface="Calibri"/>
              </a:rPr>
              <a:t>A20258366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5299" y="3791609"/>
            <a:ext cx="3067685" cy="6229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GD-MS</a:t>
            </a:r>
            <a:r>
              <a:rPr dirty="0" sz="1200" spc="-2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Analysis</a:t>
            </a:r>
            <a:r>
              <a:rPr dirty="0" sz="1200" spc="-2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31F20"/>
                </a:solidFill>
                <a:latin typeface="Calibri"/>
                <a:cs typeface="Calibri"/>
              </a:rPr>
              <a:t>according</a:t>
            </a:r>
            <a:r>
              <a:rPr dirty="0" sz="1200" spc="-2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200" spc="-2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ISO/TS</a:t>
            </a:r>
            <a:r>
              <a:rPr dirty="0" sz="1200" spc="-2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31F20"/>
                </a:solidFill>
                <a:latin typeface="Calibri"/>
                <a:cs typeface="Calibri"/>
              </a:rPr>
              <a:t>15338:2009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1586865" algn="l"/>
              </a:tabLst>
            </a:pP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Your</a:t>
            </a:r>
            <a:r>
              <a:rPr dirty="0" sz="1200" spc="-3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order</a:t>
            </a:r>
            <a:r>
              <a:rPr dirty="0" sz="1200" spc="-3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of: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	3</a:t>
            </a:r>
            <a:r>
              <a:rPr dirty="0" sz="1200" spc="-1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June</a:t>
            </a:r>
            <a:r>
              <a:rPr dirty="0" sz="1200" spc="-1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2025</a:t>
            </a:r>
            <a:endParaRPr sz="1200">
              <a:latin typeface="Calibri Light"/>
              <a:cs typeface="Calibri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5299" y="4571439"/>
            <a:ext cx="12077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Material</a:t>
            </a:r>
            <a:r>
              <a:rPr dirty="0" sz="1200" spc="-4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according: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to</a:t>
            </a:r>
            <a:r>
              <a:rPr dirty="0" sz="1200" spc="-3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customer</a:t>
            </a:r>
            <a:endParaRPr sz="1200">
              <a:latin typeface="Calibri Light"/>
              <a:cs typeface="Calibri Ligh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5299" y="5120080"/>
            <a:ext cx="13417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Date</a:t>
            </a:r>
            <a:r>
              <a:rPr dirty="0" sz="1200" spc="-3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of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sample</a:t>
            </a:r>
            <a:r>
              <a:rPr dirty="0" sz="1200" spc="-3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input:</a:t>
            </a:r>
            <a:endParaRPr sz="1200">
              <a:latin typeface="Calibri Light"/>
              <a:cs typeface="Calibri Ligh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29896" y="4571439"/>
            <a:ext cx="9721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Copper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Powder 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99.99x%</a:t>
            </a:r>
            <a:endParaRPr sz="1200">
              <a:latin typeface="Calibri Light"/>
              <a:cs typeface="Calibri Ligh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29896" y="5120080"/>
            <a:ext cx="7620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3</a:t>
            </a:r>
            <a:r>
              <a:rPr dirty="0" sz="1200" spc="-1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June</a:t>
            </a:r>
            <a:r>
              <a:rPr dirty="0" sz="1200" spc="-1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2025</a:t>
            </a:r>
            <a:endParaRPr sz="1200">
              <a:latin typeface="Calibri Light"/>
              <a:cs typeface="Calibri Ligh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48155" y="4241646"/>
            <a:ext cx="8737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Your</a:t>
            </a:r>
            <a:r>
              <a:rPr dirty="0" sz="1200" spc="-3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order</a:t>
            </a:r>
            <a:r>
              <a:rPr dirty="0" sz="1200" spc="-3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ID:</a:t>
            </a:r>
            <a:endParaRPr sz="1200">
              <a:latin typeface="Calibri Light"/>
              <a:cs typeface="Calibri Ligh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48155" y="4607406"/>
            <a:ext cx="98551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Your</a:t>
            </a:r>
            <a:r>
              <a:rPr dirty="0" sz="1200" spc="-4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Sample</a:t>
            </a:r>
            <a:r>
              <a:rPr dirty="0" sz="1200" spc="-3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ID:</a:t>
            </a:r>
            <a:endParaRPr sz="1200">
              <a:latin typeface="Calibri Light"/>
              <a:cs typeface="Calibri Ligh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48155" y="4973166"/>
            <a:ext cx="11684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Elm-Laboratory</a:t>
            </a:r>
            <a:r>
              <a:rPr dirty="0" sz="1200" spc="-6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ID:</a:t>
            </a:r>
            <a:endParaRPr sz="1200">
              <a:latin typeface="Calibri Light"/>
              <a:cs typeface="Calibri Ligh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611220" y="4241646"/>
            <a:ext cx="9556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ISE-A20258366</a:t>
            </a:r>
            <a:endParaRPr sz="1200">
              <a:latin typeface="Calibri Light"/>
              <a:cs typeface="Calibri Ligh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611220" y="4597195"/>
            <a:ext cx="93471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ISE-ST2025437</a:t>
            </a:r>
            <a:endParaRPr sz="1200">
              <a:latin typeface="Calibri Light"/>
              <a:cs typeface="Calibri Ligh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611220" y="4983224"/>
            <a:ext cx="92201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1006010-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2025</a:t>
            </a:r>
            <a:endParaRPr sz="1200">
              <a:latin typeface="Calibri Light"/>
              <a:cs typeface="Calibri Ligh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55299" y="5745072"/>
            <a:ext cx="20015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Results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of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the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analysis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on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page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50">
                <a:solidFill>
                  <a:srgbClr val="231F20"/>
                </a:solidFill>
                <a:latin typeface="Calibri Light"/>
                <a:cs typeface="Calibri Light"/>
              </a:rPr>
              <a:t>3</a:t>
            </a:r>
            <a:endParaRPr sz="12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88628" y="415928"/>
            <a:ext cx="152781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5730" marR="5080" indent="-113664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Sample</a:t>
            </a:r>
            <a:r>
              <a:rPr dirty="0" sz="900" spc="-1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taking</a:t>
            </a:r>
            <a:r>
              <a:rPr dirty="0" sz="900" spc="-1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ID: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 ISE-ST2025437</a:t>
            </a:r>
            <a:r>
              <a:rPr dirty="0" sz="900" spc="500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Inspection</a:t>
            </a:r>
            <a:r>
              <a:rPr dirty="0" sz="900" spc="-20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ID:</a:t>
            </a:r>
            <a:r>
              <a:rPr dirty="0" sz="900" spc="-1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ISE-IR20252501</a:t>
            </a:r>
            <a:r>
              <a:rPr dirty="0" sz="900" spc="500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Valuation</a:t>
            </a:r>
            <a:r>
              <a:rPr dirty="0" sz="900" spc="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ID:</a:t>
            </a:r>
            <a:r>
              <a:rPr dirty="0" sz="900" spc="210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ISE-V202511468</a:t>
            </a:r>
            <a:endParaRPr sz="900">
              <a:latin typeface="Calibri Light"/>
              <a:cs typeface="Calibri Light"/>
            </a:endParaRPr>
          </a:p>
          <a:p>
            <a:pPr marL="845185">
              <a:lnSpc>
                <a:spcPct val="100000"/>
              </a:lnSpc>
            </a:pP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SKR-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20251032</a:t>
            </a:r>
            <a:endParaRPr sz="9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25731" y="9398353"/>
            <a:ext cx="9017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 i="1">
                <a:solidFill>
                  <a:srgbClr val="58595B"/>
                </a:solidFill>
                <a:latin typeface="Calibri"/>
                <a:cs typeface="Calibri"/>
              </a:rPr>
              <a:t>3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08332" y="9398353"/>
            <a:ext cx="234442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58595B"/>
                </a:solidFill>
                <a:latin typeface="Calibri"/>
                <a:cs typeface="Calibri"/>
              </a:rPr>
              <a:t>Customer:</a:t>
            </a:r>
            <a:r>
              <a:rPr dirty="0" sz="1000" spc="-10">
                <a:solidFill>
                  <a:srgbClr val="58595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58595B"/>
                </a:solidFill>
                <a:latin typeface="Calibri"/>
                <a:cs typeface="Calibri"/>
              </a:rPr>
              <a:t>Mercury</a:t>
            </a:r>
            <a:r>
              <a:rPr dirty="0" sz="1000" spc="-10">
                <a:solidFill>
                  <a:srgbClr val="58595B"/>
                </a:solidFill>
                <a:latin typeface="Calibri"/>
                <a:cs typeface="Calibri"/>
              </a:rPr>
              <a:t> Natural</a:t>
            </a:r>
            <a:r>
              <a:rPr dirty="0" sz="1000" spc="-15">
                <a:solidFill>
                  <a:srgbClr val="58595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58595B"/>
                </a:solidFill>
                <a:latin typeface="Calibri"/>
                <a:cs typeface="Calibri"/>
              </a:rPr>
              <a:t>Resources </a:t>
            </a:r>
            <a:r>
              <a:rPr dirty="0" sz="1000" spc="-20">
                <a:solidFill>
                  <a:srgbClr val="58595B"/>
                </a:solidFill>
                <a:latin typeface="Calibri"/>
                <a:cs typeface="Calibri"/>
              </a:rPr>
              <a:t>GmbH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07608" y="1385410"/>
            <a:ext cx="267398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231F20"/>
                </a:solidFill>
                <a:latin typeface="Calibri"/>
                <a:cs typeface="Calibri"/>
              </a:rPr>
              <a:t>GD/MS</a:t>
            </a:r>
            <a:r>
              <a:rPr dirty="0" sz="2000" spc="-7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231F20"/>
                </a:solidFill>
                <a:latin typeface="Calibri"/>
                <a:cs typeface="Calibri"/>
              </a:rPr>
              <a:t>Analytical</a:t>
            </a:r>
            <a:r>
              <a:rPr dirty="0" sz="2000" spc="-7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231F20"/>
                </a:solidFill>
                <a:latin typeface="Calibri"/>
                <a:cs typeface="Calibri"/>
              </a:rPr>
              <a:t>Report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0294" y="1959686"/>
            <a:ext cx="6604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Customer: Date:</a:t>
            </a:r>
            <a:endParaRPr sz="1200">
              <a:latin typeface="Calibri Light"/>
              <a:cs typeface="Calibri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39723" y="2005406"/>
            <a:ext cx="21101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Mercury</a:t>
            </a:r>
            <a:r>
              <a:rPr dirty="0" sz="1200" spc="-4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Natural</a:t>
            </a:r>
            <a:r>
              <a:rPr dirty="0" sz="1200" spc="-4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Resources</a:t>
            </a:r>
            <a:r>
              <a:rPr dirty="0" sz="1200" spc="-4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GmbH</a:t>
            </a:r>
            <a:endParaRPr sz="1200">
              <a:latin typeface="Calibri Light"/>
              <a:cs typeface="Calibr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39723" y="2297557"/>
            <a:ext cx="83946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11</a:t>
            </a:r>
            <a:r>
              <a:rPr dirty="0" sz="1200" spc="-1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June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 2025</a:t>
            </a:r>
            <a:endParaRPr sz="1200">
              <a:latin typeface="Calibri Light"/>
              <a:cs typeface="Calibri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50054" y="1959686"/>
            <a:ext cx="95567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ISE-A20258366 ISE-ST2025437</a:t>
            </a:r>
            <a:endParaRPr sz="1200">
              <a:latin typeface="Calibri Light"/>
              <a:cs typeface="Calibri Ligh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18610" y="1959686"/>
            <a:ext cx="71564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Analytic</a:t>
            </a:r>
            <a:r>
              <a:rPr dirty="0" sz="1200" spc="-3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ID: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Sample</a:t>
            </a:r>
            <a:r>
              <a:rPr dirty="0" sz="1200" spc="-3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ID:</a:t>
            </a:r>
            <a:endParaRPr sz="1200">
              <a:latin typeface="Calibri Light"/>
              <a:cs typeface="Calibri Ligh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33858" y="7077125"/>
            <a:ext cx="5922645" cy="2082800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459"/>
              </a:spcBef>
            </a:pP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n.d.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=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not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 determined.</a:t>
            </a:r>
            <a:endParaRPr sz="1200">
              <a:latin typeface="Calibri Light"/>
              <a:cs typeface="Calibri Light"/>
            </a:endParaRPr>
          </a:p>
          <a:p>
            <a:pPr algn="just" marL="12700" marR="5080">
              <a:lnSpc>
                <a:spcPct val="125000"/>
              </a:lnSpc>
            </a:pP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Bold</a:t>
            </a:r>
            <a:r>
              <a:rPr dirty="0" sz="1200" spc="-3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elements: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Calibrated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measurement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against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certified</a:t>
            </a:r>
            <a:r>
              <a:rPr dirty="0" sz="1200" spc="-3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reference</a:t>
            </a:r>
            <a:r>
              <a:rPr dirty="0" sz="1200" spc="-3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samples.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All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other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elements: Evaluation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using</a:t>
            </a:r>
            <a:r>
              <a:rPr dirty="0" sz="1200" spc="-1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standard</a:t>
            </a:r>
            <a:r>
              <a:rPr dirty="0" sz="1200" spc="-1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RSFs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(tolerance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factor</a:t>
            </a:r>
            <a:r>
              <a:rPr dirty="0" sz="1200" spc="-1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max.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±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2,5).</a:t>
            </a:r>
            <a:r>
              <a:rPr dirty="0" sz="1200" spc="-1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Values</a:t>
            </a:r>
            <a:r>
              <a:rPr dirty="0" sz="1200" spc="-1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below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the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detection</a:t>
            </a:r>
            <a:r>
              <a:rPr dirty="0" sz="1200" spc="-1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limit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are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included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at</a:t>
            </a:r>
            <a:r>
              <a:rPr dirty="0" sz="1200" spc="-1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50%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in</a:t>
            </a:r>
            <a:r>
              <a:rPr dirty="0" sz="1200" spc="-1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the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sum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calculation.</a:t>
            </a:r>
            <a:endParaRPr sz="12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endParaRPr sz="1200">
              <a:latin typeface="Calibri Light"/>
              <a:cs typeface="Calibri Light"/>
            </a:endParaRPr>
          </a:p>
          <a:p>
            <a:pPr marL="1238885">
              <a:lnSpc>
                <a:spcPct val="100000"/>
              </a:lnSpc>
            </a:pP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Sum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of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impurities</a:t>
            </a:r>
            <a:r>
              <a:rPr dirty="0" sz="1200" spc="-1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of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(Li,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Be,</a:t>
            </a:r>
            <a:r>
              <a:rPr dirty="0" sz="1200" spc="-1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Ti,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35">
                <a:solidFill>
                  <a:srgbClr val="231F20"/>
                </a:solidFill>
                <a:latin typeface="Calibri Light"/>
                <a:cs typeface="Calibri Light"/>
              </a:rPr>
              <a:t>V,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30">
                <a:solidFill>
                  <a:srgbClr val="231F20"/>
                </a:solidFill>
                <a:latin typeface="Calibri Light"/>
                <a:cs typeface="Calibri Light"/>
              </a:rPr>
              <a:t>Cr,</a:t>
            </a:r>
            <a:r>
              <a:rPr dirty="0" sz="1200" spc="-1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Co,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Cu,</a:t>
            </a:r>
            <a:r>
              <a:rPr dirty="0" sz="1200" spc="-1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Cd,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Rb,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Mo,</a:t>
            </a:r>
            <a:r>
              <a:rPr dirty="0" sz="1200" spc="-1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Pd)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is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 0,0041%</a:t>
            </a:r>
            <a:endParaRPr sz="1200">
              <a:latin typeface="Calibri Light"/>
              <a:cs typeface="Calibri Light"/>
            </a:endParaRPr>
          </a:p>
          <a:p>
            <a:pPr algn="ctr" marL="422909">
              <a:lnSpc>
                <a:spcPct val="100000"/>
              </a:lnSpc>
              <a:spcBef>
                <a:spcPts val="360"/>
              </a:spcBef>
            </a:pP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Cu</a:t>
            </a:r>
            <a:r>
              <a:rPr dirty="0" sz="1200" spc="1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31F20"/>
                </a:solidFill>
                <a:latin typeface="Calibri"/>
                <a:cs typeface="Calibri"/>
              </a:rPr>
              <a:t>(Remainder)</a:t>
            </a:r>
            <a:r>
              <a:rPr dirty="0" sz="1200" spc="1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=</a:t>
            </a:r>
            <a:r>
              <a:rPr dirty="0" sz="1200" spc="1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99.9999%</a:t>
            </a:r>
            <a:r>
              <a:rPr dirty="0" sz="1200" spc="1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31F20"/>
                </a:solidFill>
                <a:latin typeface="Calibri"/>
                <a:cs typeface="Calibri"/>
              </a:rPr>
              <a:t>according</a:t>
            </a:r>
            <a:r>
              <a:rPr dirty="0" sz="1200" spc="1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200" spc="1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TU</a:t>
            </a:r>
            <a:r>
              <a:rPr dirty="0" sz="1200" spc="1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spc="-20" b="1">
                <a:solidFill>
                  <a:srgbClr val="231F20"/>
                </a:solidFill>
                <a:latin typeface="Calibri"/>
                <a:cs typeface="Calibri"/>
              </a:rPr>
              <a:t>24.44.21-002-75815004-</a:t>
            </a:r>
            <a:r>
              <a:rPr dirty="0" sz="1200" spc="-10" b="1">
                <a:solidFill>
                  <a:srgbClr val="231F20"/>
                </a:solidFill>
                <a:latin typeface="Calibri"/>
                <a:cs typeface="Calibri"/>
              </a:rPr>
              <a:t>2022.</a:t>
            </a:r>
            <a:endParaRPr sz="1200">
              <a:latin typeface="Calibri"/>
              <a:cs typeface="Calibri"/>
            </a:endParaRPr>
          </a:p>
          <a:p>
            <a:pPr algn="ctr" marL="424180">
              <a:lnSpc>
                <a:spcPct val="100000"/>
              </a:lnSpc>
              <a:spcBef>
                <a:spcPts val="360"/>
              </a:spcBef>
            </a:pP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The</a:t>
            </a:r>
            <a:r>
              <a:rPr dirty="0" sz="1200" spc="-3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natural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 isotopic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composition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of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copper</a:t>
            </a:r>
            <a:r>
              <a:rPr dirty="0" sz="1200" spc="-1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is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typically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⁶³Cu</a:t>
            </a:r>
            <a:r>
              <a:rPr dirty="0" sz="1200" spc="-1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≈</a:t>
            </a:r>
            <a:r>
              <a:rPr dirty="0" sz="1200" spc="-1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69,2%</a:t>
            </a:r>
            <a:r>
              <a:rPr dirty="0" sz="1200" spc="-1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and</a:t>
            </a:r>
            <a:r>
              <a:rPr dirty="0" sz="1200" spc="-1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⁶⁵Cu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≈</a:t>
            </a:r>
            <a:r>
              <a:rPr dirty="0" sz="1200" spc="-1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30,8%.</a:t>
            </a:r>
            <a:endParaRPr sz="1200">
              <a:latin typeface="Calibri Light"/>
              <a:cs typeface="Calibri Light"/>
            </a:endParaRPr>
          </a:p>
          <a:p>
            <a:pPr algn="ctr" marL="422909">
              <a:lnSpc>
                <a:spcPct val="100000"/>
              </a:lnSpc>
              <a:spcBef>
                <a:spcPts val="360"/>
              </a:spcBef>
            </a:pP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The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material</a:t>
            </a:r>
            <a:r>
              <a:rPr dirty="0" sz="1200" spc="-1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is</a:t>
            </a:r>
            <a:r>
              <a:rPr dirty="0" sz="1200" spc="-1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not</a:t>
            </a:r>
            <a:r>
              <a:rPr dirty="0" sz="1200" spc="-1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radioactive.</a:t>
            </a:r>
            <a:endParaRPr sz="1200">
              <a:latin typeface="Calibri Light"/>
              <a:cs typeface="Calibri Ligh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6649" y="2601597"/>
            <a:ext cx="5820442" cy="457199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444500" y="9826103"/>
            <a:ext cx="1938655" cy="4140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>
                <a:solidFill>
                  <a:srgbClr val="58595B"/>
                </a:solidFill>
                <a:latin typeface="Calibri"/>
                <a:cs typeface="Calibri"/>
              </a:rPr>
              <a:t>Institut</a:t>
            </a:r>
            <a:r>
              <a:rPr dirty="0" sz="900" spc="-35">
                <a:solidFill>
                  <a:srgbClr val="58595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95B"/>
                </a:solidFill>
                <a:latin typeface="Calibri"/>
                <a:cs typeface="Calibri"/>
              </a:rPr>
              <a:t>für</a:t>
            </a:r>
            <a:r>
              <a:rPr dirty="0" sz="900" spc="-30">
                <a:solidFill>
                  <a:srgbClr val="58595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95B"/>
                </a:solidFill>
                <a:latin typeface="Calibri"/>
                <a:cs typeface="Calibri"/>
              </a:rPr>
              <a:t>Seltene</a:t>
            </a:r>
            <a:r>
              <a:rPr dirty="0" sz="900" spc="-35">
                <a:solidFill>
                  <a:srgbClr val="58595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95B"/>
                </a:solidFill>
                <a:latin typeface="Calibri"/>
                <a:cs typeface="Calibri"/>
              </a:rPr>
              <a:t>Erden</a:t>
            </a:r>
            <a:r>
              <a:rPr dirty="0" sz="900" spc="-35">
                <a:solidFill>
                  <a:srgbClr val="58595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95B"/>
                </a:solidFill>
                <a:latin typeface="Calibri"/>
                <a:cs typeface="Calibri"/>
              </a:rPr>
              <a:t>und</a:t>
            </a:r>
            <a:r>
              <a:rPr dirty="0" sz="900" spc="-40">
                <a:solidFill>
                  <a:srgbClr val="58595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95B"/>
                </a:solidFill>
                <a:latin typeface="Calibri"/>
                <a:cs typeface="Calibri"/>
              </a:rPr>
              <a:t>Metalle</a:t>
            </a:r>
            <a:r>
              <a:rPr dirty="0" sz="900" spc="-30">
                <a:solidFill>
                  <a:srgbClr val="58595B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58595B"/>
                </a:solidFill>
                <a:latin typeface="Calibri"/>
                <a:cs typeface="Calibri"/>
              </a:rPr>
              <a:t>AG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Furrengasse</a:t>
            </a:r>
            <a:r>
              <a:rPr dirty="0" sz="900" spc="10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21,</a:t>
            </a:r>
            <a:r>
              <a:rPr dirty="0" sz="900" spc="1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Postfach</a:t>
            </a:r>
            <a:endParaRPr sz="9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6000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Luzern</a:t>
            </a:r>
            <a:r>
              <a:rPr dirty="0" sz="900" spc="-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6,</a:t>
            </a:r>
            <a:r>
              <a:rPr dirty="0" sz="900" spc="-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Schweiz</a:t>
            </a:r>
            <a:endParaRPr sz="900">
              <a:latin typeface="Calibri Light"/>
              <a:cs typeface="Calibri Ligh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70554" y="9826103"/>
            <a:ext cx="1207135" cy="4140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Email:</a:t>
            </a:r>
            <a:r>
              <a:rPr dirty="0" sz="900" spc="50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 spc="-20">
                <a:solidFill>
                  <a:srgbClr val="58595B"/>
                </a:solidFill>
                <a:latin typeface="Calibri Light"/>
                <a:cs typeface="Calibri Light"/>
                <a:hlinkClick r:id="rId3"/>
              </a:rPr>
              <a:t>Info@ise-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  <a:hlinkClick r:id="rId3"/>
              </a:rPr>
              <a:t>ag.com</a:t>
            </a:r>
            <a:endParaRPr sz="9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Phone:</a:t>
            </a:r>
            <a:r>
              <a:rPr dirty="0" sz="900" spc="-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+41-41 5 11 11 </a:t>
            </a:r>
            <a:r>
              <a:rPr dirty="0" sz="900" spc="-25">
                <a:solidFill>
                  <a:srgbClr val="58595B"/>
                </a:solidFill>
                <a:latin typeface="Calibri Light"/>
                <a:cs typeface="Calibri Light"/>
              </a:rPr>
              <a:t>20</a:t>
            </a:r>
            <a:endParaRPr sz="9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Web:</a:t>
            </a:r>
            <a:r>
              <a:rPr dirty="0" sz="900" spc="10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 spc="-20">
                <a:solidFill>
                  <a:srgbClr val="58595B"/>
                </a:solidFill>
                <a:latin typeface="Calibri Light"/>
                <a:cs typeface="Calibri Light"/>
                <a:hlinkClick r:id="rId4"/>
              </a:rPr>
              <a:t>www.ise-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  <a:hlinkClick r:id="rId4"/>
              </a:rPr>
              <a:t>ag.com</a:t>
            </a:r>
            <a:endParaRPr sz="900">
              <a:latin typeface="Calibri Light"/>
              <a:cs typeface="Calibri Ligh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04421" y="9826103"/>
            <a:ext cx="1390650" cy="4140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Handelsregisteramt</a:t>
            </a:r>
            <a:r>
              <a:rPr dirty="0" sz="900" spc="30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Luzern</a:t>
            </a:r>
            <a:endParaRPr sz="9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CHE-456.752.545</a:t>
            </a:r>
            <a:endParaRPr sz="9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Verwaltungsrat:</a:t>
            </a:r>
            <a:r>
              <a:rPr dirty="0" sz="900" spc="-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A.</a:t>
            </a:r>
            <a:r>
              <a:rPr dirty="0" sz="900" spc="-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Uhlendorff</a:t>
            </a:r>
            <a:endParaRPr sz="9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88628" y="415928"/>
            <a:ext cx="152781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36525" marR="5080" indent="-12446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Sample</a:t>
            </a:r>
            <a:r>
              <a:rPr dirty="0" sz="900" spc="-1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taking</a:t>
            </a:r>
            <a:r>
              <a:rPr dirty="0" sz="900" spc="-1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ID: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 ISE-ST2025437</a:t>
            </a:r>
            <a:r>
              <a:rPr dirty="0" sz="900" spc="500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Inspection</a:t>
            </a:r>
            <a:r>
              <a:rPr dirty="0" sz="900" spc="-20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ID:</a:t>
            </a:r>
            <a:r>
              <a:rPr dirty="0" sz="900" spc="-1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ISE-IR20252501</a:t>
            </a:r>
            <a:r>
              <a:rPr dirty="0" sz="900" spc="500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Valuation</a:t>
            </a:r>
            <a:r>
              <a:rPr dirty="0" sz="900" spc="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ID:</a:t>
            </a:r>
            <a:r>
              <a:rPr dirty="0" sz="900" spc="10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ISE-V202511468</a:t>
            </a:r>
            <a:endParaRPr sz="900">
              <a:latin typeface="Calibri Light"/>
              <a:cs typeface="Calibri Light"/>
            </a:endParaRPr>
          </a:p>
          <a:p>
            <a:pPr marL="845185">
              <a:lnSpc>
                <a:spcPct val="100000"/>
              </a:lnSpc>
            </a:pP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SKR-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20251032</a:t>
            </a:r>
            <a:endParaRPr sz="9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25731" y="9398353"/>
            <a:ext cx="9017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 i="1">
                <a:solidFill>
                  <a:srgbClr val="58595B"/>
                </a:solidFill>
                <a:latin typeface="Calibri"/>
                <a:cs typeface="Calibri"/>
              </a:rPr>
              <a:t>4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08332" y="9412752"/>
            <a:ext cx="234442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58595B"/>
                </a:solidFill>
                <a:latin typeface="Calibri"/>
                <a:cs typeface="Calibri"/>
              </a:rPr>
              <a:t>Customer:</a:t>
            </a:r>
            <a:r>
              <a:rPr dirty="0" sz="1000" spc="-10">
                <a:solidFill>
                  <a:srgbClr val="58595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58595B"/>
                </a:solidFill>
                <a:latin typeface="Calibri"/>
                <a:cs typeface="Calibri"/>
              </a:rPr>
              <a:t>Mercury</a:t>
            </a:r>
            <a:r>
              <a:rPr dirty="0" sz="1000" spc="-10">
                <a:solidFill>
                  <a:srgbClr val="58595B"/>
                </a:solidFill>
                <a:latin typeface="Calibri"/>
                <a:cs typeface="Calibri"/>
              </a:rPr>
              <a:t> Natural</a:t>
            </a:r>
            <a:r>
              <a:rPr dirty="0" sz="1000" spc="-15">
                <a:solidFill>
                  <a:srgbClr val="58595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58595B"/>
                </a:solidFill>
                <a:latin typeface="Calibri"/>
                <a:cs typeface="Calibri"/>
              </a:rPr>
              <a:t>Resources </a:t>
            </a:r>
            <a:r>
              <a:rPr dirty="0" sz="1000" spc="-20">
                <a:solidFill>
                  <a:srgbClr val="58595B"/>
                </a:solidFill>
                <a:latin typeface="Calibri"/>
                <a:cs typeface="Calibri"/>
              </a:rPr>
              <a:t>GmbH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4062" y="1149936"/>
            <a:ext cx="586549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2000" spc="-10" b="1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Calibri"/>
                <a:cs typeface="Calibri"/>
              </a:rPr>
              <a:t>Particle</a:t>
            </a:r>
            <a:r>
              <a:rPr dirty="0" u="heavy" sz="2000" spc="-50" b="1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b="1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Calibri"/>
                <a:cs typeface="Calibri"/>
              </a:rPr>
              <a:t>analysis</a:t>
            </a:r>
            <a:r>
              <a:rPr dirty="0" u="heavy" sz="2000" spc="-40" b="1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b="1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Calibri"/>
                <a:cs typeface="Calibri"/>
              </a:rPr>
              <a:t>by</a:t>
            </a:r>
            <a:r>
              <a:rPr dirty="0" u="heavy" sz="2000" spc="-45" b="1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spc="-10" b="1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Calibri"/>
                <a:cs typeface="Calibri"/>
              </a:rPr>
              <a:t>scanning</a:t>
            </a:r>
            <a:r>
              <a:rPr dirty="0" u="heavy" sz="2000" spc="-45" b="1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spc="-10" b="1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Calibri"/>
                <a:cs typeface="Calibri"/>
              </a:rPr>
              <a:t>electron</a:t>
            </a:r>
            <a:r>
              <a:rPr dirty="0" u="heavy" sz="2000" spc="-45" b="1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spc="-10" b="1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Calibri"/>
                <a:cs typeface="Calibri"/>
              </a:rPr>
              <a:t>microscopy</a:t>
            </a:r>
            <a:r>
              <a:rPr dirty="0" u="heavy" sz="2000" spc="-40" b="1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 spc="-10" b="1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Calibri"/>
                <a:cs typeface="Calibri"/>
              </a:rPr>
              <a:t>(SEM)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4061" y="4655018"/>
            <a:ext cx="6094730" cy="2037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54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The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client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submitted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a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sample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of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copper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powder</a:t>
            </a:r>
            <a:r>
              <a:rPr dirty="0" sz="1200" spc="-1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for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semi-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quantitative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visualisation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of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the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grain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 size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and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grain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structure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using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a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scanning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electron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microscope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(SEM).</a:t>
            </a:r>
            <a:endParaRPr sz="12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The</a:t>
            </a:r>
            <a:r>
              <a:rPr dirty="0" sz="1200" spc="-3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sample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has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the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following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designation: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10" b="1">
                <a:solidFill>
                  <a:srgbClr val="231F20"/>
                </a:solidFill>
                <a:latin typeface="Calibri"/>
                <a:cs typeface="Calibri"/>
              </a:rPr>
              <a:t>ELM-2025-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0110</a:t>
            </a:r>
            <a:r>
              <a:rPr dirty="0" sz="1200" spc="-2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31F20"/>
                </a:solidFill>
                <a:latin typeface="Calibri"/>
                <a:cs typeface="Calibri"/>
              </a:rPr>
              <a:t>(5262)</a:t>
            </a:r>
            <a:endParaRPr sz="1200">
              <a:latin typeface="Calibri"/>
              <a:cs typeface="Calibri"/>
            </a:endParaRPr>
          </a:p>
          <a:p>
            <a:pPr marL="12700" marR="6350">
              <a:lnSpc>
                <a:spcPct val="100000"/>
              </a:lnSpc>
              <a:spcBef>
                <a:spcPts val="1440"/>
              </a:spcBef>
            </a:pP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A</a:t>
            </a:r>
            <a:r>
              <a:rPr dirty="0" sz="1200" spc="-4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portion</a:t>
            </a:r>
            <a:r>
              <a:rPr dirty="0" sz="1200" spc="-4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of</a:t>
            </a:r>
            <a:r>
              <a:rPr dirty="0" sz="1200" spc="-4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the</a:t>
            </a:r>
            <a:r>
              <a:rPr dirty="0" sz="1200" spc="-4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copper</a:t>
            </a:r>
            <a:r>
              <a:rPr dirty="0" sz="1200" spc="-4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powder</a:t>
            </a:r>
            <a:r>
              <a:rPr dirty="0" sz="1200" spc="-4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from</a:t>
            </a:r>
            <a:r>
              <a:rPr dirty="0" sz="1200" spc="-4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the</a:t>
            </a:r>
            <a:r>
              <a:rPr dirty="0" sz="1200" spc="-4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sample</a:t>
            </a:r>
            <a:r>
              <a:rPr dirty="0" sz="1200" spc="-4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bag</a:t>
            </a:r>
            <a:r>
              <a:rPr dirty="0" sz="1200" spc="-4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was</a:t>
            </a:r>
            <a:r>
              <a:rPr dirty="0" sz="1200" spc="-4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transferred</a:t>
            </a:r>
            <a:r>
              <a:rPr dirty="0" sz="1200" spc="-4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to</a:t>
            </a:r>
            <a:r>
              <a:rPr dirty="0" sz="1200" spc="-4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a</a:t>
            </a:r>
            <a:r>
              <a:rPr dirty="0" sz="1200" spc="-4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carbon</a:t>
            </a:r>
            <a:r>
              <a:rPr dirty="0" sz="1200" spc="-4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pad</a:t>
            </a:r>
            <a:r>
              <a:rPr dirty="0" sz="1200" spc="-4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and</a:t>
            </a:r>
            <a:r>
              <a:rPr dirty="0" sz="1200" spc="-4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examined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in</a:t>
            </a:r>
            <a:r>
              <a:rPr dirty="0" sz="1200" spc="-1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the</a:t>
            </a:r>
            <a:r>
              <a:rPr dirty="0" sz="1200" spc="-1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SEM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at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 magnifications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of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up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to</a:t>
            </a:r>
            <a:r>
              <a:rPr dirty="0" sz="1200" spc="-1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3000x.</a:t>
            </a:r>
            <a:endParaRPr sz="1200">
              <a:latin typeface="Calibri Light"/>
              <a:cs typeface="Calibri Light"/>
            </a:endParaRPr>
          </a:p>
          <a:p>
            <a:pPr marL="12700" marR="5080">
              <a:lnSpc>
                <a:spcPct val="100000"/>
              </a:lnSpc>
              <a:spcBef>
                <a:spcPts val="1440"/>
              </a:spcBef>
            </a:pP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The</a:t>
            </a:r>
            <a:r>
              <a:rPr dirty="0" sz="1200" spc="-3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grain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size</a:t>
            </a:r>
            <a:r>
              <a:rPr dirty="0" sz="1200" spc="-3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was</a:t>
            </a:r>
            <a:r>
              <a:rPr dirty="0" sz="1200" spc="-3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analysed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using</a:t>
            </a:r>
            <a:r>
              <a:rPr dirty="0" sz="1200" spc="-3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circular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radius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measurements</a:t>
            </a:r>
            <a:r>
              <a:rPr dirty="0" sz="1200" spc="-3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for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round</a:t>
            </a:r>
            <a:r>
              <a:rPr dirty="0" sz="1200" spc="-3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particles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and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distance measurements</a:t>
            </a:r>
            <a:r>
              <a:rPr dirty="0" sz="1200" spc="-4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for</a:t>
            </a:r>
            <a:r>
              <a:rPr dirty="0" sz="1200" spc="-3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elongated</a:t>
            </a:r>
            <a:r>
              <a:rPr dirty="0" sz="1200" spc="-4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particles.</a:t>
            </a:r>
            <a:r>
              <a:rPr dirty="0" sz="1200" spc="-4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The</a:t>
            </a:r>
            <a:r>
              <a:rPr dirty="0" sz="1200" spc="-3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evaluation</a:t>
            </a:r>
            <a:r>
              <a:rPr dirty="0" sz="1200" spc="-4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of</a:t>
            </a:r>
            <a:r>
              <a:rPr dirty="0" sz="1200" spc="-3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grain</a:t>
            </a:r>
            <a:r>
              <a:rPr dirty="0" sz="1200" spc="-4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size</a:t>
            </a:r>
            <a:r>
              <a:rPr dirty="0" sz="1200" spc="-3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and</a:t>
            </a:r>
            <a:r>
              <a:rPr dirty="0" sz="1200" spc="-3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grain</a:t>
            </a:r>
            <a:r>
              <a:rPr dirty="0" sz="1200" spc="-4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structure</a:t>
            </a:r>
            <a:r>
              <a:rPr dirty="0" sz="1200" spc="-3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is</a:t>
            </a:r>
            <a:r>
              <a:rPr dirty="0" sz="1200" spc="-3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summarised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in</a:t>
            </a:r>
            <a:r>
              <a:rPr dirty="0" sz="1200" spc="-3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the</a:t>
            </a:r>
            <a:r>
              <a:rPr dirty="0" sz="1200" spc="-3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following</a:t>
            </a:r>
            <a:r>
              <a:rPr dirty="0" sz="1200" spc="-3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table:</a:t>
            </a:r>
            <a:endParaRPr sz="1200">
              <a:latin typeface="Calibri Light"/>
              <a:cs typeface="Calibri Ligh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2462" y="1971236"/>
            <a:ext cx="4011354" cy="257260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34062" y="8468300"/>
            <a:ext cx="6480810" cy="82931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dirty="0" u="sng" sz="1200" spc="-10" b="1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Calibri"/>
                <a:cs typeface="Calibri"/>
              </a:rPr>
              <a:t>Conclusion</a:t>
            </a:r>
            <a:endParaRPr sz="1200">
              <a:latin typeface="Calibri"/>
              <a:cs typeface="Calibri"/>
            </a:endParaRPr>
          </a:p>
          <a:p>
            <a:pPr algn="just" marL="12700" marR="5080">
              <a:lnSpc>
                <a:spcPct val="100000"/>
              </a:lnSpc>
              <a:spcBef>
                <a:spcPts val="285"/>
              </a:spcBef>
            </a:pP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200" spc="-3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powder</a:t>
            </a:r>
            <a:r>
              <a:rPr dirty="0" sz="1200" spc="-2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sample</a:t>
            </a:r>
            <a:r>
              <a:rPr dirty="0" sz="1200" spc="-2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exhibits</a:t>
            </a:r>
            <a:r>
              <a:rPr dirty="0" sz="1200" spc="-2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200" spc="-2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spc="-20" b="1">
                <a:solidFill>
                  <a:srgbClr val="231F20"/>
                </a:solidFill>
                <a:latin typeface="Calibri"/>
                <a:cs typeface="Calibri"/>
              </a:rPr>
              <a:t>non-</a:t>
            </a:r>
            <a:r>
              <a:rPr dirty="0" sz="1200" spc="-10" b="1">
                <a:solidFill>
                  <a:srgbClr val="231F20"/>
                </a:solidFill>
                <a:latin typeface="Calibri"/>
                <a:cs typeface="Calibri"/>
              </a:rPr>
              <a:t>uniform</a:t>
            </a:r>
            <a:r>
              <a:rPr dirty="0" sz="1200" spc="-2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31F20"/>
                </a:solidFill>
                <a:latin typeface="Calibri"/>
                <a:cs typeface="Calibri"/>
              </a:rPr>
              <a:t>particle</a:t>
            </a:r>
            <a:r>
              <a:rPr dirty="0" sz="1200" spc="-2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size</a:t>
            </a:r>
            <a:r>
              <a:rPr dirty="0" sz="1200" spc="-2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31F20"/>
                </a:solidFill>
                <a:latin typeface="Calibri"/>
                <a:cs typeface="Calibri"/>
              </a:rPr>
              <a:t>distribution.</a:t>
            </a:r>
            <a:r>
              <a:rPr dirty="0" sz="1200" spc="-2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Over</a:t>
            </a:r>
            <a:r>
              <a:rPr dirty="0" sz="1200" spc="-3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50%</a:t>
            </a:r>
            <a:r>
              <a:rPr dirty="0" sz="1200" spc="-2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200" spc="-2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200" spc="-2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particles</a:t>
            </a:r>
            <a:r>
              <a:rPr dirty="0" sz="1200" spc="-2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31F20"/>
                </a:solidFill>
                <a:latin typeface="Calibri"/>
                <a:cs typeface="Calibri"/>
              </a:rPr>
              <a:t>possess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1200" spc="1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dendritic</a:t>
            </a:r>
            <a:r>
              <a:rPr dirty="0" sz="1200" spc="1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31F20"/>
                </a:solidFill>
                <a:latin typeface="Calibri"/>
                <a:cs typeface="Calibri"/>
              </a:rPr>
              <a:t>morphology,</a:t>
            </a:r>
            <a:r>
              <a:rPr dirty="0" sz="1200" spc="1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with</a:t>
            </a:r>
            <a:r>
              <a:rPr dirty="0" sz="1200" spc="1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sizes</a:t>
            </a:r>
            <a:r>
              <a:rPr dirty="0" sz="1200" spc="2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ranging</a:t>
            </a:r>
            <a:r>
              <a:rPr dirty="0" sz="1200" spc="1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from</a:t>
            </a:r>
            <a:r>
              <a:rPr dirty="0" sz="1200" spc="1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13</a:t>
            </a:r>
            <a:r>
              <a:rPr dirty="0" sz="1200" spc="1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200" spc="1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48</a:t>
            </a:r>
            <a:r>
              <a:rPr dirty="0" sz="1200" spc="-3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μm,</a:t>
            </a:r>
            <a:r>
              <a:rPr dirty="0" sz="1200" spc="1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while</a:t>
            </a:r>
            <a:r>
              <a:rPr dirty="0" sz="1200" spc="1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200" spc="1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remaining</a:t>
            </a:r>
            <a:r>
              <a:rPr dirty="0" sz="1200" spc="1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particles</a:t>
            </a:r>
            <a:r>
              <a:rPr dirty="0" sz="1200" spc="2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(less</a:t>
            </a:r>
            <a:r>
              <a:rPr dirty="0" sz="1200" spc="1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spc="-20" b="1">
                <a:solidFill>
                  <a:srgbClr val="231F20"/>
                </a:solidFill>
                <a:latin typeface="Calibri"/>
                <a:cs typeface="Calibri"/>
              </a:rPr>
              <a:t>than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50%)</a:t>
            </a:r>
            <a:r>
              <a:rPr dirty="0" sz="1200" spc="-2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are</a:t>
            </a:r>
            <a:r>
              <a:rPr dirty="0" sz="1200" spc="-2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31F20"/>
                </a:solidFill>
                <a:latin typeface="Calibri"/>
                <a:cs typeface="Calibri"/>
              </a:rPr>
              <a:t>predominantly</a:t>
            </a:r>
            <a:r>
              <a:rPr dirty="0" sz="1200" spc="-2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round</a:t>
            </a:r>
            <a:r>
              <a:rPr dirty="0" sz="1200" spc="-2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200" spc="-2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shape,</a:t>
            </a:r>
            <a:r>
              <a:rPr dirty="0" sz="1200" spc="-2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31F20"/>
                </a:solidFill>
                <a:latin typeface="Calibri"/>
                <a:cs typeface="Calibri"/>
              </a:rPr>
              <a:t>measuring</a:t>
            </a:r>
            <a:r>
              <a:rPr dirty="0" sz="1200" spc="-2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between</a:t>
            </a:r>
            <a:r>
              <a:rPr dirty="0" sz="1200" spc="-2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0,6</a:t>
            </a:r>
            <a:r>
              <a:rPr dirty="0" sz="1200" spc="-2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200" spc="-2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1,2</a:t>
            </a:r>
            <a:r>
              <a:rPr dirty="0" sz="1200" spc="-2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spc="-25" b="1">
                <a:solidFill>
                  <a:srgbClr val="231F20"/>
                </a:solidFill>
                <a:latin typeface="Calibri"/>
                <a:cs typeface="Calibri"/>
              </a:rPr>
              <a:t>μm.</a:t>
            </a:r>
            <a:endParaRPr sz="1200">
              <a:latin typeface="Calibri"/>
              <a:cs typeface="Calibri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999363" y="6739623"/>
          <a:ext cx="5692775" cy="16732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1765"/>
                <a:gridCol w="1170305"/>
                <a:gridCol w="1493520"/>
                <a:gridCol w="1517650"/>
              </a:tblGrid>
              <a:tr h="42354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62420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200">
                          <a:solidFill>
                            <a:srgbClr val="231F20"/>
                          </a:solidFill>
                          <a:latin typeface="Calibri Light"/>
                          <a:cs typeface="Calibri Light"/>
                        </a:rPr>
                        <a:t>roundish</a:t>
                      </a:r>
                      <a:r>
                        <a:rPr dirty="0" sz="1200" spc="-65">
                          <a:solidFill>
                            <a:srgbClr val="231F20"/>
                          </a:solidFill>
                          <a:latin typeface="Calibri Light"/>
                          <a:cs typeface="Calibri Light"/>
                        </a:rPr>
                        <a:t> </a:t>
                      </a:r>
                      <a:r>
                        <a:rPr dirty="0" sz="1200" spc="-10">
                          <a:solidFill>
                            <a:srgbClr val="231F20"/>
                          </a:solidFill>
                          <a:latin typeface="Calibri Light"/>
                          <a:cs typeface="Calibri Light"/>
                        </a:rPr>
                        <a:t>particles</a:t>
                      </a:r>
                      <a:endParaRPr sz="1200">
                        <a:latin typeface="Calibri Light"/>
                        <a:cs typeface="Calibri Light"/>
                      </a:endParaRPr>
                    </a:p>
                  </a:txBody>
                  <a:tcPr marL="0" marR="0" marB="0" marT="76200">
                    <a:lnL w="12700">
                      <a:solidFill>
                        <a:srgbClr val="231F20"/>
                      </a:solidFill>
                      <a:prstDash val="solid"/>
                    </a:lnL>
                    <a:lnR w="28575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200">
                          <a:solidFill>
                            <a:srgbClr val="231F20"/>
                          </a:solidFill>
                          <a:latin typeface="Calibri Light"/>
                          <a:cs typeface="Calibri Light"/>
                        </a:rPr>
                        <a:t>elongated</a:t>
                      </a:r>
                      <a:r>
                        <a:rPr dirty="0" sz="1200" spc="-65">
                          <a:solidFill>
                            <a:srgbClr val="231F20"/>
                          </a:solidFill>
                          <a:latin typeface="Calibri Light"/>
                          <a:cs typeface="Calibri Light"/>
                        </a:rPr>
                        <a:t> </a:t>
                      </a:r>
                      <a:r>
                        <a:rPr dirty="0" sz="1200" spc="-10">
                          <a:solidFill>
                            <a:srgbClr val="231F20"/>
                          </a:solidFill>
                          <a:latin typeface="Calibri Light"/>
                          <a:cs typeface="Calibri Light"/>
                        </a:rPr>
                        <a:t>particles</a:t>
                      </a:r>
                      <a:endParaRPr sz="1200">
                        <a:latin typeface="Calibri Light"/>
                        <a:cs typeface="Calibri Light"/>
                      </a:endParaRPr>
                    </a:p>
                  </a:txBody>
                  <a:tcPr marL="0" marR="0" marB="0" marT="85090">
                    <a:lnL w="28575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</a:tr>
              <a:tr h="40957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0640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dirty="0" sz="1200" spc="-10">
                          <a:solidFill>
                            <a:srgbClr val="231F20"/>
                          </a:solidFill>
                          <a:latin typeface="Calibri Light"/>
                          <a:cs typeface="Calibri Light"/>
                        </a:rPr>
                        <a:t>round</a:t>
                      </a:r>
                      <a:endParaRPr sz="1200">
                        <a:latin typeface="Calibri Light"/>
                        <a:cs typeface="Calibri Light"/>
                      </a:endParaRPr>
                    </a:p>
                  </a:txBody>
                  <a:tcPr marL="0" marR="0" marB="0" marT="99060">
                    <a:lnL w="12700">
                      <a:solidFill>
                        <a:srgbClr val="231F20"/>
                      </a:solidFill>
                      <a:prstDash val="solid"/>
                    </a:lnL>
                    <a:lnR w="28575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6090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dirty="0" sz="1200" spc="-10">
                          <a:solidFill>
                            <a:srgbClr val="231F20"/>
                          </a:solidFill>
                          <a:latin typeface="Calibri Light"/>
                          <a:cs typeface="Calibri Light"/>
                        </a:rPr>
                        <a:t>rougher</a:t>
                      </a:r>
                      <a:endParaRPr sz="1200">
                        <a:latin typeface="Calibri Light"/>
                        <a:cs typeface="Calibri Light"/>
                      </a:endParaRPr>
                    </a:p>
                  </a:txBody>
                  <a:tcPr marL="0" marR="0" marB="0" marT="99060">
                    <a:lnL w="28575">
                      <a:solidFill>
                        <a:srgbClr val="231F20"/>
                      </a:solidFill>
                      <a:prstDash val="solid"/>
                    </a:lnL>
                    <a:lnR w="28575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0660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dirty="0" sz="1200" spc="-10">
                          <a:solidFill>
                            <a:srgbClr val="231F20"/>
                          </a:solidFill>
                          <a:latin typeface="Calibri Light"/>
                          <a:cs typeface="Calibri Light"/>
                        </a:rPr>
                        <a:t>dendritic</a:t>
                      </a:r>
                      <a:r>
                        <a:rPr dirty="0" sz="1200">
                          <a:solidFill>
                            <a:srgbClr val="231F20"/>
                          </a:solidFill>
                          <a:latin typeface="Calibri Light"/>
                          <a:cs typeface="Calibri Light"/>
                        </a:rPr>
                        <a:t> </a:t>
                      </a:r>
                      <a:r>
                        <a:rPr dirty="0" sz="1200" spc="-10">
                          <a:solidFill>
                            <a:srgbClr val="231F20"/>
                          </a:solidFill>
                          <a:latin typeface="Calibri Light"/>
                          <a:cs typeface="Calibri Light"/>
                        </a:rPr>
                        <a:t>structure</a:t>
                      </a:r>
                      <a:endParaRPr sz="1200">
                        <a:latin typeface="Calibri Light"/>
                        <a:cs typeface="Calibri Light"/>
                      </a:endParaRPr>
                    </a:p>
                  </a:txBody>
                  <a:tcPr marL="0" marR="0" marB="0" marT="114300">
                    <a:lnL w="28575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</a:tr>
              <a:tr h="384175">
                <a:tc>
                  <a:txBody>
                    <a:bodyPr/>
                    <a:lstStyle/>
                    <a:p>
                      <a:pPr marL="363855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dirty="0" sz="1200" spc="-10">
                          <a:solidFill>
                            <a:srgbClr val="231F20"/>
                          </a:solidFill>
                          <a:latin typeface="Calibri Light"/>
                          <a:cs typeface="Calibri Light"/>
                        </a:rPr>
                        <a:t>percentage</a:t>
                      </a:r>
                      <a:endParaRPr sz="1200">
                        <a:latin typeface="Calibri Light"/>
                        <a:cs typeface="Calibri Light"/>
                      </a:endParaRPr>
                    </a:p>
                  </a:txBody>
                  <a:tcPr marL="0" marR="0" marB="0" marT="90805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dirty="0" sz="1200">
                          <a:solidFill>
                            <a:srgbClr val="231F20"/>
                          </a:solidFill>
                          <a:latin typeface="Calibri Light"/>
                          <a:cs typeface="Calibri Light"/>
                        </a:rPr>
                        <a:t>&lt;</a:t>
                      </a:r>
                      <a:r>
                        <a:rPr dirty="0" sz="1200" spc="-15">
                          <a:solidFill>
                            <a:srgbClr val="231F20"/>
                          </a:solidFill>
                          <a:latin typeface="Calibri Light"/>
                          <a:cs typeface="Calibri Light"/>
                        </a:rPr>
                        <a:t> </a:t>
                      </a:r>
                      <a:r>
                        <a:rPr dirty="0" sz="1200" spc="-25">
                          <a:solidFill>
                            <a:srgbClr val="231F20"/>
                          </a:solidFill>
                          <a:latin typeface="Calibri Light"/>
                          <a:cs typeface="Calibri Light"/>
                        </a:rPr>
                        <a:t>50%</a:t>
                      </a:r>
                      <a:endParaRPr sz="1200">
                        <a:latin typeface="Calibri Light"/>
                        <a:cs typeface="Calibri Light"/>
                      </a:endParaRPr>
                    </a:p>
                  </a:txBody>
                  <a:tcPr marL="0" marR="0" marB="0" marT="90805">
                    <a:lnL w="12700">
                      <a:solidFill>
                        <a:srgbClr val="231F20"/>
                      </a:solidFill>
                      <a:prstDash val="solid"/>
                    </a:lnL>
                    <a:lnR w="28575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7429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dirty="0" sz="1200" spc="-25">
                          <a:solidFill>
                            <a:srgbClr val="231F20"/>
                          </a:solidFill>
                          <a:latin typeface="Calibri Light"/>
                          <a:cs typeface="Calibri Light"/>
                        </a:rPr>
                        <a:t>0%</a:t>
                      </a:r>
                      <a:endParaRPr sz="1200">
                        <a:latin typeface="Calibri Light"/>
                        <a:cs typeface="Calibri Light"/>
                      </a:endParaRPr>
                    </a:p>
                  </a:txBody>
                  <a:tcPr marL="0" marR="0" marB="0" marT="80010">
                    <a:lnL w="28575">
                      <a:solidFill>
                        <a:srgbClr val="231F20"/>
                      </a:solidFill>
                      <a:prstDash val="solid"/>
                    </a:lnL>
                    <a:lnR w="28575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397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200">
                          <a:solidFill>
                            <a:srgbClr val="231F20"/>
                          </a:solidFill>
                          <a:latin typeface="Calibri Light"/>
                          <a:cs typeface="Calibri Light"/>
                        </a:rPr>
                        <a:t>&gt;</a:t>
                      </a:r>
                      <a:r>
                        <a:rPr dirty="0" sz="1200" spc="-15">
                          <a:solidFill>
                            <a:srgbClr val="231F20"/>
                          </a:solidFill>
                          <a:latin typeface="Calibri Light"/>
                          <a:cs typeface="Calibri Light"/>
                        </a:rPr>
                        <a:t> </a:t>
                      </a:r>
                      <a:r>
                        <a:rPr dirty="0" sz="1200" spc="-25">
                          <a:solidFill>
                            <a:srgbClr val="231F20"/>
                          </a:solidFill>
                          <a:latin typeface="Calibri Light"/>
                          <a:cs typeface="Calibri Light"/>
                        </a:rPr>
                        <a:t>50%</a:t>
                      </a:r>
                      <a:endParaRPr sz="1200">
                        <a:latin typeface="Calibri Light"/>
                        <a:cs typeface="Calibri Light"/>
                      </a:endParaRPr>
                    </a:p>
                  </a:txBody>
                  <a:tcPr marL="0" marR="0" marB="0" marT="78740">
                    <a:lnL w="28575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</a:tr>
              <a:tr h="455930">
                <a:tc>
                  <a:txBody>
                    <a:bodyPr/>
                    <a:lstStyle/>
                    <a:p>
                      <a:pPr marL="507365" marR="216535" indent="-289560">
                        <a:lnSpc>
                          <a:spcPts val="1440"/>
                        </a:lnSpc>
                      </a:pPr>
                      <a:r>
                        <a:rPr dirty="0" sz="1200" spc="-10">
                          <a:solidFill>
                            <a:srgbClr val="231F20"/>
                          </a:solidFill>
                          <a:latin typeface="Calibri Light"/>
                          <a:cs typeface="Calibri Light"/>
                        </a:rPr>
                        <a:t>ELM-2025-</a:t>
                      </a:r>
                      <a:r>
                        <a:rPr dirty="0" sz="1200" spc="-20">
                          <a:solidFill>
                            <a:srgbClr val="231F20"/>
                          </a:solidFill>
                          <a:latin typeface="Calibri Light"/>
                          <a:cs typeface="Calibri Light"/>
                        </a:rPr>
                        <a:t>0110 </a:t>
                      </a:r>
                      <a:r>
                        <a:rPr dirty="0" sz="1200" spc="-10">
                          <a:solidFill>
                            <a:srgbClr val="231F20"/>
                          </a:solidFill>
                          <a:latin typeface="Calibri Light"/>
                          <a:cs typeface="Calibri Light"/>
                        </a:rPr>
                        <a:t>(5262)</a:t>
                      </a:r>
                      <a:endParaRPr sz="1200">
                        <a:latin typeface="Calibri Light"/>
                        <a:cs typeface="Calibri Light"/>
                      </a:endParaRPr>
                    </a:p>
                  </a:txBody>
                  <a:tcPr marL="0" marR="0" marB="0" marT="0">
                    <a:lnL w="1270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4604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dirty="0" sz="1200">
                          <a:solidFill>
                            <a:srgbClr val="231F20"/>
                          </a:solidFill>
                          <a:latin typeface="Calibri Light"/>
                          <a:cs typeface="Calibri Light"/>
                        </a:rPr>
                        <a:t>0,6</a:t>
                      </a:r>
                      <a:r>
                        <a:rPr dirty="0" sz="1200" spc="-15">
                          <a:solidFill>
                            <a:srgbClr val="231F20"/>
                          </a:solidFill>
                          <a:latin typeface="Calibri Light"/>
                          <a:cs typeface="Calibri Light"/>
                        </a:rPr>
                        <a:t> </a:t>
                      </a:r>
                      <a:r>
                        <a:rPr dirty="0" sz="1200">
                          <a:solidFill>
                            <a:srgbClr val="231F20"/>
                          </a:solidFill>
                          <a:latin typeface="Calibri Light"/>
                          <a:cs typeface="Calibri Light"/>
                        </a:rPr>
                        <a:t>–</a:t>
                      </a:r>
                      <a:r>
                        <a:rPr dirty="0" sz="1200" spc="-15">
                          <a:solidFill>
                            <a:srgbClr val="231F20"/>
                          </a:solidFill>
                          <a:latin typeface="Calibri Light"/>
                          <a:cs typeface="Calibri Light"/>
                        </a:rPr>
                        <a:t> </a:t>
                      </a:r>
                      <a:r>
                        <a:rPr dirty="0" sz="1200">
                          <a:solidFill>
                            <a:srgbClr val="231F20"/>
                          </a:solidFill>
                          <a:latin typeface="Calibri Light"/>
                          <a:cs typeface="Calibri Light"/>
                        </a:rPr>
                        <a:t>1,2</a:t>
                      </a:r>
                      <a:r>
                        <a:rPr dirty="0" sz="1200" spc="-15">
                          <a:solidFill>
                            <a:srgbClr val="231F20"/>
                          </a:solidFill>
                          <a:latin typeface="Calibri Light"/>
                          <a:cs typeface="Calibri Light"/>
                        </a:rPr>
                        <a:t> </a:t>
                      </a:r>
                      <a:r>
                        <a:rPr dirty="0" sz="1200" spc="-25">
                          <a:solidFill>
                            <a:srgbClr val="231F20"/>
                          </a:solidFill>
                          <a:latin typeface="Calibri Light"/>
                          <a:cs typeface="Calibri Light"/>
                        </a:rPr>
                        <a:t>μm</a:t>
                      </a:r>
                      <a:endParaRPr sz="1200">
                        <a:latin typeface="Calibri Light"/>
                        <a:cs typeface="Calibri Light"/>
                      </a:endParaRPr>
                    </a:p>
                  </a:txBody>
                  <a:tcPr marL="0" marR="0" marB="0" marT="100330">
                    <a:lnL w="12700">
                      <a:solidFill>
                        <a:srgbClr val="231F20"/>
                      </a:solidFill>
                      <a:prstDash val="solid"/>
                    </a:lnL>
                    <a:lnR w="28575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1750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dirty="0" sz="1200" spc="-20">
                          <a:solidFill>
                            <a:srgbClr val="231F20"/>
                          </a:solidFill>
                          <a:latin typeface="Calibri Light"/>
                          <a:cs typeface="Calibri Light"/>
                        </a:rPr>
                        <a:t>––</a:t>
                      </a:r>
                      <a:r>
                        <a:rPr dirty="0" sz="1200">
                          <a:solidFill>
                            <a:srgbClr val="231F20"/>
                          </a:solidFill>
                          <a:latin typeface="Calibri Light"/>
                          <a:cs typeface="Calibri Light"/>
                        </a:rPr>
                        <a:t>–</a:t>
                      </a:r>
                      <a:endParaRPr sz="1200">
                        <a:latin typeface="Calibri Light"/>
                        <a:cs typeface="Calibri Light"/>
                      </a:endParaRPr>
                    </a:p>
                  </a:txBody>
                  <a:tcPr marL="0" marR="0" marB="0" marT="100330">
                    <a:lnL w="28575">
                      <a:solidFill>
                        <a:srgbClr val="231F20"/>
                      </a:solidFill>
                      <a:prstDash val="solid"/>
                    </a:lnL>
                    <a:lnR w="28575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989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dirty="0" sz="1200">
                          <a:solidFill>
                            <a:srgbClr val="231F20"/>
                          </a:solidFill>
                          <a:latin typeface="Calibri Light"/>
                          <a:cs typeface="Calibri Light"/>
                        </a:rPr>
                        <a:t>13-</a:t>
                      </a:r>
                      <a:r>
                        <a:rPr dirty="0" sz="1200" spc="5">
                          <a:solidFill>
                            <a:srgbClr val="231F20"/>
                          </a:solidFill>
                          <a:latin typeface="Calibri Light"/>
                          <a:cs typeface="Calibri Light"/>
                        </a:rPr>
                        <a:t> </a:t>
                      </a:r>
                      <a:r>
                        <a:rPr dirty="0" sz="1200">
                          <a:solidFill>
                            <a:srgbClr val="231F20"/>
                          </a:solidFill>
                          <a:latin typeface="Calibri Light"/>
                          <a:cs typeface="Calibri Light"/>
                        </a:rPr>
                        <a:t>48</a:t>
                      </a:r>
                      <a:r>
                        <a:rPr dirty="0" sz="1200" spc="15">
                          <a:solidFill>
                            <a:srgbClr val="231F20"/>
                          </a:solidFill>
                          <a:latin typeface="Calibri Light"/>
                          <a:cs typeface="Calibri Light"/>
                        </a:rPr>
                        <a:t> </a:t>
                      </a:r>
                      <a:r>
                        <a:rPr dirty="0" sz="1200" spc="-25">
                          <a:solidFill>
                            <a:srgbClr val="231F20"/>
                          </a:solidFill>
                          <a:latin typeface="Calibri Light"/>
                          <a:cs typeface="Calibri Light"/>
                        </a:rPr>
                        <a:t>μm</a:t>
                      </a:r>
                      <a:endParaRPr sz="1200">
                        <a:latin typeface="Calibri Light"/>
                        <a:cs typeface="Calibri Light"/>
                      </a:endParaRPr>
                    </a:p>
                  </a:txBody>
                  <a:tcPr marL="0" marR="0" marB="0" marT="100330">
                    <a:lnL w="28575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751624" y="6690741"/>
            <a:ext cx="1663064" cy="876300"/>
          </a:xfrm>
          <a:custGeom>
            <a:avLst/>
            <a:gdLst/>
            <a:ahLst/>
            <a:cxnLst/>
            <a:rect l="l" t="t" r="r" b="b"/>
            <a:pathLst>
              <a:path w="1663064" h="876300">
                <a:moveTo>
                  <a:pt x="1663039" y="0"/>
                </a:moveTo>
                <a:lnTo>
                  <a:pt x="0" y="0"/>
                </a:lnTo>
                <a:lnTo>
                  <a:pt x="0" y="876020"/>
                </a:lnTo>
                <a:lnTo>
                  <a:pt x="1663039" y="876020"/>
                </a:lnTo>
                <a:lnTo>
                  <a:pt x="166303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51624" y="6690741"/>
            <a:ext cx="1663064" cy="876300"/>
          </a:xfrm>
          <a:custGeom>
            <a:avLst/>
            <a:gdLst/>
            <a:ahLst/>
            <a:cxnLst/>
            <a:rect l="l" t="t" r="r" b="b"/>
            <a:pathLst>
              <a:path w="1663064" h="876300">
                <a:moveTo>
                  <a:pt x="0" y="876020"/>
                </a:moveTo>
                <a:lnTo>
                  <a:pt x="1663039" y="876020"/>
                </a:lnTo>
                <a:lnTo>
                  <a:pt x="1663039" y="0"/>
                </a:lnTo>
                <a:lnTo>
                  <a:pt x="0" y="0"/>
                </a:lnTo>
                <a:lnTo>
                  <a:pt x="0" y="87602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44500" y="9826103"/>
            <a:ext cx="1938655" cy="4140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>
                <a:solidFill>
                  <a:srgbClr val="58595B"/>
                </a:solidFill>
                <a:latin typeface="Calibri"/>
                <a:cs typeface="Calibri"/>
              </a:rPr>
              <a:t>Institut</a:t>
            </a:r>
            <a:r>
              <a:rPr dirty="0" sz="900" spc="-35">
                <a:solidFill>
                  <a:srgbClr val="58595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95B"/>
                </a:solidFill>
                <a:latin typeface="Calibri"/>
                <a:cs typeface="Calibri"/>
              </a:rPr>
              <a:t>für</a:t>
            </a:r>
            <a:r>
              <a:rPr dirty="0" sz="900" spc="-30">
                <a:solidFill>
                  <a:srgbClr val="58595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95B"/>
                </a:solidFill>
                <a:latin typeface="Calibri"/>
                <a:cs typeface="Calibri"/>
              </a:rPr>
              <a:t>Seltene</a:t>
            </a:r>
            <a:r>
              <a:rPr dirty="0" sz="900" spc="-35">
                <a:solidFill>
                  <a:srgbClr val="58595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95B"/>
                </a:solidFill>
                <a:latin typeface="Calibri"/>
                <a:cs typeface="Calibri"/>
              </a:rPr>
              <a:t>Erden</a:t>
            </a:r>
            <a:r>
              <a:rPr dirty="0" sz="900" spc="-35">
                <a:solidFill>
                  <a:srgbClr val="58595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95B"/>
                </a:solidFill>
                <a:latin typeface="Calibri"/>
                <a:cs typeface="Calibri"/>
              </a:rPr>
              <a:t>und</a:t>
            </a:r>
            <a:r>
              <a:rPr dirty="0" sz="900" spc="-40">
                <a:solidFill>
                  <a:srgbClr val="58595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95B"/>
                </a:solidFill>
                <a:latin typeface="Calibri"/>
                <a:cs typeface="Calibri"/>
              </a:rPr>
              <a:t>Metalle</a:t>
            </a:r>
            <a:r>
              <a:rPr dirty="0" sz="900" spc="-30">
                <a:solidFill>
                  <a:srgbClr val="58595B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58595B"/>
                </a:solidFill>
                <a:latin typeface="Calibri"/>
                <a:cs typeface="Calibri"/>
              </a:rPr>
              <a:t>AG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Furrengasse</a:t>
            </a:r>
            <a:r>
              <a:rPr dirty="0" sz="900" spc="10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21,</a:t>
            </a:r>
            <a:r>
              <a:rPr dirty="0" sz="900" spc="1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Postfach</a:t>
            </a:r>
            <a:endParaRPr sz="9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6000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Luzern</a:t>
            </a:r>
            <a:r>
              <a:rPr dirty="0" sz="900" spc="-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6,</a:t>
            </a:r>
            <a:r>
              <a:rPr dirty="0" sz="900" spc="-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Schweiz</a:t>
            </a:r>
            <a:endParaRPr sz="900">
              <a:latin typeface="Calibri Light"/>
              <a:cs typeface="Calibri Ligh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170554" y="9826103"/>
            <a:ext cx="1207135" cy="4140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Email:</a:t>
            </a:r>
            <a:r>
              <a:rPr dirty="0" sz="900" spc="50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 spc="-20">
                <a:solidFill>
                  <a:srgbClr val="58595B"/>
                </a:solidFill>
                <a:latin typeface="Calibri Light"/>
                <a:cs typeface="Calibri Light"/>
                <a:hlinkClick r:id="rId3"/>
              </a:rPr>
              <a:t>Info@ise-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  <a:hlinkClick r:id="rId3"/>
              </a:rPr>
              <a:t>ag.com</a:t>
            </a:r>
            <a:endParaRPr sz="9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Phone:</a:t>
            </a:r>
            <a:r>
              <a:rPr dirty="0" sz="900" spc="-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+41-41 5 11 11 </a:t>
            </a:r>
            <a:r>
              <a:rPr dirty="0" sz="900" spc="-25">
                <a:solidFill>
                  <a:srgbClr val="58595B"/>
                </a:solidFill>
                <a:latin typeface="Calibri Light"/>
                <a:cs typeface="Calibri Light"/>
              </a:rPr>
              <a:t>20</a:t>
            </a:r>
            <a:endParaRPr sz="9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Web:</a:t>
            </a:r>
            <a:r>
              <a:rPr dirty="0" sz="900" spc="10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 spc="-20">
                <a:solidFill>
                  <a:srgbClr val="58595B"/>
                </a:solidFill>
                <a:latin typeface="Calibri Light"/>
                <a:cs typeface="Calibri Light"/>
                <a:hlinkClick r:id="rId4"/>
              </a:rPr>
              <a:t>www.ise-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  <a:hlinkClick r:id="rId4"/>
              </a:rPr>
              <a:t>ag.com</a:t>
            </a:r>
            <a:endParaRPr sz="900">
              <a:latin typeface="Calibri Light"/>
              <a:cs typeface="Calibri Ligh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04421" y="9826103"/>
            <a:ext cx="1390650" cy="4140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Handelsregisteramt</a:t>
            </a:r>
            <a:r>
              <a:rPr dirty="0" sz="900" spc="30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Luzern</a:t>
            </a:r>
            <a:endParaRPr sz="9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CHE-456.752.545</a:t>
            </a:r>
            <a:endParaRPr sz="9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Verwaltungsrat:</a:t>
            </a:r>
            <a:r>
              <a:rPr dirty="0" sz="900" spc="-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A.</a:t>
            </a:r>
            <a:r>
              <a:rPr dirty="0" sz="900" spc="-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Uhlendorff</a:t>
            </a:r>
            <a:endParaRPr sz="9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88628" y="415928"/>
            <a:ext cx="152781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5730" marR="5080" indent="-113664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Sample</a:t>
            </a:r>
            <a:r>
              <a:rPr dirty="0" sz="900" spc="-1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taking</a:t>
            </a:r>
            <a:r>
              <a:rPr dirty="0" sz="900" spc="-1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ID: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 ISE-ST2025437</a:t>
            </a:r>
            <a:r>
              <a:rPr dirty="0" sz="900" spc="500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Inspection</a:t>
            </a:r>
            <a:r>
              <a:rPr dirty="0" sz="900" spc="-20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ID:</a:t>
            </a:r>
            <a:r>
              <a:rPr dirty="0" sz="900" spc="-1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ISE-IR20252501</a:t>
            </a:r>
            <a:r>
              <a:rPr dirty="0" sz="900" spc="500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Valuation</a:t>
            </a:r>
            <a:r>
              <a:rPr dirty="0" sz="900" spc="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ID:</a:t>
            </a:r>
            <a:r>
              <a:rPr dirty="0" sz="900" spc="210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ISE-V202511468</a:t>
            </a:r>
            <a:endParaRPr sz="900">
              <a:latin typeface="Calibri Light"/>
              <a:cs typeface="Calibri Light"/>
            </a:endParaRPr>
          </a:p>
          <a:p>
            <a:pPr marL="845185">
              <a:lnSpc>
                <a:spcPct val="100000"/>
              </a:lnSpc>
            </a:pP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SKR-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20251032</a:t>
            </a:r>
            <a:endParaRPr sz="9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25731" y="9398353"/>
            <a:ext cx="9017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 i="1">
                <a:solidFill>
                  <a:srgbClr val="58595B"/>
                </a:solidFill>
                <a:latin typeface="Calibri"/>
                <a:cs typeface="Calibri"/>
              </a:rPr>
              <a:t>5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08332" y="9398353"/>
            <a:ext cx="234442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58595B"/>
                </a:solidFill>
                <a:latin typeface="Calibri"/>
                <a:cs typeface="Calibri"/>
              </a:rPr>
              <a:t>Customer:</a:t>
            </a:r>
            <a:r>
              <a:rPr dirty="0" sz="1000" spc="-10">
                <a:solidFill>
                  <a:srgbClr val="58595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58595B"/>
                </a:solidFill>
                <a:latin typeface="Calibri"/>
                <a:cs typeface="Calibri"/>
              </a:rPr>
              <a:t>Mercury</a:t>
            </a:r>
            <a:r>
              <a:rPr dirty="0" sz="1000" spc="-10">
                <a:solidFill>
                  <a:srgbClr val="58595B"/>
                </a:solidFill>
                <a:latin typeface="Calibri"/>
                <a:cs typeface="Calibri"/>
              </a:rPr>
              <a:t> Natural</a:t>
            </a:r>
            <a:r>
              <a:rPr dirty="0" sz="1000" spc="-15">
                <a:solidFill>
                  <a:srgbClr val="58595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58595B"/>
                </a:solidFill>
                <a:latin typeface="Calibri"/>
                <a:cs typeface="Calibri"/>
              </a:rPr>
              <a:t>Resources </a:t>
            </a:r>
            <a:r>
              <a:rPr dirty="0" sz="1000" spc="-20">
                <a:solidFill>
                  <a:srgbClr val="58595B"/>
                </a:solidFill>
                <a:latin typeface="Calibri"/>
                <a:cs typeface="Calibri"/>
              </a:rPr>
              <a:t>GmbH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1595" y="1175588"/>
            <a:ext cx="4766398" cy="353321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68900" y="4696103"/>
            <a:ext cx="36982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07060" marR="5080" indent="-594995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Figure</a:t>
            </a:r>
            <a:r>
              <a:rPr dirty="0" sz="1200" spc="-2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1:</a:t>
            </a:r>
            <a:r>
              <a:rPr dirty="0" sz="1200" spc="24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ELM-2025-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0110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(5262),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overview</a:t>
            </a:r>
            <a:r>
              <a:rPr dirty="0" sz="1200" spc="-1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of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area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50">
                <a:solidFill>
                  <a:srgbClr val="231F20"/>
                </a:solidFill>
                <a:latin typeface="Calibri Light"/>
                <a:cs typeface="Calibri Light"/>
              </a:rPr>
              <a:t>1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elongated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 dendritic struсtures,</a:t>
            </a:r>
            <a:r>
              <a:rPr dirty="0" sz="1200" spc="-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approx.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25-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40</a:t>
            </a:r>
            <a:r>
              <a:rPr dirty="0" sz="1200" spc="-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µm.</a:t>
            </a:r>
            <a:endParaRPr sz="1200">
              <a:latin typeface="Calibri Light"/>
              <a:cs typeface="Calibri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68900" y="8704375"/>
            <a:ext cx="32480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Figure</a:t>
            </a:r>
            <a:r>
              <a:rPr dirty="0" sz="1200" spc="-2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2:</a:t>
            </a:r>
            <a:r>
              <a:rPr dirty="0" sz="1200" spc="-1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ELM-2025-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0110</a:t>
            </a:r>
            <a:r>
              <a:rPr dirty="0" sz="1200" spc="-1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(5262),</a:t>
            </a:r>
            <a:r>
              <a:rPr dirty="0" sz="1200" spc="-3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detail</a:t>
            </a:r>
            <a:r>
              <a:rPr dirty="0" sz="1200" spc="-4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from</a:t>
            </a:r>
            <a:r>
              <a:rPr dirty="0" sz="1200" spc="-4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image</a:t>
            </a:r>
            <a:r>
              <a:rPr dirty="0" sz="1200" spc="-4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50">
                <a:solidFill>
                  <a:srgbClr val="231F20"/>
                </a:solidFill>
                <a:latin typeface="Calibri Light"/>
                <a:cs typeface="Calibri Light"/>
              </a:rPr>
              <a:t>1</a:t>
            </a:r>
            <a:endParaRPr sz="1200">
              <a:latin typeface="Calibri Light"/>
              <a:cs typeface="Calibri Light"/>
            </a:endParaRPr>
          </a:p>
          <a:p>
            <a:pPr marL="594995">
              <a:lnSpc>
                <a:spcPct val="100000"/>
              </a:lnSpc>
            </a:pPr>
            <a:r>
              <a:rPr dirty="0" sz="1200" spc="-35">
                <a:solidFill>
                  <a:srgbClr val="231F20"/>
                </a:solidFill>
                <a:latin typeface="Calibri Light"/>
                <a:cs typeface="Calibri Light"/>
              </a:rPr>
              <a:t>roundish</a:t>
            </a:r>
            <a:r>
              <a:rPr dirty="0" sz="1200" spc="-1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30">
                <a:solidFill>
                  <a:srgbClr val="231F20"/>
                </a:solidFill>
                <a:latin typeface="Calibri Light"/>
                <a:cs typeface="Calibri Light"/>
              </a:rPr>
              <a:t>particles,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35">
                <a:solidFill>
                  <a:srgbClr val="231F20"/>
                </a:solidFill>
                <a:latin typeface="Calibri Light"/>
                <a:cs typeface="Calibri Light"/>
              </a:rPr>
              <a:t>approx.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0,7-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1,0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μm.</a:t>
            </a:r>
            <a:endParaRPr sz="1200">
              <a:latin typeface="Calibri Light"/>
              <a:cs typeface="Calibri Ligh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281595" y="5182704"/>
            <a:ext cx="4909185" cy="3550920"/>
            <a:chOff x="1281595" y="5182704"/>
            <a:chExt cx="4909185" cy="355092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1595" y="5182704"/>
              <a:ext cx="4727321" cy="355079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066378" y="8432812"/>
              <a:ext cx="4118610" cy="294640"/>
            </a:xfrm>
            <a:custGeom>
              <a:avLst/>
              <a:gdLst/>
              <a:ahLst/>
              <a:cxnLst/>
              <a:rect l="l" t="t" r="r" b="b"/>
              <a:pathLst>
                <a:path w="4118610" h="294640">
                  <a:moveTo>
                    <a:pt x="4118038" y="0"/>
                  </a:moveTo>
                  <a:lnTo>
                    <a:pt x="0" y="0"/>
                  </a:lnTo>
                  <a:lnTo>
                    <a:pt x="0" y="294335"/>
                  </a:lnTo>
                  <a:lnTo>
                    <a:pt x="4118038" y="294335"/>
                  </a:lnTo>
                  <a:lnTo>
                    <a:pt x="41180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066378" y="8432812"/>
              <a:ext cx="4118610" cy="294640"/>
            </a:xfrm>
            <a:custGeom>
              <a:avLst/>
              <a:gdLst/>
              <a:ahLst/>
              <a:cxnLst/>
              <a:rect l="l" t="t" r="r" b="b"/>
              <a:pathLst>
                <a:path w="4118610" h="294640">
                  <a:moveTo>
                    <a:pt x="0" y="294335"/>
                  </a:moveTo>
                  <a:lnTo>
                    <a:pt x="4118038" y="294335"/>
                  </a:lnTo>
                  <a:lnTo>
                    <a:pt x="4118038" y="0"/>
                  </a:lnTo>
                  <a:lnTo>
                    <a:pt x="0" y="0"/>
                  </a:lnTo>
                  <a:lnTo>
                    <a:pt x="0" y="29433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287945" y="8399437"/>
              <a:ext cx="4716780" cy="311785"/>
            </a:xfrm>
            <a:custGeom>
              <a:avLst/>
              <a:gdLst/>
              <a:ahLst/>
              <a:cxnLst/>
              <a:rect l="l" t="t" r="r" b="b"/>
              <a:pathLst>
                <a:path w="4716780" h="311784">
                  <a:moveTo>
                    <a:pt x="0" y="311251"/>
                  </a:moveTo>
                  <a:lnTo>
                    <a:pt x="4716462" y="311251"/>
                  </a:lnTo>
                  <a:lnTo>
                    <a:pt x="4716462" y="0"/>
                  </a:lnTo>
                  <a:lnTo>
                    <a:pt x="0" y="0"/>
                  </a:lnTo>
                  <a:lnTo>
                    <a:pt x="0" y="311251"/>
                  </a:lnTo>
                  <a:close/>
                </a:path>
              </a:pathLst>
            </a:custGeom>
            <a:ln w="1269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20681" y="8482545"/>
              <a:ext cx="901227" cy="161493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1281595" y="4381868"/>
            <a:ext cx="4981575" cy="351790"/>
            <a:chOff x="1281595" y="4381868"/>
            <a:chExt cx="4981575" cy="351790"/>
          </a:xfrm>
        </p:grpSpPr>
        <p:sp>
          <p:nvSpPr>
            <p:cNvPr id="15" name="object 15"/>
            <p:cNvSpPr/>
            <p:nvPr/>
          </p:nvSpPr>
          <p:spPr>
            <a:xfrm>
              <a:off x="2138375" y="4388218"/>
              <a:ext cx="4118610" cy="339090"/>
            </a:xfrm>
            <a:custGeom>
              <a:avLst/>
              <a:gdLst/>
              <a:ahLst/>
              <a:cxnLst/>
              <a:rect l="l" t="t" r="r" b="b"/>
              <a:pathLst>
                <a:path w="4118610" h="339089">
                  <a:moveTo>
                    <a:pt x="4118038" y="0"/>
                  </a:moveTo>
                  <a:lnTo>
                    <a:pt x="0" y="0"/>
                  </a:lnTo>
                  <a:lnTo>
                    <a:pt x="0" y="338721"/>
                  </a:lnTo>
                  <a:lnTo>
                    <a:pt x="4118038" y="338721"/>
                  </a:lnTo>
                  <a:lnTo>
                    <a:pt x="41180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138375" y="4388218"/>
              <a:ext cx="4118610" cy="339090"/>
            </a:xfrm>
            <a:custGeom>
              <a:avLst/>
              <a:gdLst/>
              <a:ahLst/>
              <a:cxnLst/>
              <a:rect l="l" t="t" r="r" b="b"/>
              <a:pathLst>
                <a:path w="4118610" h="339089">
                  <a:moveTo>
                    <a:pt x="0" y="338721"/>
                  </a:moveTo>
                  <a:lnTo>
                    <a:pt x="4118038" y="338721"/>
                  </a:lnTo>
                  <a:lnTo>
                    <a:pt x="4118038" y="0"/>
                  </a:lnTo>
                  <a:lnTo>
                    <a:pt x="0" y="0"/>
                  </a:lnTo>
                  <a:lnTo>
                    <a:pt x="0" y="338721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287945" y="4388218"/>
              <a:ext cx="4716780" cy="311785"/>
            </a:xfrm>
            <a:custGeom>
              <a:avLst/>
              <a:gdLst/>
              <a:ahLst/>
              <a:cxnLst/>
              <a:rect l="l" t="t" r="r" b="b"/>
              <a:pathLst>
                <a:path w="4716780" h="311785">
                  <a:moveTo>
                    <a:pt x="0" y="311251"/>
                  </a:moveTo>
                  <a:lnTo>
                    <a:pt x="4716462" y="311251"/>
                  </a:lnTo>
                  <a:lnTo>
                    <a:pt x="4716462" y="0"/>
                  </a:lnTo>
                  <a:lnTo>
                    <a:pt x="0" y="0"/>
                  </a:lnTo>
                  <a:lnTo>
                    <a:pt x="0" y="311251"/>
                  </a:lnTo>
                  <a:close/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20681" y="4459062"/>
              <a:ext cx="901227" cy="161502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444500" y="9826103"/>
            <a:ext cx="1938655" cy="4140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>
                <a:solidFill>
                  <a:srgbClr val="58595B"/>
                </a:solidFill>
                <a:latin typeface="Calibri"/>
                <a:cs typeface="Calibri"/>
              </a:rPr>
              <a:t>Institut</a:t>
            </a:r>
            <a:r>
              <a:rPr dirty="0" sz="900" spc="-35">
                <a:solidFill>
                  <a:srgbClr val="58595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95B"/>
                </a:solidFill>
                <a:latin typeface="Calibri"/>
                <a:cs typeface="Calibri"/>
              </a:rPr>
              <a:t>für</a:t>
            </a:r>
            <a:r>
              <a:rPr dirty="0" sz="900" spc="-30">
                <a:solidFill>
                  <a:srgbClr val="58595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95B"/>
                </a:solidFill>
                <a:latin typeface="Calibri"/>
                <a:cs typeface="Calibri"/>
              </a:rPr>
              <a:t>Seltene</a:t>
            </a:r>
            <a:r>
              <a:rPr dirty="0" sz="900" spc="-35">
                <a:solidFill>
                  <a:srgbClr val="58595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95B"/>
                </a:solidFill>
                <a:latin typeface="Calibri"/>
                <a:cs typeface="Calibri"/>
              </a:rPr>
              <a:t>Erden</a:t>
            </a:r>
            <a:r>
              <a:rPr dirty="0" sz="900" spc="-35">
                <a:solidFill>
                  <a:srgbClr val="58595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95B"/>
                </a:solidFill>
                <a:latin typeface="Calibri"/>
                <a:cs typeface="Calibri"/>
              </a:rPr>
              <a:t>und</a:t>
            </a:r>
            <a:r>
              <a:rPr dirty="0" sz="900" spc="-40">
                <a:solidFill>
                  <a:srgbClr val="58595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95B"/>
                </a:solidFill>
                <a:latin typeface="Calibri"/>
                <a:cs typeface="Calibri"/>
              </a:rPr>
              <a:t>Metalle</a:t>
            </a:r>
            <a:r>
              <a:rPr dirty="0" sz="900" spc="-30">
                <a:solidFill>
                  <a:srgbClr val="58595B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58595B"/>
                </a:solidFill>
                <a:latin typeface="Calibri"/>
                <a:cs typeface="Calibri"/>
              </a:rPr>
              <a:t>AG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Furrengasse</a:t>
            </a:r>
            <a:r>
              <a:rPr dirty="0" sz="900" spc="10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21,</a:t>
            </a:r>
            <a:r>
              <a:rPr dirty="0" sz="900" spc="1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Postfach</a:t>
            </a:r>
            <a:endParaRPr sz="9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6000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Luzern</a:t>
            </a:r>
            <a:r>
              <a:rPr dirty="0" sz="900" spc="-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6,</a:t>
            </a:r>
            <a:r>
              <a:rPr dirty="0" sz="900" spc="-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Schweiz</a:t>
            </a:r>
            <a:endParaRPr sz="900">
              <a:latin typeface="Calibri Light"/>
              <a:cs typeface="Calibri Ligh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170554" y="9826103"/>
            <a:ext cx="1207135" cy="4140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Email:</a:t>
            </a:r>
            <a:r>
              <a:rPr dirty="0" sz="900" spc="50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 spc="-20">
                <a:solidFill>
                  <a:srgbClr val="58595B"/>
                </a:solidFill>
                <a:latin typeface="Calibri Light"/>
                <a:cs typeface="Calibri Light"/>
                <a:hlinkClick r:id="rId5"/>
              </a:rPr>
              <a:t>Info@ise-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  <a:hlinkClick r:id="rId5"/>
              </a:rPr>
              <a:t>ag.com</a:t>
            </a:r>
            <a:endParaRPr sz="9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Phone:</a:t>
            </a:r>
            <a:r>
              <a:rPr dirty="0" sz="900" spc="-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+41-41 5 11 11 </a:t>
            </a:r>
            <a:r>
              <a:rPr dirty="0" sz="900" spc="-25">
                <a:solidFill>
                  <a:srgbClr val="58595B"/>
                </a:solidFill>
                <a:latin typeface="Calibri Light"/>
                <a:cs typeface="Calibri Light"/>
              </a:rPr>
              <a:t>20</a:t>
            </a:r>
            <a:endParaRPr sz="9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Web:</a:t>
            </a:r>
            <a:r>
              <a:rPr dirty="0" sz="900" spc="10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 spc="-20">
                <a:solidFill>
                  <a:srgbClr val="58595B"/>
                </a:solidFill>
                <a:latin typeface="Calibri Light"/>
                <a:cs typeface="Calibri Light"/>
                <a:hlinkClick r:id="rId6"/>
              </a:rPr>
              <a:t>www.ise-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  <a:hlinkClick r:id="rId6"/>
              </a:rPr>
              <a:t>ag.com</a:t>
            </a:r>
            <a:endParaRPr sz="900">
              <a:latin typeface="Calibri Light"/>
              <a:cs typeface="Calibri Ligh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304421" y="9826103"/>
            <a:ext cx="1390650" cy="4140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Handelsregisteramt</a:t>
            </a:r>
            <a:r>
              <a:rPr dirty="0" sz="900" spc="30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Luzern</a:t>
            </a:r>
            <a:endParaRPr sz="9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CHE-456.752.545</a:t>
            </a:r>
            <a:endParaRPr sz="9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Verwaltungsrat:</a:t>
            </a:r>
            <a:r>
              <a:rPr dirty="0" sz="900" spc="-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A.</a:t>
            </a:r>
            <a:r>
              <a:rPr dirty="0" sz="900" spc="-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Uhlendorff</a:t>
            </a:r>
            <a:endParaRPr sz="9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88628" y="415928"/>
            <a:ext cx="152781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36525" marR="5080" indent="-12446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Sample</a:t>
            </a:r>
            <a:r>
              <a:rPr dirty="0" sz="900" spc="-1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taking</a:t>
            </a:r>
            <a:r>
              <a:rPr dirty="0" sz="900" spc="-1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ID: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 ISE-ST2025437</a:t>
            </a:r>
            <a:r>
              <a:rPr dirty="0" sz="900" spc="500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Inspection</a:t>
            </a:r>
            <a:r>
              <a:rPr dirty="0" sz="900" spc="-20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ID:</a:t>
            </a:r>
            <a:r>
              <a:rPr dirty="0" sz="900" spc="-1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ISE-IR20252501</a:t>
            </a:r>
            <a:r>
              <a:rPr dirty="0" sz="900" spc="500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Valuation</a:t>
            </a:r>
            <a:r>
              <a:rPr dirty="0" sz="900" spc="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ID:</a:t>
            </a:r>
            <a:r>
              <a:rPr dirty="0" sz="900" spc="10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ISE-V202511468</a:t>
            </a:r>
            <a:endParaRPr sz="900">
              <a:latin typeface="Calibri Light"/>
              <a:cs typeface="Calibri Light"/>
            </a:endParaRPr>
          </a:p>
          <a:p>
            <a:pPr marL="845185">
              <a:lnSpc>
                <a:spcPct val="100000"/>
              </a:lnSpc>
            </a:pP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SKR-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20251032</a:t>
            </a:r>
            <a:endParaRPr sz="9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25731" y="9398353"/>
            <a:ext cx="9017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 i="1">
                <a:solidFill>
                  <a:srgbClr val="58595B"/>
                </a:solidFill>
                <a:latin typeface="Calibri"/>
                <a:cs typeface="Calibri"/>
              </a:rPr>
              <a:t>6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08332" y="9412752"/>
            <a:ext cx="234442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58595B"/>
                </a:solidFill>
                <a:latin typeface="Calibri"/>
                <a:cs typeface="Calibri"/>
              </a:rPr>
              <a:t>Customer:</a:t>
            </a:r>
            <a:r>
              <a:rPr dirty="0" sz="1000" spc="-10">
                <a:solidFill>
                  <a:srgbClr val="58595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58595B"/>
                </a:solidFill>
                <a:latin typeface="Calibri"/>
                <a:cs typeface="Calibri"/>
              </a:rPr>
              <a:t>Mercury</a:t>
            </a:r>
            <a:r>
              <a:rPr dirty="0" sz="1000" spc="-10">
                <a:solidFill>
                  <a:srgbClr val="58595B"/>
                </a:solidFill>
                <a:latin typeface="Calibri"/>
                <a:cs typeface="Calibri"/>
              </a:rPr>
              <a:t> Natural</a:t>
            </a:r>
            <a:r>
              <a:rPr dirty="0" sz="1000" spc="-15">
                <a:solidFill>
                  <a:srgbClr val="58595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58595B"/>
                </a:solidFill>
                <a:latin typeface="Calibri"/>
                <a:cs typeface="Calibri"/>
              </a:rPr>
              <a:t>Resources </a:t>
            </a:r>
            <a:r>
              <a:rPr dirty="0" sz="1000" spc="-20">
                <a:solidFill>
                  <a:srgbClr val="58595B"/>
                </a:solidFill>
                <a:latin typeface="Calibri"/>
                <a:cs typeface="Calibri"/>
              </a:rPr>
              <a:t>GmbH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425600" y="1091108"/>
            <a:ext cx="4936490" cy="3585845"/>
            <a:chOff x="1425600" y="1091108"/>
            <a:chExt cx="4936490" cy="358584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25600" y="1091108"/>
              <a:ext cx="4702835" cy="355080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237117" y="4315561"/>
              <a:ext cx="4118610" cy="354965"/>
            </a:xfrm>
            <a:custGeom>
              <a:avLst/>
              <a:gdLst/>
              <a:ahLst/>
              <a:cxnLst/>
              <a:rect l="l" t="t" r="r" b="b"/>
              <a:pathLst>
                <a:path w="4118610" h="354964">
                  <a:moveTo>
                    <a:pt x="4118038" y="0"/>
                  </a:moveTo>
                  <a:lnTo>
                    <a:pt x="0" y="0"/>
                  </a:lnTo>
                  <a:lnTo>
                    <a:pt x="0" y="354495"/>
                  </a:lnTo>
                  <a:lnTo>
                    <a:pt x="4118038" y="354495"/>
                  </a:lnTo>
                  <a:lnTo>
                    <a:pt x="41180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237117" y="4315561"/>
              <a:ext cx="4118610" cy="354965"/>
            </a:xfrm>
            <a:custGeom>
              <a:avLst/>
              <a:gdLst/>
              <a:ahLst/>
              <a:cxnLst/>
              <a:rect l="l" t="t" r="r" b="b"/>
              <a:pathLst>
                <a:path w="4118610" h="354964">
                  <a:moveTo>
                    <a:pt x="0" y="354495"/>
                  </a:moveTo>
                  <a:lnTo>
                    <a:pt x="4118038" y="354495"/>
                  </a:lnTo>
                  <a:lnTo>
                    <a:pt x="4118038" y="0"/>
                  </a:lnTo>
                  <a:lnTo>
                    <a:pt x="0" y="0"/>
                  </a:lnTo>
                  <a:lnTo>
                    <a:pt x="0" y="35449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31950" y="4290352"/>
              <a:ext cx="4690745" cy="311785"/>
            </a:xfrm>
            <a:custGeom>
              <a:avLst/>
              <a:gdLst/>
              <a:ahLst/>
              <a:cxnLst/>
              <a:rect l="l" t="t" r="r" b="b"/>
              <a:pathLst>
                <a:path w="4690745" h="311785">
                  <a:moveTo>
                    <a:pt x="0" y="311251"/>
                  </a:moveTo>
                  <a:lnTo>
                    <a:pt x="4690135" y="311251"/>
                  </a:lnTo>
                  <a:lnTo>
                    <a:pt x="4690135" y="0"/>
                  </a:lnTo>
                  <a:lnTo>
                    <a:pt x="0" y="0"/>
                  </a:lnTo>
                  <a:lnTo>
                    <a:pt x="0" y="311251"/>
                  </a:lnTo>
                  <a:close/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74999" y="4365231"/>
              <a:ext cx="901226" cy="161493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1402753" y="5175008"/>
            <a:ext cx="4752340" cy="3587750"/>
            <a:chOff x="1402753" y="5175008"/>
            <a:chExt cx="4752340" cy="3587750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02753" y="5175008"/>
              <a:ext cx="4698822" cy="3550793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030374" y="8401558"/>
              <a:ext cx="4118610" cy="354965"/>
            </a:xfrm>
            <a:custGeom>
              <a:avLst/>
              <a:gdLst/>
              <a:ahLst/>
              <a:cxnLst/>
              <a:rect l="l" t="t" r="r" b="b"/>
              <a:pathLst>
                <a:path w="4118610" h="354965">
                  <a:moveTo>
                    <a:pt x="4118038" y="0"/>
                  </a:moveTo>
                  <a:lnTo>
                    <a:pt x="0" y="0"/>
                  </a:lnTo>
                  <a:lnTo>
                    <a:pt x="0" y="354495"/>
                  </a:lnTo>
                  <a:lnTo>
                    <a:pt x="4118038" y="354495"/>
                  </a:lnTo>
                  <a:lnTo>
                    <a:pt x="41180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030374" y="8401558"/>
              <a:ext cx="4118610" cy="354965"/>
            </a:xfrm>
            <a:custGeom>
              <a:avLst/>
              <a:gdLst/>
              <a:ahLst/>
              <a:cxnLst/>
              <a:rect l="l" t="t" r="r" b="b"/>
              <a:pathLst>
                <a:path w="4118610" h="354965">
                  <a:moveTo>
                    <a:pt x="0" y="354495"/>
                  </a:moveTo>
                  <a:lnTo>
                    <a:pt x="4118038" y="354495"/>
                  </a:lnTo>
                  <a:lnTo>
                    <a:pt x="4118038" y="0"/>
                  </a:lnTo>
                  <a:lnTo>
                    <a:pt x="0" y="0"/>
                  </a:lnTo>
                  <a:lnTo>
                    <a:pt x="0" y="35449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409115" y="8380971"/>
              <a:ext cx="4690745" cy="311785"/>
            </a:xfrm>
            <a:custGeom>
              <a:avLst/>
              <a:gdLst/>
              <a:ahLst/>
              <a:cxnLst/>
              <a:rect l="l" t="t" r="r" b="b"/>
              <a:pathLst>
                <a:path w="4690745" h="311784">
                  <a:moveTo>
                    <a:pt x="0" y="311251"/>
                  </a:moveTo>
                  <a:lnTo>
                    <a:pt x="4690135" y="311251"/>
                  </a:lnTo>
                  <a:lnTo>
                    <a:pt x="4690135" y="0"/>
                  </a:lnTo>
                  <a:lnTo>
                    <a:pt x="0" y="0"/>
                  </a:lnTo>
                  <a:lnTo>
                    <a:pt x="0" y="311251"/>
                  </a:lnTo>
                  <a:close/>
                </a:path>
              </a:pathLst>
            </a:custGeom>
            <a:ln w="1269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1390061" y="8677654"/>
            <a:ext cx="32416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07060" marR="5080" indent="-594995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Figure</a:t>
            </a:r>
            <a:r>
              <a:rPr dirty="0" sz="1200" spc="-2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4:</a:t>
            </a:r>
            <a:r>
              <a:rPr dirty="0" sz="1200" spc="-1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ELM-2025-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0110</a:t>
            </a:r>
            <a:r>
              <a:rPr dirty="0" sz="1200" spc="-1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(5262),detail</a:t>
            </a:r>
            <a:r>
              <a:rPr dirty="0" sz="1200" spc="-1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from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image</a:t>
            </a:r>
            <a:r>
              <a:rPr dirty="0" sz="1200" spc="-1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50">
                <a:solidFill>
                  <a:srgbClr val="231F20"/>
                </a:solidFill>
                <a:latin typeface="Calibri Light"/>
                <a:cs typeface="Calibri Light"/>
              </a:rPr>
              <a:t>3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roundish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particles,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approx.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0,6</a:t>
            </a:r>
            <a:r>
              <a:rPr dirty="0" sz="1200" spc="2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-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1,1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μm.</a:t>
            </a:r>
            <a:endParaRPr sz="1200">
              <a:latin typeface="Calibri Light"/>
              <a:cs typeface="Calibri Light"/>
            </a:endParaRPr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56887" y="8447631"/>
            <a:ext cx="901237" cy="161502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420962" y="4595255"/>
            <a:ext cx="35604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Figure</a:t>
            </a:r>
            <a:r>
              <a:rPr dirty="0" sz="1200" spc="-3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3:</a:t>
            </a:r>
            <a:r>
              <a:rPr dirty="0" sz="1200" spc="-2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ELM-2025-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0110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(5262),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overview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of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area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2,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elongated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 dendritic structures,</a:t>
            </a:r>
            <a:r>
              <a:rPr dirty="0" sz="1200" spc="-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approx.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17-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35</a:t>
            </a:r>
            <a:r>
              <a:rPr dirty="0" sz="1200" spc="-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µm.</a:t>
            </a:r>
            <a:endParaRPr sz="1200">
              <a:latin typeface="Calibri Light"/>
              <a:cs typeface="Calibri Ligh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44500" y="9826103"/>
            <a:ext cx="1938655" cy="4140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>
                <a:solidFill>
                  <a:srgbClr val="58595B"/>
                </a:solidFill>
                <a:latin typeface="Calibri"/>
                <a:cs typeface="Calibri"/>
              </a:rPr>
              <a:t>Institut</a:t>
            </a:r>
            <a:r>
              <a:rPr dirty="0" sz="900" spc="-35">
                <a:solidFill>
                  <a:srgbClr val="58595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95B"/>
                </a:solidFill>
                <a:latin typeface="Calibri"/>
                <a:cs typeface="Calibri"/>
              </a:rPr>
              <a:t>für</a:t>
            </a:r>
            <a:r>
              <a:rPr dirty="0" sz="900" spc="-30">
                <a:solidFill>
                  <a:srgbClr val="58595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95B"/>
                </a:solidFill>
                <a:latin typeface="Calibri"/>
                <a:cs typeface="Calibri"/>
              </a:rPr>
              <a:t>Seltene</a:t>
            </a:r>
            <a:r>
              <a:rPr dirty="0" sz="900" spc="-35">
                <a:solidFill>
                  <a:srgbClr val="58595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95B"/>
                </a:solidFill>
                <a:latin typeface="Calibri"/>
                <a:cs typeface="Calibri"/>
              </a:rPr>
              <a:t>Erden</a:t>
            </a:r>
            <a:r>
              <a:rPr dirty="0" sz="900" spc="-35">
                <a:solidFill>
                  <a:srgbClr val="58595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95B"/>
                </a:solidFill>
                <a:latin typeface="Calibri"/>
                <a:cs typeface="Calibri"/>
              </a:rPr>
              <a:t>und</a:t>
            </a:r>
            <a:r>
              <a:rPr dirty="0" sz="900" spc="-40">
                <a:solidFill>
                  <a:srgbClr val="58595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95B"/>
                </a:solidFill>
                <a:latin typeface="Calibri"/>
                <a:cs typeface="Calibri"/>
              </a:rPr>
              <a:t>Metalle</a:t>
            </a:r>
            <a:r>
              <a:rPr dirty="0" sz="900" spc="-30">
                <a:solidFill>
                  <a:srgbClr val="58595B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58595B"/>
                </a:solidFill>
                <a:latin typeface="Calibri"/>
                <a:cs typeface="Calibri"/>
              </a:rPr>
              <a:t>AG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Furrengasse</a:t>
            </a:r>
            <a:r>
              <a:rPr dirty="0" sz="900" spc="10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21,</a:t>
            </a:r>
            <a:r>
              <a:rPr dirty="0" sz="900" spc="1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Postfach</a:t>
            </a:r>
            <a:endParaRPr sz="9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6000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Luzern</a:t>
            </a:r>
            <a:r>
              <a:rPr dirty="0" sz="900" spc="-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6,</a:t>
            </a:r>
            <a:r>
              <a:rPr dirty="0" sz="900" spc="-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Schweiz</a:t>
            </a:r>
            <a:endParaRPr sz="900">
              <a:latin typeface="Calibri Light"/>
              <a:cs typeface="Calibri Ligh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170554" y="9826103"/>
            <a:ext cx="1207135" cy="4140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Email:</a:t>
            </a:r>
            <a:r>
              <a:rPr dirty="0" sz="900" spc="50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 spc="-20">
                <a:solidFill>
                  <a:srgbClr val="58595B"/>
                </a:solidFill>
                <a:latin typeface="Calibri Light"/>
                <a:cs typeface="Calibri Light"/>
                <a:hlinkClick r:id="rId5"/>
              </a:rPr>
              <a:t>Info@ise-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  <a:hlinkClick r:id="rId5"/>
              </a:rPr>
              <a:t>ag.com</a:t>
            </a:r>
            <a:endParaRPr sz="9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Phone:</a:t>
            </a:r>
            <a:r>
              <a:rPr dirty="0" sz="900" spc="-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+41-41 5 11 11 </a:t>
            </a:r>
            <a:r>
              <a:rPr dirty="0" sz="900" spc="-25">
                <a:solidFill>
                  <a:srgbClr val="58595B"/>
                </a:solidFill>
                <a:latin typeface="Calibri Light"/>
                <a:cs typeface="Calibri Light"/>
              </a:rPr>
              <a:t>20</a:t>
            </a:r>
            <a:endParaRPr sz="9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Web:</a:t>
            </a:r>
            <a:r>
              <a:rPr dirty="0" sz="900" spc="10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 spc="-20">
                <a:solidFill>
                  <a:srgbClr val="58595B"/>
                </a:solidFill>
                <a:latin typeface="Calibri Light"/>
                <a:cs typeface="Calibri Light"/>
                <a:hlinkClick r:id="rId6"/>
              </a:rPr>
              <a:t>www.ise-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  <a:hlinkClick r:id="rId6"/>
              </a:rPr>
              <a:t>ag.com</a:t>
            </a:r>
            <a:endParaRPr sz="900">
              <a:latin typeface="Calibri Light"/>
              <a:cs typeface="Calibri Ligh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304421" y="9826103"/>
            <a:ext cx="1390650" cy="4140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Handelsregisteramt</a:t>
            </a:r>
            <a:r>
              <a:rPr dirty="0" sz="900" spc="30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Luzern</a:t>
            </a:r>
            <a:endParaRPr sz="9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CHE-456.752.545</a:t>
            </a:r>
            <a:endParaRPr sz="9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Verwaltungsrat:</a:t>
            </a:r>
            <a:r>
              <a:rPr dirty="0" sz="900" spc="-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A.</a:t>
            </a:r>
            <a:r>
              <a:rPr dirty="0" sz="900" spc="-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Uhlendorff</a:t>
            </a:r>
            <a:endParaRPr sz="9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88628" y="415928"/>
            <a:ext cx="152781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5730" marR="5080" indent="-113664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Sample</a:t>
            </a:r>
            <a:r>
              <a:rPr dirty="0" sz="900" spc="-1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taking</a:t>
            </a:r>
            <a:r>
              <a:rPr dirty="0" sz="900" spc="-1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ID: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 ISE-ST2025437</a:t>
            </a:r>
            <a:r>
              <a:rPr dirty="0" sz="900" spc="500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Inspection</a:t>
            </a:r>
            <a:r>
              <a:rPr dirty="0" sz="900" spc="-20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ID:</a:t>
            </a:r>
            <a:r>
              <a:rPr dirty="0" sz="900" spc="-1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ISE-IR20252501</a:t>
            </a:r>
            <a:r>
              <a:rPr dirty="0" sz="900" spc="500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Valuation</a:t>
            </a:r>
            <a:r>
              <a:rPr dirty="0" sz="900" spc="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ID:</a:t>
            </a:r>
            <a:r>
              <a:rPr dirty="0" sz="900" spc="210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ISE-V202511468</a:t>
            </a:r>
            <a:endParaRPr sz="900">
              <a:latin typeface="Calibri Light"/>
              <a:cs typeface="Calibri Light"/>
            </a:endParaRPr>
          </a:p>
          <a:p>
            <a:pPr marL="845185">
              <a:lnSpc>
                <a:spcPct val="100000"/>
              </a:lnSpc>
            </a:pP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SKR-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20251032</a:t>
            </a:r>
            <a:endParaRPr sz="9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25731" y="9398353"/>
            <a:ext cx="9017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 i="1">
                <a:solidFill>
                  <a:srgbClr val="58595B"/>
                </a:solidFill>
                <a:latin typeface="Calibri"/>
                <a:cs typeface="Calibri"/>
              </a:rPr>
              <a:t>7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08332" y="9398353"/>
            <a:ext cx="234442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58595B"/>
                </a:solidFill>
                <a:latin typeface="Calibri"/>
                <a:cs typeface="Calibri"/>
              </a:rPr>
              <a:t>Customer:</a:t>
            </a:r>
            <a:r>
              <a:rPr dirty="0" sz="1000" spc="-10">
                <a:solidFill>
                  <a:srgbClr val="58595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58595B"/>
                </a:solidFill>
                <a:latin typeface="Calibri"/>
                <a:cs typeface="Calibri"/>
              </a:rPr>
              <a:t>Mercury</a:t>
            </a:r>
            <a:r>
              <a:rPr dirty="0" sz="1000" spc="-10">
                <a:solidFill>
                  <a:srgbClr val="58595B"/>
                </a:solidFill>
                <a:latin typeface="Calibri"/>
                <a:cs typeface="Calibri"/>
              </a:rPr>
              <a:t> Natural</a:t>
            </a:r>
            <a:r>
              <a:rPr dirty="0" sz="1000" spc="-15">
                <a:solidFill>
                  <a:srgbClr val="58595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58595B"/>
                </a:solidFill>
                <a:latin typeface="Calibri"/>
                <a:cs typeface="Calibri"/>
              </a:rPr>
              <a:t>Resources </a:t>
            </a:r>
            <a:r>
              <a:rPr dirty="0" sz="1000" spc="-20">
                <a:solidFill>
                  <a:srgbClr val="58595B"/>
                </a:solidFill>
                <a:latin typeface="Calibri"/>
                <a:cs typeface="Calibri"/>
              </a:rPr>
              <a:t>GmbH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413878" y="1066508"/>
            <a:ext cx="4853940" cy="3603625"/>
            <a:chOff x="1413878" y="1066508"/>
            <a:chExt cx="4853940" cy="360362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13878" y="1066508"/>
              <a:ext cx="4729162" cy="353322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143213" y="4309262"/>
              <a:ext cx="4118610" cy="354965"/>
            </a:xfrm>
            <a:custGeom>
              <a:avLst/>
              <a:gdLst/>
              <a:ahLst/>
              <a:cxnLst/>
              <a:rect l="l" t="t" r="r" b="b"/>
              <a:pathLst>
                <a:path w="4118610" h="354964">
                  <a:moveTo>
                    <a:pt x="4118038" y="0"/>
                  </a:moveTo>
                  <a:lnTo>
                    <a:pt x="0" y="0"/>
                  </a:lnTo>
                  <a:lnTo>
                    <a:pt x="0" y="354495"/>
                  </a:lnTo>
                  <a:lnTo>
                    <a:pt x="4118038" y="354495"/>
                  </a:lnTo>
                  <a:lnTo>
                    <a:pt x="41180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143213" y="4309262"/>
              <a:ext cx="4118610" cy="354965"/>
            </a:xfrm>
            <a:custGeom>
              <a:avLst/>
              <a:gdLst/>
              <a:ahLst/>
              <a:cxnLst/>
              <a:rect l="l" t="t" r="r" b="b"/>
              <a:pathLst>
                <a:path w="4118610" h="354964">
                  <a:moveTo>
                    <a:pt x="0" y="354495"/>
                  </a:moveTo>
                  <a:lnTo>
                    <a:pt x="4118038" y="354495"/>
                  </a:lnTo>
                  <a:lnTo>
                    <a:pt x="4118038" y="0"/>
                  </a:lnTo>
                  <a:lnTo>
                    <a:pt x="0" y="0"/>
                  </a:lnTo>
                  <a:lnTo>
                    <a:pt x="0" y="35449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20228" y="4282122"/>
              <a:ext cx="4716780" cy="311785"/>
            </a:xfrm>
            <a:custGeom>
              <a:avLst/>
              <a:gdLst/>
              <a:ahLst/>
              <a:cxnLst/>
              <a:rect l="l" t="t" r="r" b="b"/>
              <a:pathLst>
                <a:path w="4716780" h="311785">
                  <a:moveTo>
                    <a:pt x="0" y="311251"/>
                  </a:moveTo>
                  <a:lnTo>
                    <a:pt x="4716462" y="311251"/>
                  </a:lnTo>
                  <a:lnTo>
                    <a:pt x="4716462" y="0"/>
                  </a:lnTo>
                  <a:lnTo>
                    <a:pt x="0" y="0"/>
                  </a:lnTo>
                  <a:lnTo>
                    <a:pt x="0" y="311251"/>
                  </a:lnTo>
                  <a:close/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45227" y="4348777"/>
              <a:ext cx="901230" cy="161500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1389595" y="5175008"/>
            <a:ext cx="5024120" cy="3587750"/>
            <a:chOff x="1389595" y="5175008"/>
            <a:chExt cx="5024120" cy="3587750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89608" y="5175008"/>
              <a:ext cx="4730918" cy="352614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288755" y="8401558"/>
              <a:ext cx="4118610" cy="354965"/>
            </a:xfrm>
            <a:custGeom>
              <a:avLst/>
              <a:gdLst/>
              <a:ahLst/>
              <a:cxnLst/>
              <a:rect l="l" t="t" r="r" b="b"/>
              <a:pathLst>
                <a:path w="4118610" h="354965">
                  <a:moveTo>
                    <a:pt x="4118038" y="0"/>
                  </a:moveTo>
                  <a:lnTo>
                    <a:pt x="0" y="0"/>
                  </a:lnTo>
                  <a:lnTo>
                    <a:pt x="0" y="354495"/>
                  </a:lnTo>
                  <a:lnTo>
                    <a:pt x="4118038" y="354495"/>
                  </a:lnTo>
                  <a:lnTo>
                    <a:pt x="41180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288755" y="8401558"/>
              <a:ext cx="4118610" cy="354965"/>
            </a:xfrm>
            <a:custGeom>
              <a:avLst/>
              <a:gdLst/>
              <a:ahLst/>
              <a:cxnLst/>
              <a:rect l="l" t="t" r="r" b="b"/>
              <a:pathLst>
                <a:path w="4118610" h="354965">
                  <a:moveTo>
                    <a:pt x="0" y="354495"/>
                  </a:moveTo>
                  <a:lnTo>
                    <a:pt x="4118038" y="354495"/>
                  </a:lnTo>
                  <a:lnTo>
                    <a:pt x="4118038" y="0"/>
                  </a:lnTo>
                  <a:lnTo>
                    <a:pt x="0" y="0"/>
                  </a:lnTo>
                  <a:lnTo>
                    <a:pt x="0" y="35449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395945" y="8383549"/>
              <a:ext cx="4716780" cy="311785"/>
            </a:xfrm>
            <a:custGeom>
              <a:avLst/>
              <a:gdLst/>
              <a:ahLst/>
              <a:cxnLst/>
              <a:rect l="l" t="t" r="r" b="b"/>
              <a:pathLst>
                <a:path w="4716780" h="311784">
                  <a:moveTo>
                    <a:pt x="0" y="311251"/>
                  </a:moveTo>
                  <a:lnTo>
                    <a:pt x="4716462" y="311251"/>
                  </a:lnTo>
                  <a:lnTo>
                    <a:pt x="4716462" y="0"/>
                  </a:lnTo>
                  <a:lnTo>
                    <a:pt x="0" y="0"/>
                  </a:lnTo>
                  <a:lnTo>
                    <a:pt x="0" y="311251"/>
                  </a:lnTo>
                  <a:close/>
                </a:path>
              </a:pathLst>
            </a:custGeom>
            <a:ln w="1269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46087" y="8466658"/>
              <a:ext cx="901233" cy="161493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376899" y="4595255"/>
            <a:ext cx="36982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72770" marR="5080" indent="-560705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Figure</a:t>
            </a:r>
            <a:r>
              <a:rPr dirty="0" sz="1200" spc="-3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5:</a:t>
            </a:r>
            <a:r>
              <a:rPr dirty="0" sz="1200" spc="-2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ELM-2025-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0110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(5262),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overview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of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area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50">
                <a:solidFill>
                  <a:srgbClr val="231F20"/>
                </a:solidFill>
                <a:latin typeface="Calibri Light"/>
                <a:cs typeface="Calibri Light"/>
              </a:rPr>
              <a:t>3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elongated</a:t>
            </a:r>
            <a:r>
              <a:rPr dirty="0" sz="1200" spc="-1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dendritic</a:t>
            </a:r>
            <a:r>
              <a:rPr dirty="0" sz="1200" spc="-1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structures,</a:t>
            </a:r>
            <a:r>
              <a:rPr dirty="0" sz="1200" spc="-1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approx.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21</a:t>
            </a:r>
            <a:r>
              <a:rPr dirty="0" sz="1200" spc="3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-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48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µm.</a:t>
            </a:r>
            <a:endParaRPr sz="1200">
              <a:latin typeface="Calibri Light"/>
              <a:cs typeface="Calibri Ligh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44500" y="9826103"/>
            <a:ext cx="1938655" cy="4140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>
                <a:solidFill>
                  <a:srgbClr val="58595B"/>
                </a:solidFill>
                <a:latin typeface="Calibri"/>
                <a:cs typeface="Calibri"/>
              </a:rPr>
              <a:t>Institut</a:t>
            </a:r>
            <a:r>
              <a:rPr dirty="0" sz="900" spc="-35">
                <a:solidFill>
                  <a:srgbClr val="58595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95B"/>
                </a:solidFill>
                <a:latin typeface="Calibri"/>
                <a:cs typeface="Calibri"/>
              </a:rPr>
              <a:t>für</a:t>
            </a:r>
            <a:r>
              <a:rPr dirty="0" sz="900" spc="-30">
                <a:solidFill>
                  <a:srgbClr val="58595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95B"/>
                </a:solidFill>
                <a:latin typeface="Calibri"/>
                <a:cs typeface="Calibri"/>
              </a:rPr>
              <a:t>Seltene</a:t>
            </a:r>
            <a:r>
              <a:rPr dirty="0" sz="900" spc="-35">
                <a:solidFill>
                  <a:srgbClr val="58595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95B"/>
                </a:solidFill>
                <a:latin typeface="Calibri"/>
                <a:cs typeface="Calibri"/>
              </a:rPr>
              <a:t>Erden</a:t>
            </a:r>
            <a:r>
              <a:rPr dirty="0" sz="900" spc="-35">
                <a:solidFill>
                  <a:srgbClr val="58595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95B"/>
                </a:solidFill>
                <a:latin typeface="Calibri"/>
                <a:cs typeface="Calibri"/>
              </a:rPr>
              <a:t>und</a:t>
            </a:r>
            <a:r>
              <a:rPr dirty="0" sz="900" spc="-40">
                <a:solidFill>
                  <a:srgbClr val="58595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8595B"/>
                </a:solidFill>
                <a:latin typeface="Calibri"/>
                <a:cs typeface="Calibri"/>
              </a:rPr>
              <a:t>Metalle</a:t>
            </a:r>
            <a:r>
              <a:rPr dirty="0" sz="900" spc="-30">
                <a:solidFill>
                  <a:srgbClr val="58595B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58595B"/>
                </a:solidFill>
                <a:latin typeface="Calibri"/>
                <a:cs typeface="Calibri"/>
              </a:rPr>
              <a:t>AG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Furrengasse</a:t>
            </a:r>
            <a:r>
              <a:rPr dirty="0" sz="900" spc="10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21,</a:t>
            </a:r>
            <a:r>
              <a:rPr dirty="0" sz="900" spc="1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Postfach</a:t>
            </a:r>
            <a:endParaRPr sz="9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6000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Luzern</a:t>
            </a:r>
            <a:r>
              <a:rPr dirty="0" sz="900" spc="-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6,</a:t>
            </a:r>
            <a:r>
              <a:rPr dirty="0" sz="900" spc="-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Schweiz</a:t>
            </a:r>
            <a:endParaRPr sz="900">
              <a:latin typeface="Calibri Light"/>
              <a:cs typeface="Calibri Ligh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170554" y="9826103"/>
            <a:ext cx="1207135" cy="4140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Email:</a:t>
            </a:r>
            <a:r>
              <a:rPr dirty="0" sz="900" spc="50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 spc="-20">
                <a:solidFill>
                  <a:srgbClr val="58595B"/>
                </a:solidFill>
                <a:latin typeface="Calibri Light"/>
                <a:cs typeface="Calibri Light"/>
                <a:hlinkClick r:id="rId5"/>
              </a:rPr>
              <a:t>Info@ise-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  <a:hlinkClick r:id="rId5"/>
              </a:rPr>
              <a:t>ag.com</a:t>
            </a:r>
            <a:endParaRPr sz="9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Phone:</a:t>
            </a:r>
            <a:r>
              <a:rPr dirty="0" sz="900" spc="-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+41-41 5 11 11 </a:t>
            </a:r>
            <a:r>
              <a:rPr dirty="0" sz="900" spc="-25">
                <a:solidFill>
                  <a:srgbClr val="58595B"/>
                </a:solidFill>
                <a:latin typeface="Calibri Light"/>
                <a:cs typeface="Calibri Light"/>
              </a:rPr>
              <a:t>20</a:t>
            </a:r>
            <a:endParaRPr sz="9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Web:</a:t>
            </a:r>
            <a:r>
              <a:rPr dirty="0" sz="900" spc="10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 spc="-20">
                <a:solidFill>
                  <a:srgbClr val="58595B"/>
                </a:solidFill>
                <a:latin typeface="Calibri Light"/>
                <a:cs typeface="Calibri Light"/>
                <a:hlinkClick r:id="rId6"/>
              </a:rPr>
              <a:t>www.ise-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  <a:hlinkClick r:id="rId6"/>
              </a:rPr>
              <a:t>ag.com</a:t>
            </a:r>
            <a:endParaRPr sz="900">
              <a:latin typeface="Calibri Light"/>
              <a:cs typeface="Calibri Ligh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304421" y="9826103"/>
            <a:ext cx="1390650" cy="4140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Handelsregisteramt</a:t>
            </a:r>
            <a:r>
              <a:rPr dirty="0" sz="900" spc="30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Luzern</a:t>
            </a:r>
            <a:endParaRPr sz="9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CHE-456.752.545</a:t>
            </a:r>
            <a:endParaRPr sz="9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Verwaltungsrat:</a:t>
            </a:r>
            <a:r>
              <a:rPr dirty="0" sz="900" spc="-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>
                <a:solidFill>
                  <a:srgbClr val="58595B"/>
                </a:solidFill>
                <a:latin typeface="Calibri Light"/>
                <a:cs typeface="Calibri Light"/>
              </a:rPr>
              <a:t>A.</a:t>
            </a:r>
            <a:r>
              <a:rPr dirty="0" sz="900" spc="-5">
                <a:solidFill>
                  <a:srgbClr val="58595B"/>
                </a:solidFill>
                <a:latin typeface="Calibri Light"/>
                <a:cs typeface="Calibri Light"/>
              </a:rPr>
              <a:t> </a:t>
            </a:r>
            <a:r>
              <a:rPr dirty="0" sz="900" spc="-10">
                <a:solidFill>
                  <a:srgbClr val="58595B"/>
                </a:solidFill>
                <a:latin typeface="Calibri Light"/>
                <a:cs typeface="Calibri Light"/>
              </a:rPr>
              <a:t>Uhlendorff</a:t>
            </a:r>
            <a:endParaRPr sz="900">
              <a:latin typeface="Calibri Light"/>
              <a:cs typeface="Calibri Ligh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76899" y="8688414"/>
            <a:ext cx="345567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Figure</a:t>
            </a:r>
            <a:r>
              <a:rPr dirty="0" sz="1200" spc="-3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31F20"/>
                </a:solidFill>
                <a:latin typeface="Calibri"/>
                <a:cs typeface="Calibri"/>
              </a:rPr>
              <a:t>6:</a:t>
            </a:r>
            <a:r>
              <a:rPr dirty="0" sz="1200" spc="-2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ELM-2025-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0110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(5262),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detail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from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image</a:t>
            </a:r>
            <a:r>
              <a:rPr dirty="0" sz="1200" spc="-3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50">
                <a:solidFill>
                  <a:srgbClr val="231F20"/>
                </a:solidFill>
                <a:latin typeface="Calibri Light"/>
                <a:cs typeface="Calibri Light"/>
              </a:rPr>
              <a:t>5</a:t>
            </a:r>
            <a:endParaRPr sz="1200">
              <a:latin typeface="Calibri Light"/>
              <a:cs typeface="Calibri Light"/>
            </a:endParaRPr>
          </a:p>
          <a:p>
            <a:pPr marL="607060" marR="5080">
              <a:lnSpc>
                <a:spcPct val="100000"/>
              </a:lnSpc>
            </a:pP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roundish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particles,</a:t>
            </a:r>
            <a:r>
              <a:rPr dirty="0" sz="1200" spc="-1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approx.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0,6-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1,2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μm,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elongated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dendritic</a:t>
            </a:r>
            <a:r>
              <a:rPr dirty="0" sz="1200" spc="-20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10">
                <a:solidFill>
                  <a:srgbClr val="231F20"/>
                </a:solidFill>
                <a:latin typeface="Calibri Light"/>
                <a:cs typeface="Calibri Light"/>
              </a:rPr>
              <a:t>structures,</a:t>
            </a:r>
            <a:r>
              <a:rPr dirty="0" sz="1200" spc="-1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approx.</a:t>
            </a:r>
            <a:r>
              <a:rPr dirty="0" sz="1200" spc="-1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>
                <a:solidFill>
                  <a:srgbClr val="231F20"/>
                </a:solidFill>
                <a:latin typeface="Calibri Light"/>
                <a:cs typeface="Calibri Light"/>
              </a:rPr>
              <a:t>13</a:t>
            </a:r>
            <a:r>
              <a:rPr dirty="0" sz="1200" spc="-15">
                <a:solidFill>
                  <a:srgbClr val="231F20"/>
                </a:solidFill>
                <a:latin typeface="Calibri Light"/>
                <a:cs typeface="Calibri Light"/>
              </a:rPr>
              <a:t> </a:t>
            </a:r>
            <a:r>
              <a:rPr dirty="0" sz="1200" spc="-25">
                <a:solidFill>
                  <a:srgbClr val="231F20"/>
                </a:solidFill>
                <a:latin typeface="Calibri Light"/>
                <a:cs typeface="Calibri Light"/>
              </a:rPr>
              <a:t>µm.</a:t>
            </a:r>
            <a:endParaRPr sz="12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58595B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2026-06-24T08:43:30Z</dcterms:created>
  <dcterms:modified xsi:type="dcterms:W3CDTF">2026-06-24T08:43:30Z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2025-07-21T00:00:00Z</vt:filetime>
  </property>
  <property fmtid="{D5CDD505-2E9C-101B-9397-08002B2CF9AE}" pid="4" name="Creator">
    <vt:lpwstr>Adobe InDesign 20.4 (Macintosh)</vt:lpwstr>
  </property>
  <property fmtid="{D5CDD505-2E9C-101B-9397-08002B2CF9AE}" pid="5" name="LastSaved">
    <vt:filetime>2026-06-24T00:00:00Z</vt:filetime>
  </property>
  <property fmtid="{D5CDD505-2E9C-101B-9397-08002B2CF9AE}" pid="6" name="Producer">
    <vt:lpwstr>Adobe PDF Library 17.0</vt:lpwstr>
  </property>
</Properties>
</file>