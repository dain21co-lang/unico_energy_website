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1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9" autoAdjust="0"/>
    <p:restoredTop sz="94660"/>
  </p:normalViewPr>
  <p:slideViewPr>
    <p:cSldViewPr>
      <p:cViewPr varScale="1">
        <p:scale>
          <a:sx n="74" d="100"/>
          <a:sy n="74" d="100"/>
        </p:scale>
        <p:origin x="85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9999" y="1233375"/>
            <a:ext cx="38100" cy="323850"/>
          </a:xfrm>
          <a:custGeom>
            <a:avLst/>
            <a:gdLst/>
            <a:ahLst/>
            <a:cxnLst/>
            <a:rect l="l" t="t" r="r" b="b"/>
            <a:pathLst>
              <a:path w="38100" h="323850">
                <a:moveTo>
                  <a:pt x="38100" y="323850"/>
                </a:moveTo>
                <a:lnTo>
                  <a:pt x="0" y="323850"/>
                </a:lnTo>
                <a:lnTo>
                  <a:pt x="0" y="0"/>
                </a:lnTo>
                <a:lnTo>
                  <a:pt x="38100" y="0"/>
                </a:lnTo>
                <a:lnTo>
                  <a:pt x="38100" y="323850"/>
                </a:lnTo>
                <a:close/>
              </a:path>
            </a:pathLst>
          </a:custGeom>
          <a:solidFill>
            <a:srgbClr val="B352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06256" y="10147175"/>
            <a:ext cx="184784" cy="189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4748A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5.jp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900000"/>
            <a:ext cx="6120130" cy="76200"/>
          </a:xfrm>
          <a:custGeom>
            <a:avLst/>
            <a:gdLst/>
            <a:ahLst/>
            <a:cxnLst/>
            <a:rect l="l" t="t" r="r" b="b"/>
            <a:pathLst>
              <a:path w="6120130" h="76200">
                <a:moveTo>
                  <a:pt x="6120000" y="76200"/>
                </a:moveTo>
                <a:lnTo>
                  <a:pt x="0" y="76200"/>
                </a:lnTo>
                <a:lnTo>
                  <a:pt x="0" y="0"/>
                </a:lnTo>
                <a:lnTo>
                  <a:pt x="6120000" y="0"/>
                </a:lnTo>
                <a:lnTo>
                  <a:pt x="6120000" y="76200"/>
                </a:lnTo>
                <a:close/>
              </a:path>
            </a:pathLst>
          </a:custGeom>
          <a:solidFill>
            <a:srgbClr val="1D3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45131" y="2412421"/>
            <a:ext cx="6120130" cy="19050"/>
          </a:xfrm>
          <a:custGeom>
            <a:avLst/>
            <a:gdLst/>
            <a:ahLst/>
            <a:cxnLst/>
            <a:rect l="l" t="t" r="r" b="b"/>
            <a:pathLst>
              <a:path w="6120130" h="19050">
                <a:moveTo>
                  <a:pt x="6120000" y="19050"/>
                </a:moveTo>
                <a:lnTo>
                  <a:pt x="0" y="19050"/>
                </a:lnTo>
                <a:lnTo>
                  <a:pt x="0" y="0"/>
                </a:lnTo>
                <a:lnTo>
                  <a:pt x="6120000" y="0"/>
                </a:lnTo>
                <a:lnTo>
                  <a:pt x="6120000" y="1905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28575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00379" y="1070373"/>
            <a:ext cx="5148580" cy="122174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300" spc="-25" dirty="0">
                <a:solidFill>
                  <a:srgbClr val="B35208"/>
                </a:solidFill>
                <a:latin typeface="Arial Black"/>
                <a:cs typeface="Arial Black"/>
              </a:rPr>
              <a:t>STRATEGIC</a:t>
            </a:r>
            <a:r>
              <a:rPr sz="1300" spc="150" dirty="0">
                <a:solidFill>
                  <a:srgbClr val="B35208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B35208"/>
                </a:solidFill>
                <a:latin typeface="Arial Black"/>
                <a:cs typeface="Arial Black"/>
              </a:rPr>
              <a:t>INVESTMENT</a:t>
            </a:r>
            <a:r>
              <a:rPr sz="1300" spc="150" dirty="0">
                <a:solidFill>
                  <a:srgbClr val="B35208"/>
                </a:solidFill>
                <a:latin typeface="Arial Black"/>
                <a:cs typeface="Arial Black"/>
              </a:rPr>
              <a:t> </a:t>
            </a:r>
            <a:r>
              <a:rPr sz="1300" spc="45" dirty="0">
                <a:solidFill>
                  <a:srgbClr val="B35208"/>
                </a:solidFill>
                <a:latin typeface="Arial Black"/>
                <a:cs typeface="Arial Black"/>
              </a:rPr>
              <a:t>MEMORANDUM</a:t>
            </a:r>
            <a:endParaRPr sz="13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600" b="1" spc="-265" dirty="0">
                <a:solidFill>
                  <a:srgbClr val="0F162A"/>
                </a:solidFill>
                <a:latin typeface="Malgun Gothic"/>
                <a:cs typeface="Malgun Gothic"/>
              </a:rPr>
              <a:t>프로젝트</a:t>
            </a:r>
            <a:r>
              <a:rPr sz="2600" b="1" spc="-310" dirty="0">
                <a:solidFill>
                  <a:srgbClr val="0F162A"/>
                </a:solidFill>
                <a:latin typeface="Malgun Gothic"/>
                <a:cs typeface="Malgun Gothic"/>
              </a:rPr>
              <a:t> </a:t>
            </a:r>
            <a:r>
              <a:rPr sz="2600" b="1" spc="-260" dirty="0">
                <a:solidFill>
                  <a:srgbClr val="0F162A"/>
                </a:solidFill>
                <a:latin typeface="Malgun Gothic"/>
                <a:cs typeface="Malgun Gothic"/>
              </a:rPr>
              <a:t>메티스</a:t>
            </a:r>
            <a:r>
              <a:rPr sz="2600" b="1" spc="-305" dirty="0">
                <a:solidFill>
                  <a:srgbClr val="0F162A"/>
                </a:solidFill>
                <a:latin typeface="Malgun Gothic"/>
                <a:cs typeface="Malgun Gothic"/>
              </a:rPr>
              <a:t> </a:t>
            </a:r>
            <a:r>
              <a:rPr sz="2600" b="1" spc="-210" dirty="0">
                <a:solidFill>
                  <a:srgbClr val="0F162A"/>
                </a:solidFill>
                <a:latin typeface="Malgun Gothic"/>
                <a:cs typeface="Malgun Gothic"/>
              </a:rPr>
              <a:t>(</a:t>
            </a:r>
            <a:r>
              <a:rPr sz="2600" spc="-210" dirty="0">
                <a:solidFill>
                  <a:srgbClr val="0F162A"/>
                </a:solidFill>
                <a:latin typeface="Arial Black"/>
                <a:cs typeface="Arial Black"/>
              </a:rPr>
              <a:t>Project</a:t>
            </a:r>
            <a:r>
              <a:rPr sz="2600" spc="-315" dirty="0">
                <a:solidFill>
                  <a:srgbClr val="0F162A"/>
                </a:solidFill>
                <a:latin typeface="Arial Black"/>
                <a:cs typeface="Arial Black"/>
              </a:rPr>
              <a:t> </a:t>
            </a:r>
            <a:r>
              <a:rPr sz="2600" spc="-10" dirty="0">
                <a:solidFill>
                  <a:srgbClr val="0F162A"/>
                </a:solidFill>
                <a:latin typeface="Arial Black"/>
                <a:cs typeface="Arial Black"/>
              </a:rPr>
              <a:t>Metis</a:t>
            </a:r>
            <a:r>
              <a:rPr sz="2600" b="1" spc="-10" dirty="0">
                <a:solidFill>
                  <a:srgbClr val="0F162A"/>
                </a:solidFill>
                <a:latin typeface="Malgun Gothic"/>
                <a:cs typeface="Malgun Gothic"/>
              </a:rPr>
              <a:t>)</a:t>
            </a:r>
            <a:endParaRPr sz="26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800" spc="-200" dirty="0">
                <a:solidFill>
                  <a:srgbClr val="465469"/>
                </a:solidFill>
                <a:latin typeface="Malgun Gothic"/>
                <a:cs typeface="Malgun Gothic"/>
              </a:rPr>
              <a:t>상장사</a:t>
            </a:r>
            <a:r>
              <a:rPr sz="1800" spc="-27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800" spc="-190" dirty="0">
                <a:solidFill>
                  <a:srgbClr val="465469"/>
                </a:solidFill>
                <a:latin typeface="Malgun Gothic"/>
                <a:cs typeface="Malgun Gothic"/>
              </a:rPr>
              <a:t>자본</a:t>
            </a:r>
            <a:r>
              <a:rPr sz="1800" spc="-26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800" spc="-200" dirty="0">
                <a:solidFill>
                  <a:srgbClr val="465469"/>
                </a:solidFill>
                <a:latin typeface="Malgun Gothic"/>
                <a:cs typeface="Malgun Gothic"/>
              </a:rPr>
              <a:t>구조화</a:t>
            </a:r>
            <a:r>
              <a:rPr sz="1800" spc="-26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800" spc="-150" dirty="0">
                <a:solidFill>
                  <a:srgbClr val="465469"/>
                </a:solidFill>
                <a:latin typeface="Malgun Gothic"/>
                <a:cs typeface="Malgun Gothic"/>
              </a:rPr>
              <a:t>및</a:t>
            </a:r>
            <a:r>
              <a:rPr sz="1800" spc="-26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800" spc="-190" dirty="0">
                <a:solidFill>
                  <a:srgbClr val="465469"/>
                </a:solidFill>
                <a:latin typeface="Malgun Gothic"/>
                <a:cs typeface="Malgun Gothic"/>
              </a:rPr>
              <a:t>첨단</a:t>
            </a:r>
            <a:r>
              <a:rPr sz="1800" spc="-2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800" spc="-190" dirty="0">
                <a:solidFill>
                  <a:srgbClr val="465469"/>
                </a:solidFill>
                <a:latin typeface="Malgun Gothic"/>
                <a:cs typeface="Malgun Gothic"/>
              </a:rPr>
              <a:t>소재</a:t>
            </a:r>
            <a:r>
              <a:rPr sz="1800" spc="-26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800" spc="-190" dirty="0">
                <a:solidFill>
                  <a:srgbClr val="465469"/>
                </a:solidFill>
                <a:latin typeface="Malgun Gothic"/>
                <a:cs typeface="Malgun Gothic"/>
              </a:rPr>
              <a:t>자산</a:t>
            </a:r>
            <a:r>
              <a:rPr sz="1800" spc="-26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800" spc="-200" dirty="0">
                <a:solidFill>
                  <a:srgbClr val="465469"/>
                </a:solidFill>
                <a:latin typeface="Malgun Gothic"/>
                <a:cs typeface="Malgun Gothic"/>
              </a:rPr>
              <a:t>양수도</a:t>
            </a:r>
            <a:r>
              <a:rPr sz="1800" spc="-26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800" spc="-190" dirty="0">
                <a:solidFill>
                  <a:srgbClr val="465469"/>
                </a:solidFill>
                <a:latin typeface="Malgun Gothic"/>
                <a:cs typeface="Malgun Gothic"/>
              </a:rPr>
              <a:t>종합</a:t>
            </a:r>
            <a:r>
              <a:rPr sz="1800" spc="-2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800" spc="-180" dirty="0">
                <a:solidFill>
                  <a:srgbClr val="465469"/>
                </a:solidFill>
                <a:latin typeface="Malgun Gothic"/>
                <a:cs typeface="Malgun Gothic"/>
              </a:rPr>
              <a:t>제안서</a:t>
            </a:r>
            <a:endParaRPr sz="1800" dirty="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628" y="2619886"/>
            <a:ext cx="5533390" cy="97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1700"/>
              </a:lnSpc>
              <a:spcBef>
                <a:spcPts val="100"/>
              </a:spcBef>
            </a:pP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본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제안서는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엑시온그룹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주식회사의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55" dirty="0">
                <a:solidFill>
                  <a:srgbClr val="334154"/>
                </a:solidFill>
                <a:latin typeface="Malgun Gothic"/>
                <a:cs typeface="Malgun Gothic"/>
              </a:rPr>
              <a:t>제11회차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무기명식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무보증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사모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60" dirty="0">
                <a:solidFill>
                  <a:srgbClr val="334154"/>
                </a:solidFill>
                <a:latin typeface="Malgun Gothic"/>
                <a:cs typeface="Malgun Gothic"/>
              </a:rPr>
              <a:t>전환사채(</a:t>
            </a:r>
            <a:r>
              <a:rPr sz="1100" spc="-60" dirty="0">
                <a:solidFill>
                  <a:srgbClr val="334154"/>
                </a:solidFill>
                <a:latin typeface="Microsoft Sans Serif"/>
                <a:cs typeface="Microsoft Sans Serif"/>
              </a:rPr>
              <a:t>CB</a:t>
            </a:r>
            <a:r>
              <a:rPr sz="1100" spc="-60" dirty="0">
                <a:solidFill>
                  <a:srgbClr val="334154"/>
                </a:solidFill>
                <a:latin typeface="Malgun Gothic"/>
                <a:cs typeface="Malgun Gothic"/>
              </a:rPr>
              <a:t>)의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권리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재배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치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및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무루아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보유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초고순도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구리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20" dirty="0">
                <a:solidFill>
                  <a:srgbClr val="334154"/>
                </a:solidFill>
                <a:latin typeface="Malgun Gothic"/>
                <a:cs typeface="Malgun Gothic"/>
              </a:rPr>
              <a:t>분말(6</a:t>
            </a:r>
            <a:r>
              <a:rPr sz="1100" spc="-20" dirty="0">
                <a:solidFill>
                  <a:srgbClr val="334154"/>
                </a:solidFill>
                <a:latin typeface="Microsoft Sans Serif"/>
                <a:cs typeface="Microsoft Sans Serif"/>
              </a:rPr>
              <a:t>N</a:t>
            </a:r>
            <a:r>
              <a:rPr sz="1100" spc="-20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자산의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25" dirty="0">
                <a:solidFill>
                  <a:srgbClr val="334154"/>
                </a:solidFill>
                <a:latin typeface="Malgun Gothic"/>
                <a:cs typeface="Malgun Gothic"/>
              </a:rPr>
              <a:t>1:1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대등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자산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20" dirty="0">
                <a:solidFill>
                  <a:srgbClr val="334154"/>
                </a:solidFill>
                <a:latin typeface="Malgun Gothic"/>
                <a:cs typeface="Malgun Gothic"/>
              </a:rPr>
              <a:t>교환(</a:t>
            </a:r>
            <a:r>
              <a:rPr sz="1100" spc="-20" dirty="0">
                <a:solidFill>
                  <a:srgbClr val="334154"/>
                </a:solidFill>
                <a:latin typeface="Microsoft Sans Serif"/>
                <a:cs typeface="Microsoft Sans Serif"/>
              </a:rPr>
              <a:t>Asset</a:t>
            </a:r>
            <a:r>
              <a:rPr sz="1100" spc="45" dirty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334154"/>
                </a:solidFill>
                <a:latin typeface="Microsoft Sans Serif"/>
                <a:cs typeface="Microsoft Sans Serif"/>
              </a:rPr>
              <a:t>Swap</a:t>
            </a:r>
            <a:r>
              <a:rPr sz="1100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구조를</a:t>
            </a:r>
            <a:r>
              <a:rPr sz="1100" spc="-3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정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55" dirty="0">
                <a:solidFill>
                  <a:srgbClr val="334154"/>
                </a:solidFill>
                <a:latin typeface="Malgun Gothic"/>
                <a:cs typeface="Malgun Gothic"/>
              </a:rPr>
              <a:t>립하고,</a:t>
            </a:r>
            <a:r>
              <a:rPr sz="1100" spc="1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나아가</a:t>
            </a:r>
            <a:r>
              <a:rPr sz="1100" spc="1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디딤파트너스의</a:t>
            </a:r>
            <a:r>
              <a:rPr sz="1100" spc="1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거버넌스</a:t>
            </a:r>
            <a:r>
              <a:rPr sz="1100" spc="1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 err="1">
                <a:solidFill>
                  <a:srgbClr val="334154"/>
                </a:solidFill>
                <a:latin typeface="Malgun Gothic"/>
                <a:cs typeface="Malgun Gothic"/>
              </a:rPr>
              <a:t>자문과</a:t>
            </a:r>
            <a:r>
              <a:rPr sz="1100" spc="1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 err="1">
                <a:solidFill>
                  <a:srgbClr val="334154"/>
                </a:solidFill>
                <a:latin typeface="Malgun Gothic"/>
                <a:cs typeface="Malgun Gothic"/>
              </a:rPr>
              <a:t>현대자산운용의</a:t>
            </a:r>
            <a:r>
              <a:rPr lang="en-US" altLang="ko-KR"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금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융</a:t>
            </a:r>
            <a:r>
              <a:rPr sz="1100" spc="1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자원화를</a:t>
            </a:r>
            <a:r>
              <a:rPr sz="1100" spc="1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매칭하기</a:t>
            </a:r>
            <a:r>
              <a:rPr sz="1100" spc="1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위한</a:t>
            </a:r>
            <a:r>
              <a:rPr sz="1100" spc="-3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전문적</a:t>
            </a:r>
            <a:r>
              <a:rPr sz="1100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투자</a:t>
            </a:r>
            <a:r>
              <a:rPr sz="1100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유치</a:t>
            </a:r>
            <a:r>
              <a:rPr sz="1100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및</a:t>
            </a:r>
            <a:r>
              <a:rPr sz="1100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구조화</a:t>
            </a:r>
            <a:r>
              <a:rPr sz="1100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90" dirty="0">
                <a:solidFill>
                  <a:srgbClr val="334154"/>
                </a:solidFill>
                <a:latin typeface="Malgun Gothic"/>
                <a:cs typeface="Malgun Gothic"/>
              </a:rPr>
              <a:t>확정</a:t>
            </a:r>
            <a:r>
              <a:rPr sz="1100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100" spc="-70" dirty="0">
                <a:solidFill>
                  <a:srgbClr val="334154"/>
                </a:solidFill>
                <a:latin typeface="Malgun Gothic"/>
                <a:cs typeface="Malgun Gothic"/>
              </a:rPr>
              <a:t>문서입니다.</a:t>
            </a:r>
            <a:endParaRPr sz="1100" dirty="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6707352" y="9752041"/>
            <a:ext cx="184784" cy="18986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043509" y="7702905"/>
            <a:ext cx="49275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75" dirty="0">
                <a:solidFill>
                  <a:srgbClr val="0F162A"/>
                </a:solidFill>
                <a:latin typeface="Malgun Gothic"/>
                <a:cs typeface="Malgun Gothic"/>
              </a:rPr>
              <a:t>수신기관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6510" y="7626704"/>
            <a:ext cx="3901978" cy="17055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ko-KR" altLang="en-US" sz="1000" dirty="0" err="1">
                <a:solidFill>
                  <a:srgbClr val="465469"/>
                </a:solidFill>
                <a:latin typeface="Malgun Gothic"/>
                <a:cs typeface="Malgun Gothic"/>
              </a:rPr>
              <a:t>무루아</a:t>
            </a:r>
            <a:r>
              <a:rPr lang="en-US" altLang="ko-KR" sz="1000" dirty="0">
                <a:solidFill>
                  <a:srgbClr val="465469"/>
                </a:solidFill>
                <a:latin typeface="Malgun Gothic"/>
                <a:cs typeface="Malgun Gothic"/>
              </a:rPr>
              <a:t>(</a:t>
            </a:r>
            <a:r>
              <a:rPr lang="en-US" altLang="ko-KR" sz="1000" dirty="0" err="1">
                <a:solidFill>
                  <a:srgbClr val="465469"/>
                </a:solidFill>
                <a:latin typeface="Malgun Gothic"/>
                <a:cs typeface="Malgun Gothic"/>
              </a:rPr>
              <a:t>Murua</a:t>
            </a:r>
            <a:r>
              <a:rPr lang="en-US" altLang="ko-KR" sz="1000" dirty="0">
                <a:solidFill>
                  <a:srgbClr val="465469"/>
                </a:solidFill>
                <a:latin typeface="Malgun Gothic"/>
                <a:cs typeface="Malgun Gothic"/>
              </a:rPr>
              <a:t>) </a:t>
            </a:r>
            <a:r>
              <a:rPr lang="ko-KR" altLang="en-US" sz="1000" dirty="0">
                <a:solidFill>
                  <a:srgbClr val="465469"/>
                </a:solidFill>
                <a:latin typeface="Malgun Gothic"/>
                <a:cs typeface="Malgun Gothic"/>
              </a:rPr>
              <a:t>박재희 대표이사</a:t>
            </a:r>
            <a:r>
              <a:rPr sz="1000" spc="-25" dirty="0" err="1">
                <a:solidFill>
                  <a:srgbClr val="465469"/>
                </a:solidFill>
                <a:latin typeface="Malgun Gothic"/>
                <a:cs typeface="Malgun Gothic"/>
              </a:rPr>
              <a:t>귀하</a:t>
            </a:r>
            <a:endParaRPr sz="10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85" dirty="0">
                <a:solidFill>
                  <a:srgbClr val="465469"/>
                </a:solidFill>
                <a:latin typeface="Malgun Gothic"/>
                <a:cs typeface="Malgun Gothic"/>
              </a:rPr>
              <a:t>주식회사</a:t>
            </a:r>
            <a:r>
              <a:rPr sz="1000" spc="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465469"/>
                </a:solidFill>
                <a:latin typeface="Malgun Gothic"/>
                <a:cs typeface="Malgun Gothic"/>
              </a:rPr>
              <a:t>디딤파트너스(</a:t>
            </a:r>
            <a:r>
              <a:rPr sz="1000" spc="-25" dirty="0">
                <a:solidFill>
                  <a:srgbClr val="465469"/>
                </a:solidFill>
                <a:latin typeface="Microsoft Sans Serif"/>
                <a:cs typeface="Microsoft Sans Serif"/>
              </a:rPr>
              <a:t>Didim</a:t>
            </a:r>
            <a:r>
              <a:rPr sz="1000" spc="70" dirty="0">
                <a:solidFill>
                  <a:srgbClr val="46546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465469"/>
                </a:solidFill>
                <a:latin typeface="Microsoft Sans Serif"/>
                <a:cs typeface="Microsoft Sans Serif"/>
              </a:rPr>
              <a:t>Partners</a:t>
            </a:r>
            <a:r>
              <a:rPr sz="1000" dirty="0">
                <a:solidFill>
                  <a:srgbClr val="465469"/>
                </a:solidFill>
                <a:latin typeface="Malgun Gothic"/>
                <a:cs typeface="Malgun Gothic"/>
              </a:rPr>
              <a:t>)</a:t>
            </a:r>
            <a:r>
              <a:rPr lang="en-US" altLang="ko-KR" sz="1000" spc="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lang="ko-KR" altLang="en-US" sz="1000" spc="5" dirty="0" err="1">
                <a:solidFill>
                  <a:srgbClr val="465469"/>
                </a:solidFill>
                <a:latin typeface="Malgun Gothic"/>
                <a:cs typeface="Malgun Gothic"/>
              </a:rPr>
              <a:t>진경철</a:t>
            </a:r>
            <a:r>
              <a:rPr lang="ko-KR" altLang="en-US" sz="1000" spc="5" dirty="0">
                <a:solidFill>
                  <a:srgbClr val="465469"/>
                </a:solidFill>
                <a:latin typeface="Malgun Gothic"/>
                <a:cs typeface="Malgun Gothic"/>
              </a:rPr>
              <a:t> 부</a:t>
            </a:r>
            <a:r>
              <a:rPr sz="1000" spc="-85" dirty="0" err="1">
                <a:solidFill>
                  <a:srgbClr val="465469"/>
                </a:solidFill>
                <a:latin typeface="Malgun Gothic"/>
                <a:cs typeface="Malgun Gothic"/>
              </a:rPr>
              <a:t>대표</a:t>
            </a:r>
            <a:r>
              <a:rPr sz="1000" spc="1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465469"/>
                </a:solidFill>
                <a:latin typeface="Malgun Gothic"/>
                <a:cs typeface="Malgun Gothic"/>
              </a:rPr>
              <a:t>귀하</a:t>
            </a:r>
            <a:endParaRPr sz="1000" dirty="0">
              <a:latin typeface="Malgun Gothic"/>
              <a:cs typeface="Malgun Gothic"/>
            </a:endParaRPr>
          </a:p>
          <a:p>
            <a:pPr marL="12700" marR="5080">
              <a:lnSpc>
                <a:spcPct val="200000"/>
              </a:lnSpc>
            </a:pPr>
            <a:r>
              <a:rPr sz="1000" spc="-85" dirty="0">
                <a:solidFill>
                  <a:srgbClr val="465469"/>
                </a:solidFill>
                <a:latin typeface="Malgun Gothic"/>
                <a:cs typeface="Malgun Gothic"/>
              </a:rPr>
              <a:t>현대자산운용</a:t>
            </a:r>
            <a:r>
              <a:rPr sz="1000" spc="2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00" spc="-85" dirty="0">
                <a:solidFill>
                  <a:srgbClr val="465469"/>
                </a:solidFill>
                <a:latin typeface="Malgun Gothic"/>
                <a:cs typeface="Malgun Gothic"/>
              </a:rPr>
              <a:t>주식회사</a:t>
            </a:r>
            <a:r>
              <a:rPr sz="1000" spc="2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465469"/>
                </a:solidFill>
                <a:latin typeface="Malgun Gothic"/>
                <a:cs typeface="Malgun Gothic"/>
              </a:rPr>
              <a:t>(</a:t>
            </a:r>
            <a:r>
              <a:rPr sz="1000" dirty="0">
                <a:solidFill>
                  <a:srgbClr val="465469"/>
                </a:solidFill>
                <a:latin typeface="Microsoft Sans Serif"/>
                <a:cs typeface="Microsoft Sans Serif"/>
              </a:rPr>
              <a:t>Hyundai</a:t>
            </a:r>
            <a:r>
              <a:rPr sz="1000" spc="75" dirty="0">
                <a:solidFill>
                  <a:srgbClr val="46546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465469"/>
                </a:solidFill>
                <a:latin typeface="Microsoft Sans Serif"/>
                <a:cs typeface="Microsoft Sans Serif"/>
              </a:rPr>
              <a:t>Asset</a:t>
            </a:r>
            <a:r>
              <a:rPr sz="1000" spc="80" dirty="0">
                <a:solidFill>
                  <a:srgbClr val="46546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>Management</a:t>
            </a:r>
            <a:r>
              <a:rPr sz="1000" spc="-10" dirty="0">
                <a:solidFill>
                  <a:srgbClr val="465469"/>
                </a:solidFill>
                <a:latin typeface="Malgun Gothic"/>
                <a:cs typeface="Malgun Gothic"/>
              </a:rPr>
              <a:t>) </a:t>
            </a:r>
            <a:r>
              <a:rPr sz="1000" spc="-85" dirty="0" err="1">
                <a:solidFill>
                  <a:srgbClr val="465469"/>
                </a:solidFill>
                <a:latin typeface="Malgun Gothic"/>
                <a:cs typeface="Malgun Gothic"/>
              </a:rPr>
              <a:t>주식회사</a:t>
            </a:r>
            <a:r>
              <a:rPr sz="100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00" spc="-85" dirty="0">
                <a:solidFill>
                  <a:srgbClr val="465469"/>
                </a:solidFill>
                <a:latin typeface="Malgun Gothic"/>
                <a:cs typeface="Malgun Gothic"/>
              </a:rPr>
              <a:t>엑시온그룹</a:t>
            </a:r>
            <a:r>
              <a:rPr sz="1000" spc="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465469"/>
                </a:solidFill>
                <a:latin typeface="Malgun Gothic"/>
                <a:cs typeface="Malgun Gothic"/>
              </a:rPr>
              <a:t>(</a:t>
            </a:r>
            <a:r>
              <a:rPr sz="1000" dirty="0">
                <a:solidFill>
                  <a:srgbClr val="465469"/>
                </a:solidFill>
                <a:latin typeface="Microsoft Sans Serif"/>
                <a:cs typeface="Microsoft Sans Serif"/>
              </a:rPr>
              <a:t>Axion</a:t>
            </a:r>
            <a:r>
              <a:rPr sz="1000" spc="65" dirty="0">
                <a:solidFill>
                  <a:srgbClr val="46546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465469"/>
                </a:solidFill>
                <a:latin typeface="Microsoft Sans Serif"/>
                <a:cs typeface="Microsoft Sans Serif"/>
              </a:rPr>
              <a:t>Group</a:t>
            </a:r>
            <a:r>
              <a:rPr sz="1000" dirty="0">
                <a:solidFill>
                  <a:srgbClr val="465469"/>
                </a:solidFill>
                <a:latin typeface="Malgun Gothic"/>
                <a:cs typeface="Malgun Gothic"/>
              </a:rPr>
              <a:t>)</a:t>
            </a:r>
            <a:r>
              <a:rPr sz="1000" spc="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465469"/>
                </a:solidFill>
                <a:latin typeface="Malgun Gothic"/>
                <a:cs typeface="Malgun Gothic"/>
              </a:rPr>
              <a:t>/</a:t>
            </a:r>
            <a:r>
              <a:rPr sz="1000" spc="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00" spc="-85" dirty="0">
                <a:solidFill>
                  <a:srgbClr val="465469"/>
                </a:solidFill>
                <a:latin typeface="Malgun Gothic"/>
                <a:cs typeface="Malgun Gothic"/>
              </a:rPr>
              <a:t>진원생명과학</a:t>
            </a:r>
            <a:r>
              <a:rPr sz="1000" spc="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00" spc="-80" dirty="0" err="1">
                <a:solidFill>
                  <a:srgbClr val="465469"/>
                </a:solidFill>
                <a:latin typeface="Malgun Gothic"/>
                <a:cs typeface="Malgun Gothic"/>
              </a:rPr>
              <a:t>주식회사</a:t>
            </a:r>
            <a:r>
              <a:rPr sz="1000" spc="-8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endParaRPr lang="en-US" altLang="ko-KR" sz="1000" spc="-80" dirty="0">
              <a:solidFill>
                <a:srgbClr val="465469"/>
              </a:solidFill>
              <a:latin typeface="Malgun Gothic"/>
              <a:cs typeface="Malgun Gothic"/>
            </a:endParaRPr>
          </a:p>
          <a:p>
            <a:pPr marL="12700" marR="5080">
              <a:lnSpc>
                <a:spcPct val="200000"/>
              </a:lnSpc>
            </a:pPr>
            <a:r>
              <a:rPr sz="1000" spc="-20" dirty="0">
                <a:solidFill>
                  <a:srgbClr val="465469"/>
                </a:solidFill>
                <a:latin typeface="Malgun Gothic"/>
                <a:cs typeface="Malgun Gothic"/>
              </a:rPr>
              <a:t>2026년</a:t>
            </a:r>
            <a:r>
              <a:rPr sz="1000" spc="-4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465469"/>
                </a:solidFill>
                <a:latin typeface="Malgun Gothic"/>
                <a:cs typeface="Malgun Gothic"/>
              </a:rPr>
              <a:t>1월</a:t>
            </a:r>
            <a:endParaRPr sz="10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000" spc="-80" dirty="0">
                <a:solidFill>
                  <a:srgbClr val="465469"/>
                </a:solidFill>
                <a:latin typeface="Malgun Gothic"/>
                <a:cs typeface="Malgun Gothic"/>
              </a:rPr>
              <a:t>극비</a:t>
            </a:r>
            <a:r>
              <a:rPr sz="1000" spc="8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465469"/>
                </a:solidFill>
                <a:latin typeface="Malgun Gothic"/>
                <a:cs typeface="Malgun Gothic"/>
              </a:rPr>
              <a:t>(</a:t>
            </a:r>
            <a:r>
              <a:rPr sz="1000" dirty="0">
                <a:solidFill>
                  <a:srgbClr val="465469"/>
                </a:solidFill>
                <a:latin typeface="Microsoft Sans Serif"/>
                <a:cs typeface="Microsoft Sans Serif"/>
              </a:rPr>
              <a:t>Strictly</a:t>
            </a:r>
            <a:r>
              <a:rPr sz="1000" spc="145" dirty="0">
                <a:solidFill>
                  <a:srgbClr val="46546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465469"/>
                </a:solidFill>
                <a:latin typeface="Microsoft Sans Serif"/>
                <a:cs typeface="Microsoft Sans Serif"/>
              </a:rPr>
              <a:t>Confidential</a:t>
            </a:r>
            <a:r>
              <a:rPr sz="1000" spc="140" dirty="0">
                <a:solidFill>
                  <a:srgbClr val="46546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465469"/>
                </a:solidFill>
                <a:latin typeface="Microsoft Sans Serif"/>
                <a:cs typeface="Microsoft Sans Serif"/>
              </a:rPr>
              <a:t>-</a:t>
            </a:r>
            <a:r>
              <a:rPr sz="1000" spc="140" dirty="0">
                <a:solidFill>
                  <a:srgbClr val="465469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465469"/>
                </a:solidFill>
                <a:latin typeface="Malgun Gothic"/>
                <a:cs typeface="Malgun Gothic"/>
              </a:rPr>
              <a:t>대외비)</a:t>
            </a:r>
            <a:endParaRPr sz="1000" dirty="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3509" y="8236305"/>
            <a:ext cx="72644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80" dirty="0">
                <a:solidFill>
                  <a:srgbClr val="0F162A"/>
                </a:solidFill>
                <a:latin typeface="Malgun Gothic"/>
                <a:cs typeface="Malgun Gothic"/>
              </a:rPr>
              <a:t>협력금융기관</a:t>
            </a:r>
            <a:endParaRPr sz="1000">
              <a:latin typeface="Malgun Gothic"/>
              <a:cs typeface="Malgun Gothic"/>
            </a:endParaRPr>
          </a:p>
          <a:p>
            <a:pPr marL="12700" marR="121920">
              <a:lnSpc>
                <a:spcPct val="200000"/>
              </a:lnSpc>
            </a:pPr>
            <a:r>
              <a:rPr sz="1000" b="1" spc="-95" dirty="0">
                <a:solidFill>
                  <a:srgbClr val="0F162A"/>
                </a:solidFill>
                <a:latin typeface="Malgun Gothic"/>
                <a:cs typeface="Malgun Gothic"/>
              </a:rPr>
              <a:t>대상상장사 </a:t>
            </a:r>
            <a:r>
              <a:rPr sz="1000" b="1" spc="-20" dirty="0">
                <a:solidFill>
                  <a:srgbClr val="0F162A"/>
                </a:solidFill>
                <a:latin typeface="Malgun Gothic"/>
                <a:cs typeface="Malgun Gothic"/>
              </a:rPr>
              <a:t>작성일자 보안등급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299" y="377563"/>
            <a:ext cx="2715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93A3B8"/>
                </a:solidFill>
                <a:latin typeface="Arial Black"/>
                <a:cs typeface="Arial Black"/>
              </a:rPr>
              <a:t>PROJECT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METIS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210" dirty="0">
                <a:solidFill>
                  <a:srgbClr val="93A3B8"/>
                </a:solidFill>
                <a:latin typeface="Arial Black"/>
                <a:cs typeface="Arial Black"/>
              </a:rPr>
              <a:t>|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INVESTMENT</a:t>
            </a:r>
            <a:r>
              <a:rPr sz="800" spc="30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93A3B8"/>
                </a:solidFill>
                <a:latin typeface="Arial Black"/>
                <a:cs typeface="Arial Black"/>
              </a:rPr>
              <a:t>MEMORANDUM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47840DE-E4F9-47CB-A1BE-6754152D1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250" y="3746008"/>
            <a:ext cx="3729932" cy="372993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2ECD4E-6913-4E00-B0A7-798522037662}"/>
              </a:ext>
            </a:extLst>
          </p:cNvPr>
          <p:cNvSpPr/>
          <p:nvPr/>
        </p:nvSpPr>
        <p:spPr>
          <a:xfrm>
            <a:off x="1873250" y="3746009"/>
            <a:ext cx="3729932" cy="37299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1233375"/>
            <a:ext cx="38100" cy="324485"/>
          </a:xfrm>
          <a:custGeom>
            <a:avLst/>
            <a:gdLst/>
            <a:ahLst/>
            <a:cxnLst/>
            <a:rect l="l" t="t" r="r" b="b"/>
            <a:pathLst>
              <a:path w="38100" h="324484">
                <a:moveTo>
                  <a:pt x="38100" y="324329"/>
                </a:moveTo>
                <a:lnTo>
                  <a:pt x="0" y="324329"/>
                </a:lnTo>
                <a:lnTo>
                  <a:pt x="0" y="0"/>
                </a:lnTo>
                <a:lnTo>
                  <a:pt x="38100" y="0"/>
                </a:lnTo>
                <a:lnTo>
                  <a:pt x="38100" y="324329"/>
                </a:lnTo>
                <a:close/>
              </a:path>
            </a:pathLst>
          </a:custGeom>
          <a:solidFill>
            <a:srgbClr val="B3520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19999" y="1795829"/>
            <a:ext cx="6120130" cy="2901950"/>
            <a:chOff x="719999" y="1795829"/>
            <a:chExt cx="6120130" cy="2901950"/>
          </a:xfrm>
        </p:grpSpPr>
        <p:sp>
          <p:nvSpPr>
            <p:cNvPr id="4" name="object 4"/>
            <p:cNvSpPr/>
            <p:nvPr/>
          </p:nvSpPr>
          <p:spPr>
            <a:xfrm>
              <a:off x="719999" y="1795829"/>
              <a:ext cx="6120130" cy="2901950"/>
            </a:xfrm>
            <a:custGeom>
              <a:avLst/>
              <a:gdLst/>
              <a:ahLst/>
              <a:cxnLst/>
              <a:rect l="l" t="t" r="r" b="b"/>
              <a:pathLst>
                <a:path w="6120130" h="2901950">
                  <a:moveTo>
                    <a:pt x="6081900" y="2901645"/>
                  </a:moveTo>
                  <a:lnTo>
                    <a:pt x="38100" y="2901645"/>
                  </a:lnTo>
                  <a:lnTo>
                    <a:pt x="23306" y="2898638"/>
                  </a:lnTo>
                  <a:lnTo>
                    <a:pt x="11191" y="2890453"/>
                  </a:lnTo>
                  <a:lnTo>
                    <a:pt x="3006" y="2878338"/>
                  </a:lnTo>
                  <a:lnTo>
                    <a:pt x="0" y="286354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6081900" y="0"/>
                  </a:lnTo>
                  <a:lnTo>
                    <a:pt x="6096693" y="3006"/>
                  </a:lnTo>
                  <a:lnTo>
                    <a:pt x="6108808" y="11191"/>
                  </a:lnTo>
                  <a:lnTo>
                    <a:pt x="6116993" y="23306"/>
                  </a:lnTo>
                  <a:lnTo>
                    <a:pt x="6120000" y="38100"/>
                  </a:lnTo>
                  <a:lnTo>
                    <a:pt x="6120000" y="2863545"/>
                  </a:lnTo>
                  <a:lnTo>
                    <a:pt x="6116993" y="2878338"/>
                  </a:lnTo>
                  <a:lnTo>
                    <a:pt x="6108808" y="2890453"/>
                  </a:lnTo>
                  <a:lnTo>
                    <a:pt x="6096693" y="2898638"/>
                  </a:lnTo>
                  <a:lnTo>
                    <a:pt x="6081900" y="2901645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9988" y="1816096"/>
              <a:ext cx="6120130" cy="2881630"/>
            </a:xfrm>
            <a:custGeom>
              <a:avLst/>
              <a:gdLst/>
              <a:ahLst/>
              <a:cxnLst/>
              <a:rect l="l" t="t" r="r" b="b"/>
              <a:pathLst>
                <a:path w="6120130" h="2881629">
                  <a:moveTo>
                    <a:pt x="6120003" y="17843"/>
                  </a:moveTo>
                  <a:lnTo>
                    <a:pt x="6116993" y="3048"/>
                  </a:lnTo>
                  <a:lnTo>
                    <a:pt x="6114935" y="0"/>
                  </a:lnTo>
                  <a:lnTo>
                    <a:pt x="6110478" y="17843"/>
                  </a:lnTo>
                  <a:lnTo>
                    <a:pt x="6110478" y="2843288"/>
                  </a:lnTo>
                  <a:lnTo>
                    <a:pt x="6108230" y="2854375"/>
                  </a:lnTo>
                  <a:lnTo>
                    <a:pt x="6102083" y="2863469"/>
                  </a:lnTo>
                  <a:lnTo>
                    <a:pt x="6093003" y="2869603"/>
                  </a:lnTo>
                  <a:lnTo>
                    <a:pt x="6081903" y="2871863"/>
                  </a:lnTo>
                  <a:lnTo>
                    <a:pt x="38100" y="2871863"/>
                  </a:lnTo>
                  <a:lnTo>
                    <a:pt x="27012" y="2869603"/>
                  </a:lnTo>
                  <a:lnTo>
                    <a:pt x="17919" y="2863469"/>
                  </a:lnTo>
                  <a:lnTo>
                    <a:pt x="11785" y="2854375"/>
                  </a:lnTo>
                  <a:lnTo>
                    <a:pt x="9525" y="2843288"/>
                  </a:lnTo>
                  <a:lnTo>
                    <a:pt x="9525" y="17843"/>
                  </a:lnTo>
                  <a:lnTo>
                    <a:pt x="5067" y="0"/>
                  </a:lnTo>
                  <a:lnTo>
                    <a:pt x="3009" y="3048"/>
                  </a:lnTo>
                  <a:lnTo>
                    <a:pt x="0" y="17843"/>
                  </a:lnTo>
                  <a:lnTo>
                    <a:pt x="0" y="2843288"/>
                  </a:lnTo>
                  <a:lnTo>
                    <a:pt x="3009" y="2858071"/>
                  </a:lnTo>
                  <a:lnTo>
                    <a:pt x="11201" y="2870187"/>
                  </a:lnTo>
                  <a:lnTo>
                    <a:pt x="23317" y="2878378"/>
                  </a:lnTo>
                  <a:lnTo>
                    <a:pt x="38100" y="2881388"/>
                  </a:lnTo>
                  <a:lnTo>
                    <a:pt x="6081903" y="2881388"/>
                  </a:lnTo>
                  <a:lnTo>
                    <a:pt x="6116993" y="2858071"/>
                  </a:lnTo>
                  <a:lnTo>
                    <a:pt x="6120003" y="2843288"/>
                  </a:lnTo>
                  <a:lnTo>
                    <a:pt x="6120003" y="17843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5064" y="1795829"/>
              <a:ext cx="6109970" cy="38100"/>
            </a:xfrm>
            <a:custGeom>
              <a:avLst/>
              <a:gdLst/>
              <a:ahLst/>
              <a:cxnLst/>
              <a:rect l="l" t="t" r="r" b="b"/>
              <a:pathLst>
                <a:path w="6109970" h="38100">
                  <a:moveTo>
                    <a:pt x="6105410" y="38100"/>
                  </a:moveTo>
                  <a:lnTo>
                    <a:pt x="4460" y="38100"/>
                  </a:lnTo>
                  <a:lnTo>
                    <a:pt x="0" y="20259"/>
                  </a:lnTo>
                  <a:lnTo>
                    <a:pt x="6126" y="11191"/>
                  </a:lnTo>
                  <a:lnTo>
                    <a:pt x="18241" y="3006"/>
                  </a:lnTo>
                  <a:lnTo>
                    <a:pt x="33035" y="0"/>
                  </a:lnTo>
                  <a:lnTo>
                    <a:pt x="6076835" y="0"/>
                  </a:lnTo>
                  <a:lnTo>
                    <a:pt x="6091628" y="3006"/>
                  </a:lnTo>
                  <a:lnTo>
                    <a:pt x="6103743" y="11191"/>
                  </a:lnTo>
                  <a:lnTo>
                    <a:pt x="6109870" y="20259"/>
                  </a:lnTo>
                  <a:lnTo>
                    <a:pt x="6105410" y="38100"/>
                  </a:lnTo>
                  <a:close/>
                </a:path>
              </a:pathLst>
            </a:custGeom>
            <a:solidFill>
              <a:srgbClr val="B352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705810" y="7716579"/>
            <a:ext cx="2138680" cy="847725"/>
            <a:chOff x="4696571" y="7701974"/>
            <a:chExt cx="2138680" cy="847725"/>
          </a:xfrm>
        </p:grpSpPr>
        <p:sp>
          <p:nvSpPr>
            <p:cNvPr id="8" name="object 8"/>
            <p:cNvSpPr/>
            <p:nvPr/>
          </p:nvSpPr>
          <p:spPr>
            <a:xfrm>
              <a:off x="4696571" y="7701974"/>
              <a:ext cx="2138680" cy="847725"/>
            </a:xfrm>
            <a:custGeom>
              <a:avLst/>
              <a:gdLst/>
              <a:ahLst/>
              <a:cxnLst/>
              <a:rect l="l" t="t" r="r" b="b"/>
              <a:pathLst>
                <a:path w="2138679" h="847725">
                  <a:moveTo>
                    <a:pt x="2138666" y="847725"/>
                  </a:moveTo>
                  <a:lnTo>
                    <a:pt x="0" y="847725"/>
                  </a:lnTo>
                  <a:lnTo>
                    <a:pt x="0" y="0"/>
                  </a:lnTo>
                  <a:lnTo>
                    <a:pt x="2138666" y="0"/>
                  </a:lnTo>
                  <a:lnTo>
                    <a:pt x="2138666" y="847725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1728" y="7863705"/>
              <a:ext cx="107950" cy="1111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59700" y="1275160"/>
            <a:ext cx="30333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20" dirty="0">
                <a:solidFill>
                  <a:srgbClr val="1D3A89"/>
                </a:solidFill>
                <a:latin typeface="Arial Black"/>
                <a:cs typeface="Arial Black"/>
              </a:rPr>
              <a:t>Executive</a:t>
            </a:r>
            <a:r>
              <a:rPr sz="1500" spc="-90" dirty="0">
                <a:solidFill>
                  <a:srgbClr val="1D3A89"/>
                </a:solidFill>
                <a:latin typeface="Arial Black"/>
                <a:cs typeface="Arial Black"/>
              </a:rPr>
              <a:t> </a:t>
            </a:r>
            <a:r>
              <a:rPr sz="1500" spc="-85" dirty="0">
                <a:solidFill>
                  <a:srgbClr val="1D3A89"/>
                </a:solidFill>
                <a:latin typeface="Arial Black"/>
                <a:cs typeface="Arial Black"/>
              </a:rPr>
              <a:t>Summary</a:t>
            </a:r>
            <a:r>
              <a:rPr sz="1500" spc="-90" dirty="0">
                <a:solidFill>
                  <a:srgbClr val="1D3A89"/>
                </a:solidFill>
                <a:latin typeface="Arial Black"/>
                <a:cs typeface="Arial Black"/>
              </a:rPr>
              <a:t> </a:t>
            </a:r>
            <a:r>
              <a:rPr sz="1500" spc="409" dirty="0">
                <a:solidFill>
                  <a:srgbClr val="1D3A89"/>
                </a:solidFill>
                <a:latin typeface="Arial Black"/>
                <a:cs typeface="Arial Black"/>
              </a:rPr>
              <a:t>|</a:t>
            </a:r>
            <a:r>
              <a:rPr sz="1500" spc="-90" dirty="0">
                <a:solidFill>
                  <a:srgbClr val="1D3A89"/>
                </a:solidFill>
                <a:latin typeface="Arial Black"/>
                <a:cs typeface="Arial Black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핵심</a:t>
            </a:r>
            <a:r>
              <a:rPr sz="1500" b="1" spc="-8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65" dirty="0">
                <a:solidFill>
                  <a:srgbClr val="1D3A89"/>
                </a:solidFill>
                <a:latin typeface="Malgun Gothic"/>
                <a:cs typeface="Malgun Gothic"/>
              </a:rPr>
              <a:t>요약문</a:t>
            </a:r>
            <a:endParaRPr sz="1500">
              <a:latin typeface="Malgun Gothic"/>
              <a:cs typeface="Malgun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3515" y="3977422"/>
            <a:ext cx="111125" cy="1143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37918" y="2055311"/>
            <a:ext cx="6084570" cy="2292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 algn="just">
              <a:lnSpc>
                <a:spcPct val="100000"/>
              </a:lnSpc>
              <a:spcBef>
                <a:spcPts val="100"/>
              </a:spcBef>
            </a:pPr>
            <a:r>
              <a:rPr sz="1200" b="1" spc="-100" dirty="0">
                <a:solidFill>
                  <a:srgbClr val="B35208"/>
                </a:solidFill>
                <a:latin typeface="Malgun Gothic"/>
                <a:cs typeface="Malgun Gothic"/>
              </a:rPr>
              <a:t>프로젝트</a:t>
            </a:r>
            <a:r>
              <a:rPr sz="1200" b="1" spc="-80" dirty="0">
                <a:solidFill>
                  <a:srgbClr val="B35208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B35208"/>
                </a:solidFill>
                <a:latin typeface="Malgun Gothic"/>
                <a:cs typeface="Malgun Gothic"/>
              </a:rPr>
              <a:t>개요</a:t>
            </a:r>
            <a:r>
              <a:rPr sz="1200" b="1" spc="-75" dirty="0">
                <a:solidFill>
                  <a:srgbClr val="B35208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B35208"/>
                </a:solidFill>
                <a:latin typeface="Malgun Gothic"/>
                <a:cs typeface="Malgun Gothic"/>
              </a:rPr>
              <a:t>및</a:t>
            </a:r>
            <a:r>
              <a:rPr sz="1200" b="1" spc="-75" dirty="0">
                <a:solidFill>
                  <a:srgbClr val="B35208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B35208"/>
                </a:solidFill>
                <a:latin typeface="Malgun Gothic"/>
                <a:cs typeface="Malgun Gothic"/>
              </a:rPr>
              <a:t>핵심</a:t>
            </a:r>
            <a:r>
              <a:rPr sz="1200" b="1" spc="-75" dirty="0">
                <a:solidFill>
                  <a:srgbClr val="B35208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B35208"/>
                </a:solidFill>
                <a:latin typeface="Malgun Gothic"/>
                <a:cs typeface="Malgun Gothic"/>
              </a:rPr>
              <a:t>딜</a:t>
            </a:r>
            <a:r>
              <a:rPr sz="1200" b="1" spc="-75" dirty="0">
                <a:solidFill>
                  <a:srgbClr val="B35208"/>
                </a:solidFill>
                <a:latin typeface="Malgun Gothic"/>
                <a:cs typeface="Malgun Gothic"/>
              </a:rPr>
              <a:t> </a:t>
            </a:r>
            <a:r>
              <a:rPr sz="1200" b="1" spc="-20" dirty="0">
                <a:solidFill>
                  <a:srgbClr val="B35208"/>
                </a:solidFill>
                <a:latin typeface="Malgun Gothic"/>
                <a:cs typeface="Malgun Gothic"/>
              </a:rPr>
              <a:t>메커니즘</a:t>
            </a:r>
            <a:endParaRPr sz="1200">
              <a:latin typeface="Malgun Gothic"/>
              <a:cs typeface="Malgun Gothic"/>
            </a:endParaRPr>
          </a:p>
          <a:p>
            <a:pPr marL="181610" marR="17399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[프로젝트</a:t>
            </a:r>
            <a:r>
              <a:rPr sz="1050" b="1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메티스]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는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글로벌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공급망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재편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반도체·배터리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첨단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소재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국산화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흐름에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발맞추어,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0" dirty="0">
                <a:solidFill>
                  <a:srgbClr val="1D283B"/>
                </a:solidFill>
                <a:latin typeface="Malgun Gothic"/>
                <a:cs typeface="Malgun Gothic"/>
              </a:rPr>
              <a:t>상장사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(엑시온그룹)의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발행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사채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유동화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수요와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무루아의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초고순도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가치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실현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수요를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정교하게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결합한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‘현</a:t>
            </a:r>
            <a:r>
              <a:rPr sz="1050" b="1" spc="-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금</a:t>
            </a:r>
            <a:r>
              <a:rPr sz="1050" b="1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무유출</a:t>
            </a:r>
            <a:r>
              <a:rPr sz="1050" b="1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b="1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교환(</a:t>
            </a:r>
            <a:r>
              <a:rPr sz="1050" spc="-65" dirty="0">
                <a:solidFill>
                  <a:srgbClr val="1D283B"/>
                </a:solidFill>
                <a:latin typeface="Arial Black"/>
                <a:cs typeface="Arial Black"/>
              </a:rPr>
              <a:t>Zero-</a:t>
            </a:r>
            <a:r>
              <a:rPr sz="1050" spc="-80" dirty="0">
                <a:solidFill>
                  <a:srgbClr val="1D283B"/>
                </a:solidFill>
                <a:latin typeface="Arial Black"/>
                <a:cs typeface="Arial Black"/>
              </a:rPr>
              <a:t>Cash </a:t>
            </a:r>
            <a:r>
              <a:rPr sz="1050" spc="-85" dirty="0">
                <a:solidFill>
                  <a:srgbClr val="1D283B"/>
                </a:solidFill>
                <a:latin typeface="Arial Black"/>
                <a:cs typeface="Arial Black"/>
              </a:rPr>
              <a:t>Asset</a:t>
            </a:r>
            <a:r>
              <a:rPr sz="1050" spc="-80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Arial Black"/>
                <a:cs typeface="Arial Black"/>
              </a:rPr>
              <a:t>Swap</a:t>
            </a:r>
            <a:r>
              <a:rPr sz="1050" b="1" spc="-55" dirty="0">
                <a:solidFill>
                  <a:srgbClr val="1D283B"/>
                </a:solidFill>
                <a:latin typeface="Malgun Gothic"/>
                <a:cs typeface="Malgun Gothic"/>
              </a:rPr>
              <a:t>)’</a:t>
            </a:r>
            <a:r>
              <a:rPr sz="1050" b="1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자본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거래입니다.</a:t>
            </a:r>
            <a:endParaRPr sz="1050">
              <a:latin typeface="Malgun Gothic"/>
              <a:cs typeface="Malgun Gothic"/>
            </a:endParaRPr>
          </a:p>
          <a:p>
            <a:pPr marL="181610" marR="173990" algn="just">
              <a:lnSpc>
                <a:spcPct val="141700"/>
              </a:lnSpc>
              <a:spcBef>
                <a:spcPts val="105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현재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유한회사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케이리츠가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보유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중인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엑시온그룹</a:t>
            </a:r>
            <a:r>
              <a:rPr sz="1050" b="1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55" dirty="0">
                <a:solidFill>
                  <a:srgbClr val="1D283B"/>
                </a:solidFill>
                <a:latin typeface="Malgun Gothic"/>
                <a:cs typeface="Malgun Gothic"/>
              </a:rPr>
              <a:t>제11회차</a:t>
            </a:r>
            <a:r>
              <a:rPr sz="1050" b="1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75" dirty="0">
                <a:solidFill>
                  <a:srgbClr val="1D283B"/>
                </a:solidFill>
                <a:latin typeface="Malgun Gothic"/>
                <a:cs typeface="Malgun Gothic"/>
              </a:rPr>
              <a:t>전환사채(</a:t>
            </a:r>
            <a:r>
              <a:rPr sz="1050" spc="-75" dirty="0">
                <a:solidFill>
                  <a:srgbClr val="1D283B"/>
                </a:solidFill>
                <a:latin typeface="Arial Black"/>
                <a:cs typeface="Arial Black"/>
              </a:rPr>
              <a:t>CB</a:t>
            </a:r>
            <a:r>
              <a:rPr sz="1050" b="1" spc="-75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b="1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권면</a:t>
            </a:r>
            <a:r>
              <a:rPr sz="1050" b="1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25" dirty="0">
                <a:solidFill>
                  <a:srgbClr val="1D283B"/>
                </a:solidFill>
                <a:latin typeface="Malgun Gothic"/>
                <a:cs typeface="Malgun Gothic"/>
              </a:rPr>
              <a:t>100억</a:t>
            </a:r>
            <a:r>
              <a:rPr sz="1050" b="1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원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의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지위를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30" dirty="0">
                <a:solidFill>
                  <a:srgbClr val="1D283B"/>
                </a:solidFill>
                <a:latin typeface="Malgun Gothic"/>
                <a:cs typeface="Malgun Gothic"/>
              </a:rPr>
              <a:t>유니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코에너지그룹(기존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페이게이트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체제에서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전략적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변경)으로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안전하게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이전하고,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무루아가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보유한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114" dirty="0">
                <a:solidFill>
                  <a:srgbClr val="1D283B"/>
                </a:solidFill>
                <a:latin typeface="Malgun Gothic"/>
                <a:cs typeface="Malgun Gothic"/>
              </a:rPr>
              <a:t>스위스</a:t>
            </a:r>
            <a:r>
              <a:rPr sz="1050" b="1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5" dirty="0">
                <a:solidFill>
                  <a:srgbClr val="1D283B"/>
                </a:solidFill>
                <a:latin typeface="Arial Black"/>
                <a:cs typeface="Arial Black"/>
              </a:rPr>
              <a:t>ISE</a:t>
            </a:r>
            <a:r>
              <a:rPr sz="1050" spc="-25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인증</a:t>
            </a:r>
            <a:r>
              <a:rPr sz="1050" b="1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15" dirty="0">
                <a:solidFill>
                  <a:srgbClr val="1D283B"/>
                </a:solidFill>
                <a:latin typeface="Malgun Gothic"/>
                <a:cs typeface="Malgun Gothic"/>
              </a:rPr>
              <a:t>6</a:t>
            </a:r>
            <a:r>
              <a:rPr sz="1050" spc="-15" dirty="0">
                <a:solidFill>
                  <a:srgbClr val="1D283B"/>
                </a:solidFill>
                <a:latin typeface="Arial Black"/>
                <a:cs typeface="Arial Black"/>
              </a:rPr>
              <a:t>N</a:t>
            </a:r>
            <a:r>
              <a:rPr sz="1050" spc="-25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초고순도</a:t>
            </a:r>
            <a:r>
              <a:rPr sz="1050" b="1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구리</a:t>
            </a:r>
            <a:r>
              <a:rPr sz="1050" b="1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분말</a:t>
            </a:r>
            <a:r>
              <a:rPr sz="1050" b="1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b="1" spc="-25" dirty="0">
                <a:solidFill>
                  <a:srgbClr val="1D283B"/>
                </a:solidFill>
                <a:latin typeface="Malgun Gothic"/>
                <a:cs typeface="Malgun Gothic"/>
              </a:rPr>
              <a:t> 100억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원</a:t>
            </a:r>
            <a:r>
              <a:rPr sz="1050" b="1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상당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을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1:1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대등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비율로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맞교환합니다.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과정에서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생하는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법적·회계적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리스크는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디딤파트너스가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총괄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방어하며,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현대자산운용이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최종적인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70" dirty="0">
                <a:solidFill>
                  <a:srgbClr val="1D283B"/>
                </a:solidFill>
                <a:latin typeface="Malgun Gothic"/>
                <a:cs typeface="Malgun Gothic"/>
              </a:rPr>
              <a:t>현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유동화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품(사모펀드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5" dirty="0">
                <a:solidFill>
                  <a:srgbClr val="1D283B"/>
                </a:solidFill>
                <a:latin typeface="Microsoft Sans Serif"/>
                <a:cs typeface="Microsoft Sans Serif"/>
              </a:rPr>
              <a:t>SPC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)을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매칭하는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완벽한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4자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윈-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윈(</a:t>
            </a:r>
            <a:r>
              <a:rPr sz="1050" spc="-10" dirty="0">
                <a:solidFill>
                  <a:srgbClr val="1D283B"/>
                </a:solidFill>
                <a:latin typeface="Microsoft Sans Serif"/>
                <a:cs typeface="Microsoft Sans Serif"/>
              </a:rPr>
              <a:t>Win-</a:t>
            </a:r>
            <a:r>
              <a:rPr sz="1050" spc="20" dirty="0">
                <a:solidFill>
                  <a:srgbClr val="1D283B"/>
                </a:solidFill>
                <a:latin typeface="Microsoft Sans Serif"/>
                <a:cs typeface="Microsoft Sans Serif"/>
              </a:rPr>
              <a:t>Win</a:t>
            </a:r>
            <a:r>
              <a:rPr sz="1050" spc="20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구조를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가집니다.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299" y="4966481"/>
            <a:ext cx="201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4자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협력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구조의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핵심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역할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분담</a:t>
            </a:r>
            <a:endParaRPr sz="1200">
              <a:latin typeface="Malgun Gothic"/>
              <a:cs typeface="Malgun Gothic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4887" y="5982361"/>
            <a:ext cx="107950" cy="1111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7010" y="7462385"/>
            <a:ext cx="107950" cy="111125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506499"/>
              </p:ext>
            </p:extLst>
          </p:nvPr>
        </p:nvGraphicFramePr>
        <p:xfrm>
          <a:off x="729238" y="5395021"/>
          <a:ext cx="6110604" cy="3162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8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370">
                <a:tc gridSpan="3"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10"/>
                        </a:spcBef>
                        <a:tabLst>
                          <a:tab pos="1646555" algn="l"/>
                          <a:tab pos="4090670" algn="l"/>
                        </a:tabLst>
                      </a:pP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참여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주체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핵심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실무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역할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기대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효과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명분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40970" marB="0">
                    <a:solidFill>
                      <a:srgbClr val="1D3A8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118745" marR="184150">
                        <a:lnSpc>
                          <a:spcPct val="141700"/>
                        </a:lnSpc>
                        <a:spcBef>
                          <a:spcPts val="575"/>
                        </a:spcBef>
                      </a:pP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유니코에너지그룹</a:t>
                      </a:r>
                      <a:r>
                        <a:rPr sz="1000" b="1" spc="-5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13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&amp;</a:t>
                      </a:r>
                      <a:r>
                        <a:rPr sz="1000" b="1" spc="-5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10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무 </a:t>
                      </a:r>
                      <a:r>
                        <a:rPr sz="1000" b="1" spc="-2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루아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186690">
                        <a:lnSpc>
                          <a:spcPct val="141900"/>
                        </a:lnSpc>
                        <a:spcBef>
                          <a:spcPts val="570"/>
                        </a:spcBef>
                      </a:pP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6N</a:t>
                      </a:r>
                      <a:r>
                        <a:rPr sz="1000" spc="-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구리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분말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독점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제공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상장사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CB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권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리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인수를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통한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자산의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자본화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추진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162560">
                        <a:lnSpc>
                          <a:spcPct val="141700"/>
                        </a:lnSpc>
                        <a:spcBef>
                          <a:spcPts val="575"/>
                        </a:spcBef>
                      </a:pPr>
                      <a:r>
                        <a:rPr sz="1000" spc="-54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현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유출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없이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상장사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핵심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지분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확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보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자산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가치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조기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가시화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디딤파트너스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117475">
                        <a:lnSpc>
                          <a:spcPct val="141700"/>
                        </a:lnSpc>
                        <a:spcBef>
                          <a:spcPts val="570"/>
                        </a:spcBef>
                      </a:pP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이사회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배임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리스크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4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차단,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자산가치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9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정당성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입증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컴플라이언스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자문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총괄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116839">
                        <a:lnSpc>
                          <a:spcPct val="141700"/>
                        </a:lnSpc>
                        <a:spcBef>
                          <a:spcPts val="570"/>
                        </a:spcBef>
                      </a:pP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거버넌스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전문가로서의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시장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신뢰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9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확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보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구조화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트랙레코드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수립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현대자산운용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spc="-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CB</a:t>
                      </a:r>
                      <a:r>
                        <a:rPr sz="1000" spc="-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사모펀드(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PEF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)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구축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기관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투자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505"/>
                        </a:spcBef>
                        <a:tabLst>
                          <a:tab pos="1078865" algn="l"/>
                        </a:tabLst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블록딜,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담보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융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유동화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실행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198120">
                        <a:lnSpc>
                          <a:spcPct val="141700"/>
                        </a:lnSpc>
                        <a:spcBef>
                          <a:spcPts val="575"/>
                        </a:spcBef>
                      </a:pP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안정적인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우량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구조화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상품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편입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9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및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펀드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운용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수수료(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AUM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확대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상장사</a:t>
                      </a:r>
                      <a:r>
                        <a:rPr sz="1000" b="1" spc="-6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(엑시온그룹)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 marR="234315">
                        <a:lnSpc>
                          <a:spcPct val="141700"/>
                        </a:lnSpc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구리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분말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실물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자산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인수를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통한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9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반도체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핵심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원자재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신사업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공식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진출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공시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198120" algn="just">
                        <a:lnSpc>
                          <a:spcPct val="141700"/>
                        </a:lnSpc>
                        <a:spcBef>
                          <a:spcPts val="570"/>
                        </a:spcBef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재무적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4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현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지출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제로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조건으로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대</a:t>
                      </a:r>
                      <a:r>
                        <a:rPr sz="1000" spc="-3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규모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자산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편입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기업가치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턴어라</a:t>
                      </a:r>
                      <a:r>
                        <a:rPr sz="1000" spc="-3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운드</a:t>
                      </a:r>
                      <a:endParaRPr sz="1000" dirty="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707299" y="377563"/>
            <a:ext cx="2715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93A3B8"/>
                </a:solidFill>
                <a:latin typeface="Arial Black"/>
                <a:cs typeface="Arial Black"/>
              </a:rPr>
              <a:t>PROJECT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METIS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210" dirty="0">
                <a:solidFill>
                  <a:srgbClr val="93A3B8"/>
                </a:solidFill>
                <a:latin typeface="Arial Black"/>
                <a:cs typeface="Arial Black"/>
              </a:rPr>
              <a:t>|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INVESTMENT</a:t>
            </a:r>
            <a:r>
              <a:rPr sz="800" spc="30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93A3B8"/>
                </a:solidFill>
                <a:latin typeface="Arial Black"/>
                <a:cs typeface="Arial Black"/>
              </a:rPr>
              <a:t>MEMORANDUM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9A19E38-6BF8-4F7B-9124-E8E1976F65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074" y="8740117"/>
            <a:ext cx="1268129" cy="126812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A87B614-BBE5-4C4B-A10D-5B58E639D0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249" y="8575701"/>
            <a:ext cx="1444162" cy="144416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0C715A5-374F-4C42-831B-69A374E310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941" y="8700060"/>
            <a:ext cx="1390001" cy="139000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487C4B3-6109-42E3-841D-05C783DD3A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994" y="8521034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3913" y="4963403"/>
            <a:ext cx="111124" cy="114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867" y="4963403"/>
            <a:ext cx="111125" cy="1143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7299" y="1275160"/>
            <a:ext cx="6145530" cy="5099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500" b="1" spc="50" dirty="0">
                <a:solidFill>
                  <a:srgbClr val="1D3A89"/>
                </a:solidFill>
                <a:latin typeface="Malgun Gothic"/>
                <a:cs typeface="Malgun Gothic"/>
              </a:rPr>
              <a:t>1.</a:t>
            </a:r>
            <a:r>
              <a:rPr sz="1500" b="1" spc="-11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프로젝트</a:t>
            </a:r>
            <a:r>
              <a:rPr sz="1500" b="1" spc="-11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추진</a:t>
            </a:r>
            <a:r>
              <a:rPr sz="1500" b="1" spc="-11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배경</a:t>
            </a:r>
            <a:r>
              <a:rPr sz="1500" b="1" spc="-11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및</a:t>
            </a:r>
            <a:r>
              <a:rPr sz="1500" b="1" spc="-11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시장</a:t>
            </a:r>
            <a:r>
              <a:rPr sz="1500" b="1" spc="-11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환경</a:t>
            </a:r>
            <a:r>
              <a:rPr sz="1500" b="1" spc="-11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1D3A89"/>
                </a:solidFill>
                <a:latin typeface="Malgun Gothic"/>
                <a:cs typeface="Malgun Gothic"/>
              </a:rPr>
              <a:t>분석</a:t>
            </a:r>
            <a:endParaRPr sz="150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2165"/>
              </a:spcBef>
              <a:buClr>
                <a:srgbClr val="334154"/>
              </a:buClr>
              <a:buFont typeface="Malgun Gothic"/>
              <a:buAutoNum type="arabicPeriod"/>
              <a:tabLst>
                <a:tab pos="284480" algn="l"/>
              </a:tabLst>
            </a:pP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글로벌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첨단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원자재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공급망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전쟁과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0" dirty="0">
                <a:solidFill>
                  <a:srgbClr val="334154"/>
                </a:solidFill>
                <a:latin typeface="Malgun Gothic"/>
                <a:cs typeface="Malgun Gothic"/>
              </a:rPr>
              <a:t>6</a:t>
            </a:r>
            <a:r>
              <a:rPr sz="1200" spc="-20" dirty="0">
                <a:solidFill>
                  <a:srgbClr val="334154"/>
                </a:solidFill>
                <a:latin typeface="Arial Black"/>
                <a:cs typeface="Arial Black"/>
              </a:rPr>
              <a:t>N</a:t>
            </a:r>
            <a:r>
              <a:rPr sz="1200" spc="-80" dirty="0">
                <a:solidFill>
                  <a:srgbClr val="334154"/>
                </a:solidFill>
                <a:latin typeface="Arial Black"/>
                <a:cs typeface="Arial Black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구리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분말의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가치</a:t>
            </a:r>
            <a:endParaRPr sz="120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현대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글로벌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산업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생태계는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반도체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미세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공정의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고도화와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고성능</a:t>
            </a:r>
            <a:r>
              <a:rPr sz="1050" spc="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모빌리티</a:t>
            </a:r>
            <a:r>
              <a:rPr sz="1050" spc="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배터리의</a:t>
            </a:r>
            <a:r>
              <a:rPr sz="1050" spc="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수요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폭발로</a:t>
            </a:r>
            <a:r>
              <a:rPr sz="1050" spc="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인해,</a:t>
            </a:r>
            <a:r>
              <a:rPr sz="1050" spc="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극도로</a:t>
            </a:r>
            <a:r>
              <a:rPr sz="1050" spc="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90" dirty="0">
                <a:solidFill>
                  <a:srgbClr val="1D283B"/>
                </a:solidFill>
                <a:latin typeface="Malgun Gothic"/>
                <a:cs typeface="Malgun Gothic"/>
              </a:rPr>
              <a:t>정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 제된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첨단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소재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확보가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기업의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생존을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결정짓는</a:t>
            </a:r>
            <a:r>
              <a:rPr sz="1050" spc="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핵심</a:t>
            </a:r>
            <a:r>
              <a:rPr sz="1050" spc="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요소로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부상했습니다.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특히,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6</a:t>
            </a:r>
            <a:r>
              <a:rPr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N(Purity</a:t>
            </a:r>
            <a:r>
              <a:rPr sz="1050" spc="9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99.9999%</a:t>
            </a:r>
            <a:r>
              <a:rPr sz="1050" spc="9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이상</a:t>
            </a:r>
            <a:r>
              <a:rPr sz="1050" spc="-70" dirty="0">
                <a:solidFill>
                  <a:srgbClr val="1D283B"/>
                </a:solidFill>
                <a:latin typeface="Microsoft Sans Serif"/>
                <a:cs typeface="Microsoft Sans Serif"/>
              </a:rPr>
              <a:t>)</a:t>
            </a:r>
            <a:r>
              <a:rPr sz="1050" spc="9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등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급의</a:t>
            </a:r>
            <a:r>
              <a:rPr sz="1050" spc="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초고순도</a:t>
            </a:r>
            <a:r>
              <a:rPr sz="1050" spc="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구리</a:t>
            </a:r>
            <a:r>
              <a:rPr sz="1050" spc="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분말(</a:t>
            </a:r>
            <a:r>
              <a:rPr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Ultrafine</a:t>
            </a:r>
            <a:r>
              <a:rPr sz="1050" spc="10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Copper</a:t>
            </a:r>
            <a:r>
              <a:rPr sz="1050" spc="10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Powder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)은</a:t>
            </a:r>
            <a:r>
              <a:rPr sz="1050" spc="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전기</a:t>
            </a:r>
            <a:r>
              <a:rPr sz="1050" spc="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전도성을</a:t>
            </a:r>
            <a:r>
              <a:rPr sz="1050" spc="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극대화하고</a:t>
            </a:r>
            <a:r>
              <a:rPr sz="1050" spc="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전자기적</a:t>
            </a:r>
            <a:r>
              <a:rPr sz="1050" spc="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노이즈를</a:t>
            </a:r>
            <a:r>
              <a:rPr sz="1050" spc="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제로에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가깝게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통제해야</a:t>
            </a:r>
            <a:r>
              <a:rPr sz="1050" spc="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하는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차세대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반도체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배선,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디스플레이</a:t>
            </a:r>
            <a:r>
              <a:rPr sz="1050" spc="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페이스트,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국방·우주항공</a:t>
            </a:r>
            <a:r>
              <a:rPr sz="1050" spc="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부품의</a:t>
            </a:r>
            <a:r>
              <a:rPr sz="1050" spc="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대체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불가능한</a:t>
            </a:r>
            <a:r>
              <a:rPr sz="1050" spc="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필수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1D283B"/>
                </a:solidFill>
                <a:latin typeface="Malgun Gothic"/>
                <a:cs typeface="Malgun Gothic"/>
              </a:rPr>
              <a:t>원자 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재입니다.</a:t>
            </a:r>
            <a:endParaRPr sz="105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5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그동안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이러한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초고순도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원자재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시장은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해외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소수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가문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특수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보관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솔루션을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가진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글로벌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자산운용사에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의해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10" dirty="0">
                <a:solidFill>
                  <a:srgbClr val="1D283B"/>
                </a:solidFill>
                <a:latin typeface="Malgun Gothic"/>
                <a:cs typeface="Malgun Gothic"/>
              </a:rPr>
              <a:t>독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점되어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왔으며,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객관적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평가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제도권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자본시장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유입이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매우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까다로웠습니다.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프로젝트는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04" dirty="0">
                <a:solidFill>
                  <a:srgbClr val="1D283B"/>
                </a:solidFill>
                <a:latin typeface="Malgun Gothic"/>
                <a:cs typeface="Malgun Gothic"/>
              </a:rPr>
              <a:t>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성용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회장이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확보한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독점적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가치를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제도권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상장사의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신성장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동력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자산으로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양수도함으로써,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자산가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가치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85" dirty="0">
                <a:solidFill>
                  <a:srgbClr val="1D283B"/>
                </a:solidFill>
                <a:latin typeface="Malgun Gothic"/>
                <a:cs typeface="Malgun Gothic"/>
              </a:rPr>
              <a:t>실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현과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국내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산업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공급망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안정화를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동시에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달성하려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합니다.</a:t>
            </a:r>
            <a:endParaRPr sz="10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5"/>
              </a:spcBef>
              <a:buClr>
                <a:srgbClr val="334154"/>
              </a:buClr>
              <a:buFont typeface="Malgun Gothic"/>
              <a:buAutoNum type="arabicPeriod" startAt="2"/>
              <a:tabLst>
                <a:tab pos="284480" algn="l"/>
              </a:tabLst>
            </a:pP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상장사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자본시장의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요구와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구조화의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필요성</a:t>
            </a:r>
            <a:endParaRPr sz="120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현재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코스닥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코스피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상장사들은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대내외적</a:t>
            </a:r>
            <a:r>
              <a:rPr sz="1050" spc="919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리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변동성과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규제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강화로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인해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</a:t>
            </a:r>
            <a:r>
              <a:rPr sz="1050" spc="60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성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자산을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직접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지출하는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5" dirty="0">
                <a:solidFill>
                  <a:srgbClr val="1D283B"/>
                </a:solidFill>
                <a:latin typeface="Malgun Gothic"/>
                <a:cs typeface="Malgun Gothic"/>
              </a:rPr>
              <a:t>형태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의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신사업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투자에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극심한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리스크를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겪고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있습니다.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특히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기존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발행된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전환사채(</a:t>
            </a:r>
            <a:r>
              <a:rPr sz="1050" spc="-55" dirty="0">
                <a:solidFill>
                  <a:srgbClr val="1D283B"/>
                </a:solidFill>
                <a:latin typeface="Microsoft Sans Serif"/>
                <a:cs typeface="Microsoft Sans Serif"/>
              </a:rPr>
              <a:t>CB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)의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상환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압박이나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조기상환청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구(</a:t>
            </a:r>
            <a:r>
              <a:rPr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Put</a:t>
            </a:r>
            <a:r>
              <a:rPr sz="1050" spc="-1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40" dirty="0">
                <a:solidFill>
                  <a:srgbClr val="1D283B"/>
                </a:solidFill>
                <a:latin typeface="Microsoft Sans Serif"/>
                <a:cs typeface="Microsoft Sans Serif"/>
              </a:rPr>
              <a:t>Option</a:t>
            </a:r>
            <a:r>
              <a:rPr sz="1050" spc="40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리스크는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이사회의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상시적인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재무적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배임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부담으로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작용합니다.</a:t>
            </a:r>
            <a:endParaRPr sz="105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5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따라서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사채권자와의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완벽한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우호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관계를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기반으로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사채를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리밸런싱하고,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동시에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70" dirty="0">
                <a:solidFill>
                  <a:srgbClr val="1D283B"/>
                </a:solidFill>
                <a:latin typeface="Malgun Gothic"/>
                <a:cs typeface="Malgun Gothic"/>
              </a:rPr>
              <a:t>자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없이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실물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자산을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자본화하는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'자산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교환형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구조화'는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현재</a:t>
            </a:r>
            <a:r>
              <a:rPr sz="1050" spc="9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융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시장에서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제시할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있는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가장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세련되고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안전한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솔루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션입니다.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07299" y="377563"/>
            <a:ext cx="2715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93A3B8"/>
                </a:solidFill>
                <a:latin typeface="Arial Black"/>
                <a:cs typeface="Arial Black"/>
              </a:rPr>
              <a:t>PROJECT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METIS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210" dirty="0">
                <a:solidFill>
                  <a:srgbClr val="93A3B8"/>
                </a:solidFill>
                <a:latin typeface="Arial Black"/>
                <a:cs typeface="Arial Black"/>
              </a:rPr>
              <a:t>|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INVESTMENT</a:t>
            </a:r>
            <a:r>
              <a:rPr sz="800" spc="30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93A3B8"/>
                </a:solidFill>
                <a:latin typeface="Arial Black"/>
                <a:cs typeface="Arial Black"/>
              </a:rPr>
              <a:t>MEMORANDUM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4498C59-06FD-4716-AD3A-B9747D592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450" y="6594393"/>
            <a:ext cx="4648200" cy="338040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435997-9106-4277-981D-B3CD32935B77}"/>
              </a:ext>
            </a:extLst>
          </p:cNvPr>
          <p:cNvSpPr/>
          <p:nvPr/>
        </p:nvSpPr>
        <p:spPr>
          <a:xfrm>
            <a:off x="1416050" y="6489700"/>
            <a:ext cx="4800600" cy="348509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3017470"/>
            <a:ext cx="28575" cy="454025"/>
          </a:xfrm>
          <a:custGeom>
            <a:avLst/>
            <a:gdLst/>
            <a:ahLst/>
            <a:cxnLst/>
            <a:rect l="l" t="t" r="r" b="b"/>
            <a:pathLst>
              <a:path w="28575" h="454025">
                <a:moveTo>
                  <a:pt x="28575" y="453720"/>
                </a:moveTo>
                <a:lnTo>
                  <a:pt x="0" y="453720"/>
                </a:lnTo>
                <a:lnTo>
                  <a:pt x="0" y="0"/>
                </a:lnTo>
                <a:lnTo>
                  <a:pt x="28575" y="0"/>
                </a:lnTo>
                <a:lnTo>
                  <a:pt x="28575" y="453720"/>
                </a:lnTo>
                <a:close/>
              </a:path>
            </a:pathLst>
          </a:custGeom>
          <a:solidFill>
            <a:srgbClr val="64748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962993"/>
              </p:ext>
            </p:extLst>
          </p:nvPr>
        </p:nvGraphicFramePr>
        <p:xfrm>
          <a:off x="761274" y="5268045"/>
          <a:ext cx="6110604" cy="3568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7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분석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항목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Specification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40970" marB="0">
                    <a:solidFill>
                      <a:srgbClr val="1D3A89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상세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측정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값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기술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표준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기준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40970" marB="0">
                    <a:solidFill>
                      <a:srgbClr val="1D3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주성분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순도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000" spc="-10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Purity</a:t>
                      </a: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1445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Cu</a:t>
                      </a:r>
                      <a:r>
                        <a:rPr sz="1000" spc="6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(Copper</a:t>
                      </a:r>
                      <a:r>
                        <a:rPr sz="1000" spc="6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Remainder)</a:t>
                      </a:r>
                      <a:r>
                        <a:rPr sz="1000" spc="6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305" dirty="0">
                          <a:solidFill>
                            <a:srgbClr val="1D283B"/>
                          </a:solidFill>
                          <a:latin typeface="Trebuchet MS"/>
                          <a:cs typeface="Trebuchet MS"/>
                        </a:rPr>
                        <a:t>≥</a:t>
                      </a:r>
                      <a:r>
                        <a:rPr sz="1000" spc="30" dirty="0">
                          <a:solidFill>
                            <a:srgbClr val="1D283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99.9999%</a:t>
                      </a:r>
                      <a:r>
                        <a:rPr sz="1000" spc="6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실측치</a:t>
                      </a:r>
                      <a:r>
                        <a:rPr sz="1000" spc="1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99.99999%</a:t>
                      </a:r>
                      <a:r>
                        <a:rPr sz="1000" spc="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확인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)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1445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분석</a:t>
                      </a:r>
                      <a:r>
                        <a:rPr sz="1000" b="1" spc="-7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기법</a:t>
                      </a:r>
                      <a:r>
                        <a:rPr sz="1000" b="1" spc="-7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000" spc="-10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Methodology</a:t>
                      </a: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142240">
                        <a:lnSpc>
                          <a:spcPct val="141900"/>
                        </a:lnSpc>
                        <a:spcBef>
                          <a:spcPts val="570"/>
                        </a:spcBef>
                      </a:pPr>
                      <a:r>
                        <a:rPr sz="1000" spc="-3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GD-</a:t>
                      </a:r>
                      <a:r>
                        <a:rPr sz="1000" spc="-1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MS</a:t>
                      </a:r>
                      <a:r>
                        <a:rPr sz="1000" spc="7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(Glow</a:t>
                      </a:r>
                      <a:r>
                        <a:rPr sz="1000" spc="8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Discharge</a:t>
                      </a:r>
                      <a:r>
                        <a:rPr sz="1000" spc="8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Mass</a:t>
                      </a:r>
                      <a:r>
                        <a:rPr sz="1000" spc="7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Spectrometry)</a:t>
                      </a:r>
                      <a:r>
                        <a:rPr sz="1000" spc="8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000" spc="8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ISO/TS</a:t>
                      </a:r>
                      <a:r>
                        <a:rPr sz="1000" spc="7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15338:2009</a:t>
                      </a:r>
                      <a:r>
                        <a:rPr sz="1000" spc="8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5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준 수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불순물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1000" b="1" spc="-6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000" spc="-10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Impurities</a:t>
                      </a: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총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불순물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함량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0.15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7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ppm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이하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유지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(극저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수준의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원소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관리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실현)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입자</a:t>
                      </a:r>
                      <a:r>
                        <a:rPr sz="1000" b="1" spc="-6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형상</a:t>
                      </a:r>
                      <a:r>
                        <a:rPr sz="1000" b="1" spc="-6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5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000" spc="-55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Particle</a:t>
                      </a:r>
                      <a:r>
                        <a:rPr sz="1000" spc="-65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000" spc="-10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Shape</a:t>
                      </a: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수지상(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Dendritic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r>
                        <a:rPr sz="1000" spc="-4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구조</a:t>
                      </a:r>
                      <a:r>
                        <a:rPr sz="1000" spc="-4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spc="-4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구형(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Round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r>
                        <a:rPr sz="1000" spc="-4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구조의</a:t>
                      </a:r>
                      <a:r>
                        <a:rPr sz="1000" spc="-4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하이브리드</a:t>
                      </a:r>
                      <a:r>
                        <a:rPr sz="1000" spc="-4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혼합</a:t>
                      </a:r>
                      <a:r>
                        <a:rPr sz="1000" spc="-4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혼합</a:t>
                      </a:r>
                      <a:r>
                        <a:rPr sz="1000" spc="-4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성형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L="118745" marR="873760">
                        <a:lnSpc>
                          <a:spcPct val="141700"/>
                        </a:lnSpc>
                        <a:spcBef>
                          <a:spcPts val="570"/>
                        </a:spcBef>
                      </a:pP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입도</a:t>
                      </a:r>
                      <a:r>
                        <a:rPr sz="1000" b="1" spc="-7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분포</a:t>
                      </a:r>
                      <a:r>
                        <a:rPr sz="1000" b="1" spc="-7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(</a:t>
                      </a:r>
                      <a:r>
                        <a:rPr sz="1000" spc="-75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Size </a:t>
                      </a:r>
                      <a:r>
                        <a:rPr sz="1000" spc="-30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Distribution)</a:t>
                      </a:r>
                      <a:endParaRPr sz="1000">
                        <a:latin typeface="Arial Black"/>
                        <a:cs typeface="Arial Black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핵심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입자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크기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13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8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μm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~</a:t>
                      </a:r>
                      <a:r>
                        <a:rPr sz="1000" spc="-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48 </a:t>
                      </a:r>
                      <a:r>
                        <a:rPr sz="1000" spc="8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μm</a:t>
                      </a:r>
                      <a:r>
                        <a:rPr sz="1000" spc="-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범위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내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50%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이상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분포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(미세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4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도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최적화)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총</a:t>
                      </a:r>
                      <a:r>
                        <a:rPr sz="1000" b="1" spc="-6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보유</a:t>
                      </a:r>
                      <a:r>
                        <a:rPr sz="1000" b="1" spc="-6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중량</a:t>
                      </a:r>
                      <a:r>
                        <a:rPr sz="1000" b="1" spc="-6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000" spc="-70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Total</a:t>
                      </a:r>
                      <a:r>
                        <a:rPr sz="1000" spc="-65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000" spc="-10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Weight</a:t>
                      </a: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132080">
                        <a:lnSpc>
                          <a:spcPct val="141700"/>
                        </a:lnSpc>
                        <a:spcBef>
                          <a:spcPts val="570"/>
                        </a:spcBef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정량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600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kg</a:t>
                      </a:r>
                      <a:r>
                        <a:rPr sz="1000" spc="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독일</a:t>
                      </a:r>
                      <a:r>
                        <a:rPr sz="1000" spc="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상공회의소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Handelskammer</a:t>
                      </a:r>
                      <a:r>
                        <a:rPr sz="1000" spc="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Hamburg</a:t>
                      </a:r>
                      <a:r>
                        <a:rPr sz="1000" spc="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원산지</a:t>
                      </a:r>
                      <a:r>
                        <a:rPr sz="1000" spc="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증명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획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득)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07299" y="1275160"/>
            <a:ext cx="6145530" cy="2625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500" b="1" spc="50" dirty="0">
                <a:solidFill>
                  <a:srgbClr val="1D3A89"/>
                </a:solidFill>
                <a:latin typeface="Malgun Gothic"/>
                <a:cs typeface="Malgun Gothic"/>
              </a:rPr>
              <a:t>2.</a:t>
            </a:r>
            <a:r>
              <a:rPr sz="1500" b="1" spc="-10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대상</a:t>
            </a:r>
            <a:r>
              <a:rPr sz="1500" b="1" spc="-10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자산</a:t>
            </a:r>
            <a:r>
              <a:rPr sz="1500" b="1" spc="-10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명세</a:t>
            </a:r>
            <a:r>
              <a:rPr sz="1500" b="1" spc="-10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및</a:t>
            </a:r>
            <a:r>
              <a:rPr sz="1500" b="1" spc="-10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00" dirty="0">
                <a:solidFill>
                  <a:srgbClr val="1D3A89"/>
                </a:solidFill>
                <a:latin typeface="Malgun Gothic"/>
                <a:cs typeface="Malgun Gothic"/>
              </a:rPr>
              <a:t>기술적·상업적</a:t>
            </a:r>
            <a:r>
              <a:rPr sz="1500" b="1" spc="-10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가치</a:t>
            </a:r>
            <a:r>
              <a:rPr sz="1500" b="1" spc="-10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1D3A89"/>
                </a:solidFill>
                <a:latin typeface="Malgun Gothic"/>
                <a:cs typeface="Malgun Gothic"/>
              </a:rPr>
              <a:t>검증</a:t>
            </a:r>
            <a:endParaRPr sz="150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2165"/>
              </a:spcBef>
              <a:buAutoNum type="arabicPeriod"/>
              <a:tabLst>
                <a:tab pos="284480" algn="l"/>
              </a:tabLst>
            </a:pP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스위스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spc="-135" dirty="0">
                <a:solidFill>
                  <a:srgbClr val="334154"/>
                </a:solidFill>
                <a:latin typeface="Arial Black"/>
                <a:cs typeface="Arial Black"/>
              </a:rPr>
              <a:t>ISE</a:t>
            </a:r>
            <a:r>
              <a:rPr sz="1200" spc="-75" dirty="0">
                <a:solidFill>
                  <a:srgbClr val="334154"/>
                </a:solidFill>
                <a:latin typeface="Arial Black"/>
                <a:cs typeface="Arial Black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인증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기반의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객관적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품질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검증</a:t>
            </a:r>
            <a:endParaRPr sz="1200">
              <a:latin typeface="Malgun Gothic"/>
              <a:cs typeface="Malgun Gothic"/>
            </a:endParaRPr>
          </a:p>
          <a:p>
            <a:pPr marL="12700" marR="5080" algn="just">
              <a:lnSpc>
                <a:spcPct val="143700"/>
              </a:lnSpc>
              <a:spcBef>
                <a:spcPts val="1055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거래의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물리적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기반이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되는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자산은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글로벌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원자재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인증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분야에서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최고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권위를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지닌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스위스</a:t>
            </a:r>
            <a:r>
              <a:rPr sz="1050" b="1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Arial Black"/>
                <a:cs typeface="Arial Black"/>
              </a:rPr>
              <a:t>ISE(Institut</a:t>
            </a:r>
            <a:r>
              <a:rPr sz="1050" spc="-45" dirty="0">
                <a:solidFill>
                  <a:srgbClr val="1D283B"/>
                </a:solidFill>
                <a:latin typeface="Arial Black"/>
                <a:cs typeface="Arial Black"/>
              </a:rPr>
              <a:t> für</a:t>
            </a:r>
            <a:r>
              <a:rPr sz="1050" spc="-5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Arial Black"/>
                <a:cs typeface="Arial Black"/>
              </a:rPr>
              <a:t>Seltene</a:t>
            </a:r>
            <a:r>
              <a:rPr sz="1050" spc="355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Arial Black"/>
                <a:cs typeface="Arial Black"/>
              </a:rPr>
              <a:t>Erden</a:t>
            </a:r>
            <a:r>
              <a:rPr sz="1050" spc="355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sz="1050" spc="-25" dirty="0">
                <a:solidFill>
                  <a:srgbClr val="1D283B"/>
                </a:solidFill>
                <a:latin typeface="Arial Black"/>
                <a:cs typeface="Arial Black"/>
              </a:rPr>
              <a:t>und</a:t>
            </a:r>
            <a:r>
              <a:rPr sz="1050" spc="355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sz="1050" spc="-45" dirty="0">
                <a:solidFill>
                  <a:srgbClr val="1D283B"/>
                </a:solidFill>
                <a:latin typeface="Arial Black"/>
                <a:cs typeface="Arial Black"/>
              </a:rPr>
              <a:t>Metalle</a:t>
            </a:r>
            <a:r>
              <a:rPr sz="1050" spc="355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sz="1050" spc="-95" dirty="0">
                <a:solidFill>
                  <a:srgbClr val="1D283B"/>
                </a:solidFill>
                <a:latin typeface="Arial Black"/>
                <a:cs typeface="Arial Black"/>
              </a:rPr>
              <a:t>AG)</a:t>
            </a:r>
            <a:r>
              <a:rPr sz="1050" spc="-95" dirty="0">
                <a:solidFill>
                  <a:srgbClr val="1D283B"/>
                </a:solidFill>
                <a:latin typeface="Malgun Gothic"/>
                <a:cs typeface="Malgun Gothic"/>
              </a:rPr>
              <a:t>의</a:t>
            </a:r>
            <a:r>
              <a:rPr sz="1050" spc="3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엄격한</a:t>
            </a:r>
            <a:r>
              <a:rPr sz="1050" spc="3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성분</a:t>
            </a:r>
            <a:r>
              <a:rPr sz="1050" spc="3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분석</a:t>
            </a:r>
            <a:r>
              <a:rPr sz="1050" spc="3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3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10" dirty="0">
                <a:solidFill>
                  <a:srgbClr val="1D283B"/>
                </a:solidFill>
                <a:latin typeface="Malgun Gothic"/>
                <a:cs typeface="Malgun Gothic"/>
              </a:rPr>
              <a:t>실사(</a:t>
            </a:r>
            <a:r>
              <a:rPr sz="1050" spc="10" dirty="0">
                <a:solidFill>
                  <a:srgbClr val="1D283B"/>
                </a:solidFill>
                <a:latin typeface="Microsoft Sans Serif"/>
                <a:cs typeface="Microsoft Sans Serif"/>
              </a:rPr>
              <a:t>Inspection</a:t>
            </a:r>
            <a:r>
              <a:rPr sz="1050" spc="42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15" dirty="0">
                <a:solidFill>
                  <a:srgbClr val="1D283B"/>
                </a:solidFill>
                <a:latin typeface="Microsoft Sans Serif"/>
                <a:cs typeface="Microsoft Sans Serif"/>
              </a:rPr>
              <a:t>ID:</a:t>
            </a:r>
            <a:r>
              <a:rPr sz="1050" spc="42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15" dirty="0">
                <a:solidFill>
                  <a:srgbClr val="1D283B"/>
                </a:solidFill>
                <a:latin typeface="Microsoft Sans Serif"/>
                <a:cs typeface="Microsoft Sans Serif"/>
              </a:rPr>
              <a:t>ISE-IR20252501,</a:t>
            </a:r>
            <a:r>
              <a:rPr sz="1050" spc="-1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20" dirty="0">
                <a:solidFill>
                  <a:srgbClr val="1D283B"/>
                </a:solidFill>
                <a:latin typeface="Microsoft Sans Serif"/>
                <a:cs typeface="Microsoft Sans Serif"/>
              </a:rPr>
              <a:t>Valuation</a:t>
            </a:r>
            <a:r>
              <a:rPr sz="1050" spc="-1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15" dirty="0">
                <a:solidFill>
                  <a:srgbClr val="1D283B"/>
                </a:solidFill>
                <a:latin typeface="Microsoft Sans Serif"/>
                <a:cs typeface="Microsoft Sans Serif"/>
              </a:rPr>
              <a:t>ID:</a:t>
            </a:r>
            <a:r>
              <a:rPr sz="1050" spc="-1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1D283B"/>
                </a:solidFill>
                <a:latin typeface="Microsoft Sans Serif"/>
                <a:cs typeface="Microsoft Sans Serif"/>
              </a:rPr>
              <a:t>ISE-</a:t>
            </a:r>
            <a:r>
              <a:rPr sz="1050" spc="-25" dirty="0">
                <a:solidFill>
                  <a:srgbClr val="1D283B"/>
                </a:solidFill>
                <a:latin typeface="Microsoft Sans Serif"/>
                <a:cs typeface="Microsoft Sans Serif"/>
              </a:rPr>
              <a:t>V202511468)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를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완벽하게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통과한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현물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자산입니다.</a:t>
            </a:r>
            <a:endParaRPr sz="1050">
              <a:latin typeface="Malgun Gothic"/>
              <a:cs typeface="Malgun Gothic"/>
            </a:endParaRPr>
          </a:p>
          <a:p>
            <a:pPr marL="184150" marR="57785">
              <a:lnSpc>
                <a:spcPct val="141900"/>
              </a:lnSpc>
              <a:spcBef>
                <a:spcPts val="1500"/>
              </a:spcBef>
            </a:pPr>
            <a:r>
              <a:rPr sz="1050" i="1" spc="-10" dirty="0">
                <a:solidFill>
                  <a:srgbClr val="465469"/>
                </a:solidFill>
                <a:latin typeface="Trebuchet MS"/>
                <a:cs typeface="Trebuchet MS"/>
              </a:rPr>
              <a:t>"Analysis</a:t>
            </a:r>
            <a:r>
              <a:rPr sz="1050" i="1" spc="-25" dirty="0">
                <a:solidFill>
                  <a:srgbClr val="465469"/>
                </a:solidFill>
                <a:latin typeface="Trebuchet MS"/>
                <a:cs typeface="Trebuchet MS"/>
              </a:rPr>
              <a:t> Report </a:t>
            </a:r>
            <a:r>
              <a:rPr sz="1050" i="1" dirty="0">
                <a:solidFill>
                  <a:srgbClr val="465469"/>
                </a:solidFill>
                <a:latin typeface="Trebuchet MS"/>
                <a:cs typeface="Trebuchet MS"/>
              </a:rPr>
              <a:t>No.</a:t>
            </a:r>
            <a:r>
              <a:rPr sz="1050" i="1" spc="-20" dirty="0">
                <a:solidFill>
                  <a:srgbClr val="465469"/>
                </a:solidFill>
                <a:latin typeface="Trebuchet MS"/>
                <a:cs typeface="Trebuchet MS"/>
              </a:rPr>
              <a:t> </a:t>
            </a:r>
            <a:r>
              <a:rPr sz="1050" i="1" dirty="0">
                <a:solidFill>
                  <a:srgbClr val="465469"/>
                </a:solidFill>
                <a:latin typeface="Trebuchet MS"/>
                <a:cs typeface="Trebuchet MS"/>
              </a:rPr>
              <a:t>ISE-A20258366</a:t>
            </a:r>
            <a:r>
              <a:rPr sz="1050" dirty="0">
                <a:solidFill>
                  <a:srgbClr val="465469"/>
                </a:solidFill>
                <a:latin typeface="Malgun Gothic"/>
                <a:cs typeface="Malgun Gothic"/>
              </a:rPr>
              <a:t>에</a:t>
            </a:r>
            <a:r>
              <a:rPr sz="1050" spc="-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465469"/>
                </a:solidFill>
                <a:latin typeface="Malgun Gothic"/>
                <a:cs typeface="Malgun Gothic"/>
              </a:rPr>
              <a:t>의거,</a:t>
            </a:r>
            <a:r>
              <a:rPr sz="1050" spc="-5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465469"/>
                </a:solidFill>
                <a:latin typeface="Malgun Gothic"/>
                <a:cs typeface="Malgun Gothic"/>
              </a:rPr>
              <a:t>본</a:t>
            </a:r>
            <a:r>
              <a:rPr sz="1050" spc="-5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465469"/>
                </a:solidFill>
                <a:latin typeface="Malgun Gothic"/>
                <a:cs typeface="Malgun Gothic"/>
              </a:rPr>
              <a:t>구리</a:t>
            </a:r>
            <a:r>
              <a:rPr sz="1050" spc="-5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465469"/>
                </a:solidFill>
                <a:latin typeface="Malgun Gothic"/>
                <a:cs typeface="Malgun Gothic"/>
              </a:rPr>
              <a:t>분말의</a:t>
            </a:r>
            <a:r>
              <a:rPr sz="1050" spc="-5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465469"/>
                </a:solidFill>
                <a:latin typeface="Malgun Gothic"/>
                <a:cs typeface="Malgun Gothic"/>
              </a:rPr>
              <a:t>화학적</a:t>
            </a:r>
            <a:r>
              <a:rPr sz="1050" spc="-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465469"/>
                </a:solidFill>
                <a:latin typeface="Malgun Gothic"/>
                <a:cs typeface="Malgun Gothic"/>
              </a:rPr>
              <a:t>순도는</a:t>
            </a:r>
            <a:r>
              <a:rPr sz="1050" spc="-5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i="1" dirty="0">
                <a:solidFill>
                  <a:srgbClr val="465469"/>
                </a:solidFill>
                <a:latin typeface="Trebuchet MS"/>
                <a:cs typeface="Trebuchet MS"/>
              </a:rPr>
              <a:t>Cu</a:t>
            </a:r>
            <a:r>
              <a:rPr sz="1050" i="1" spc="-20" dirty="0">
                <a:solidFill>
                  <a:srgbClr val="465469"/>
                </a:solidFill>
                <a:latin typeface="Trebuchet MS"/>
                <a:cs typeface="Trebuchet MS"/>
              </a:rPr>
              <a:t> </a:t>
            </a:r>
            <a:r>
              <a:rPr sz="1050" i="1" dirty="0">
                <a:solidFill>
                  <a:srgbClr val="465469"/>
                </a:solidFill>
                <a:latin typeface="Trebuchet MS"/>
                <a:cs typeface="Trebuchet MS"/>
              </a:rPr>
              <a:t>99.99999%</a:t>
            </a:r>
            <a:r>
              <a:rPr sz="1050" dirty="0">
                <a:solidFill>
                  <a:srgbClr val="465469"/>
                </a:solidFill>
                <a:latin typeface="Malgun Gothic"/>
                <a:cs typeface="Malgun Gothic"/>
              </a:rPr>
              <a:t>를</a:t>
            </a:r>
            <a:r>
              <a:rPr sz="1050" spc="-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465469"/>
                </a:solidFill>
                <a:latin typeface="Malgun Gothic"/>
                <a:cs typeface="Malgun Gothic"/>
              </a:rPr>
              <a:t>상회하며</a:t>
            </a:r>
            <a:r>
              <a:rPr sz="1050" spc="-55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50" dirty="0">
                <a:solidFill>
                  <a:srgbClr val="465469"/>
                </a:solidFill>
                <a:latin typeface="Malgun Gothic"/>
                <a:cs typeface="Malgun Gothic"/>
              </a:rPr>
              <a:t>글 </a:t>
            </a:r>
            <a:r>
              <a:rPr sz="1050" spc="-85" dirty="0">
                <a:solidFill>
                  <a:srgbClr val="465469"/>
                </a:solidFill>
                <a:latin typeface="Malgun Gothic"/>
                <a:cs typeface="Malgun Gothic"/>
              </a:rPr>
              <a:t>로벌</a:t>
            </a:r>
            <a:r>
              <a:rPr sz="1050" spc="-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465469"/>
                </a:solidFill>
                <a:latin typeface="Malgun Gothic"/>
                <a:cs typeface="Malgun Gothic"/>
              </a:rPr>
              <a:t>최고</a:t>
            </a:r>
            <a:r>
              <a:rPr sz="1050" spc="-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465469"/>
                </a:solidFill>
                <a:latin typeface="Malgun Gothic"/>
                <a:cs typeface="Malgun Gothic"/>
              </a:rPr>
              <a:t>등급인</a:t>
            </a:r>
            <a:r>
              <a:rPr sz="1050" spc="-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i="1" spc="-20" dirty="0">
                <a:solidFill>
                  <a:srgbClr val="465469"/>
                </a:solidFill>
                <a:latin typeface="Trebuchet MS"/>
                <a:cs typeface="Trebuchet MS"/>
              </a:rPr>
              <a:t>TU</a:t>
            </a:r>
            <a:r>
              <a:rPr sz="1050" i="1" spc="-25" dirty="0">
                <a:solidFill>
                  <a:srgbClr val="465469"/>
                </a:solidFill>
                <a:latin typeface="Trebuchet MS"/>
                <a:cs typeface="Trebuchet MS"/>
              </a:rPr>
              <a:t> </a:t>
            </a:r>
            <a:r>
              <a:rPr sz="1050" i="1" dirty="0">
                <a:solidFill>
                  <a:srgbClr val="465469"/>
                </a:solidFill>
                <a:latin typeface="Trebuchet MS"/>
                <a:cs typeface="Trebuchet MS"/>
              </a:rPr>
              <a:t>24.44.21-002-75815004-2022</a:t>
            </a:r>
            <a:r>
              <a:rPr sz="1050" i="1" spc="-25" dirty="0">
                <a:solidFill>
                  <a:srgbClr val="465469"/>
                </a:solidFill>
                <a:latin typeface="Trebuchet MS"/>
                <a:cs typeface="Trebuchet MS"/>
              </a:rPr>
              <a:t> </a:t>
            </a:r>
            <a:r>
              <a:rPr sz="1050" spc="-85" dirty="0">
                <a:solidFill>
                  <a:srgbClr val="465469"/>
                </a:solidFill>
                <a:latin typeface="Malgun Gothic"/>
                <a:cs typeface="Malgun Gothic"/>
              </a:rPr>
              <a:t>표준</a:t>
            </a:r>
            <a:r>
              <a:rPr sz="1050" spc="-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465469"/>
                </a:solidFill>
                <a:latin typeface="Malgun Gothic"/>
                <a:cs typeface="Malgun Gothic"/>
              </a:rPr>
              <a:t>가이드를</a:t>
            </a:r>
            <a:r>
              <a:rPr sz="1050" spc="-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465469"/>
                </a:solidFill>
                <a:latin typeface="Malgun Gothic"/>
                <a:cs typeface="Malgun Gothic"/>
              </a:rPr>
              <a:t>철저히</a:t>
            </a:r>
            <a:r>
              <a:rPr sz="1050" spc="-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465469"/>
                </a:solidFill>
                <a:latin typeface="Malgun Gothic"/>
                <a:cs typeface="Malgun Gothic"/>
              </a:rPr>
              <a:t>준수함이</a:t>
            </a:r>
            <a:r>
              <a:rPr sz="1050" spc="-60" dirty="0">
                <a:solidFill>
                  <a:srgbClr val="465469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Malgun Gothic"/>
                <a:cs typeface="Malgun Gothic"/>
              </a:rPr>
              <a:t>증명되었습니다."</a:t>
            </a:r>
            <a:endParaRPr sz="10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84480" algn="l"/>
              </a:tabLst>
            </a:pP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물리적·화학적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특성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상세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개요</a:t>
            </a:r>
            <a:endParaRPr sz="120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4034" y="7846455"/>
            <a:ext cx="107950" cy="1111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8574" y="8997496"/>
            <a:ext cx="6145530" cy="70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1800"/>
              </a:lnSpc>
              <a:spcBef>
                <a:spcPts val="95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자산은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유리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앰플(</a:t>
            </a:r>
            <a:r>
              <a:rPr sz="1050" spc="-30" dirty="0">
                <a:solidFill>
                  <a:srgbClr val="1D283B"/>
                </a:solidFill>
                <a:latin typeface="Microsoft Sans Serif"/>
                <a:cs typeface="Microsoft Sans Serif"/>
              </a:rPr>
              <a:t>Glass</a:t>
            </a:r>
            <a:r>
              <a:rPr sz="105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25" dirty="0">
                <a:solidFill>
                  <a:srgbClr val="1D283B"/>
                </a:solidFill>
                <a:latin typeface="Microsoft Sans Serif"/>
                <a:cs typeface="Microsoft Sans Serif"/>
              </a:rPr>
              <a:t>Ampoules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형태로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안전하게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패킹되어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있으며(총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10" dirty="0">
                <a:solidFill>
                  <a:srgbClr val="1D283B"/>
                </a:solidFill>
                <a:latin typeface="Malgun Gothic"/>
                <a:cs typeface="Malgun Gothic"/>
              </a:rPr>
              <a:t>2,400팩),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원산지는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체코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공화국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1D283B"/>
                </a:solidFill>
                <a:latin typeface="Microsoft Sans Serif"/>
                <a:cs typeface="Microsoft Sans Serif"/>
              </a:rPr>
              <a:t>(Czech</a:t>
            </a:r>
            <a:r>
              <a:rPr sz="1050" spc="3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15" dirty="0">
                <a:solidFill>
                  <a:srgbClr val="1D283B"/>
                </a:solidFill>
                <a:latin typeface="Microsoft Sans Serif"/>
                <a:cs typeface="Microsoft Sans Serif"/>
              </a:rPr>
              <a:t>Republic)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으로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위조가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불가능한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국제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원산지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증명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서류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마킹이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완료되어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있어,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디딤파트너스의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40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감정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이사회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의결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법적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정당성을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완벽하게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충족합니다.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07299" y="377563"/>
            <a:ext cx="2715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93A3B8"/>
                </a:solidFill>
                <a:latin typeface="Arial Black"/>
                <a:cs typeface="Arial Black"/>
              </a:rPr>
              <a:t>PROJECT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METIS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210" dirty="0">
                <a:solidFill>
                  <a:srgbClr val="93A3B8"/>
                </a:solidFill>
                <a:latin typeface="Arial Black"/>
                <a:cs typeface="Arial Black"/>
              </a:rPr>
              <a:t>|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INVESTMENT</a:t>
            </a:r>
            <a:r>
              <a:rPr sz="800" spc="30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93A3B8"/>
                </a:solidFill>
                <a:latin typeface="Arial Black"/>
                <a:cs typeface="Arial Black"/>
              </a:rPr>
              <a:t>MEMORANDUM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074546C-AF10-4910-9A48-763238858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050" y="4005472"/>
            <a:ext cx="1439105" cy="120770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2FEAC63-C8DF-4EFF-8267-BFCDEE38B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43" y="4005472"/>
            <a:ext cx="1219200" cy="12192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47A26D0-62F6-4A98-B40E-9FA33C7E39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250" y="4041263"/>
            <a:ext cx="1207709" cy="11926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745510" y="778327"/>
            <a:ext cx="6145530" cy="530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lang="en-US" altLang="ko-KR" sz="1500" b="1" spc="50" dirty="0">
                <a:solidFill>
                  <a:srgbClr val="1D3A89"/>
                </a:solidFill>
                <a:latin typeface="Malgun Gothic"/>
                <a:cs typeface="Malgun Gothic"/>
              </a:rPr>
              <a:t>3.</a:t>
            </a:r>
            <a:r>
              <a:rPr lang="ko-KR" altLang="en-US"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lang="ko-KR" altLang="en-US"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핵심</a:t>
            </a:r>
            <a:r>
              <a:rPr lang="ko-KR" altLang="en-US"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lang="ko-KR" altLang="en-US"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거래</a:t>
            </a:r>
            <a:r>
              <a:rPr lang="ko-KR" altLang="en-US"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lang="ko-KR" altLang="en-US"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구조</a:t>
            </a:r>
            <a:r>
              <a:rPr lang="ko-KR" altLang="en-US"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lang="en-US" altLang="ko-KR" sz="1500" b="1" spc="-65" dirty="0">
                <a:solidFill>
                  <a:srgbClr val="1D3A89"/>
                </a:solidFill>
                <a:latin typeface="Malgun Gothic"/>
                <a:cs typeface="Malgun Gothic"/>
              </a:rPr>
              <a:t>(</a:t>
            </a:r>
            <a:r>
              <a:rPr lang="en-US" altLang="ko-KR" sz="1500" spc="-65" dirty="0">
                <a:solidFill>
                  <a:srgbClr val="1D3A89"/>
                </a:solidFill>
                <a:latin typeface="Arial Black"/>
                <a:cs typeface="Arial Black"/>
              </a:rPr>
              <a:t>Deal</a:t>
            </a:r>
            <a:r>
              <a:rPr lang="ko-KR" altLang="en-US" sz="1500" spc="-95" dirty="0">
                <a:solidFill>
                  <a:srgbClr val="1D3A89"/>
                </a:solidFill>
                <a:latin typeface="Arial Black"/>
                <a:cs typeface="Arial Black"/>
              </a:rPr>
              <a:t> </a:t>
            </a:r>
            <a:r>
              <a:rPr lang="en-US" altLang="ko-KR" sz="1500" spc="-55" dirty="0">
                <a:solidFill>
                  <a:srgbClr val="1D3A89"/>
                </a:solidFill>
                <a:latin typeface="Arial Black"/>
                <a:cs typeface="Arial Black"/>
              </a:rPr>
              <a:t>Structure</a:t>
            </a:r>
            <a:r>
              <a:rPr lang="en-US" altLang="ko-KR" sz="1500" b="1" spc="-55" dirty="0">
                <a:solidFill>
                  <a:srgbClr val="1D3A89"/>
                </a:solidFill>
                <a:latin typeface="Malgun Gothic"/>
                <a:cs typeface="Malgun Gothic"/>
              </a:rPr>
              <a:t>):</a:t>
            </a:r>
            <a:r>
              <a:rPr lang="ko-KR" altLang="en-US"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lang="en-US" altLang="ko-KR" sz="1500" b="1" dirty="0">
                <a:solidFill>
                  <a:srgbClr val="1D3A89"/>
                </a:solidFill>
                <a:latin typeface="Malgun Gothic"/>
                <a:cs typeface="Malgun Gothic"/>
              </a:rPr>
              <a:t>1:1</a:t>
            </a:r>
            <a:r>
              <a:rPr lang="ko-KR" altLang="en-US"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lang="ko-KR" altLang="en-US"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대등</a:t>
            </a:r>
            <a:r>
              <a:rPr lang="ko-KR" altLang="en-US"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lang="ko-KR" altLang="en-US"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자산</a:t>
            </a:r>
            <a:r>
              <a:rPr lang="ko-KR" altLang="en-US"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lang="ko-KR" altLang="en-US" sz="1500" b="1" spc="-25" dirty="0">
                <a:solidFill>
                  <a:srgbClr val="1D3A89"/>
                </a:solidFill>
                <a:latin typeface="Malgun Gothic"/>
                <a:cs typeface="Malgun Gothic"/>
              </a:rPr>
              <a:t>교환</a:t>
            </a:r>
            <a:endParaRPr lang="ko-KR" altLang="en-US" sz="1500" dirty="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2165"/>
              </a:spcBef>
              <a:buClr>
                <a:srgbClr val="334154"/>
              </a:buClr>
              <a:buFont typeface="Malgun Gothic"/>
              <a:buAutoNum type="arabicPeriod"/>
              <a:tabLst>
                <a:tab pos="284480" algn="l"/>
              </a:tabLst>
            </a:pPr>
            <a:r>
              <a:rPr lang="ko-KR" altLang="en-US"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자산</a:t>
            </a:r>
            <a:r>
              <a:rPr lang="ko-KR" altLang="en-US" sz="1200" b="1" spc="-6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95" dirty="0">
                <a:solidFill>
                  <a:srgbClr val="334154"/>
                </a:solidFill>
                <a:latin typeface="Malgun Gothic"/>
                <a:cs typeface="Malgun Gothic"/>
              </a:rPr>
              <a:t>교환</a:t>
            </a:r>
            <a:r>
              <a:rPr lang="en-US" altLang="ko-KR" sz="1200" b="1" spc="-95" dirty="0">
                <a:solidFill>
                  <a:srgbClr val="334154"/>
                </a:solidFill>
                <a:latin typeface="Malgun Gothic"/>
                <a:cs typeface="Malgun Gothic"/>
              </a:rPr>
              <a:t>(</a:t>
            </a:r>
            <a:r>
              <a:rPr lang="en-US" altLang="ko-KR" sz="1200" spc="-95" dirty="0">
                <a:solidFill>
                  <a:srgbClr val="334154"/>
                </a:solidFill>
                <a:latin typeface="Arial Black"/>
                <a:cs typeface="Arial Black"/>
              </a:rPr>
              <a:t>Asset</a:t>
            </a:r>
            <a:r>
              <a:rPr lang="ko-KR" altLang="en-US" sz="1200" spc="-65" dirty="0">
                <a:solidFill>
                  <a:srgbClr val="334154"/>
                </a:solidFill>
                <a:latin typeface="Arial Black"/>
                <a:cs typeface="Arial Black"/>
              </a:rPr>
              <a:t> </a:t>
            </a:r>
            <a:r>
              <a:rPr lang="en-US" altLang="ko-KR" sz="1200" spc="-85" dirty="0">
                <a:solidFill>
                  <a:srgbClr val="334154"/>
                </a:solidFill>
                <a:latin typeface="Arial Black"/>
                <a:cs typeface="Arial Black"/>
              </a:rPr>
              <a:t>Swap</a:t>
            </a:r>
            <a:r>
              <a:rPr lang="en-US" altLang="ko-KR" sz="1200" b="1" spc="-85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r>
              <a:rPr lang="ko-KR" altLang="en-US"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메커니즘의</a:t>
            </a:r>
            <a:r>
              <a:rPr lang="ko-KR" altLang="en-US" sz="1200" b="1" spc="-6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정의</a:t>
            </a:r>
            <a:endParaRPr lang="ko-KR" altLang="en-US" sz="120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프로젝트의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핵심은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거래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참여자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모두의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재무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상태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표를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혁신적으로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개선하는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en-US" altLang="ko-KR" sz="1050" spc="25" dirty="0">
                <a:solidFill>
                  <a:srgbClr val="1D283B"/>
                </a:solidFill>
                <a:latin typeface="Malgun Gothic"/>
                <a:cs typeface="Malgun Gothic"/>
              </a:rPr>
              <a:t>1:1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대등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가치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맞교환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구조에</a:t>
            </a:r>
            <a:r>
              <a:rPr lang="ko-KR" altLang="en-US"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215" dirty="0">
                <a:solidFill>
                  <a:srgbClr val="1D283B"/>
                </a:solidFill>
                <a:latin typeface="Malgun Gothic"/>
                <a:cs typeface="Malgun Gothic"/>
              </a:rPr>
              <a:t>있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습니다</a:t>
            </a:r>
            <a:r>
              <a:rPr lang="en-US" altLang="ko-KR"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.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통상적인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양수도는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대규모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570" dirty="0">
                <a:solidFill>
                  <a:srgbClr val="1D283B"/>
                </a:solidFill>
                <a:latin typeface="Malgun Gothic"/>
                <a:cs typeface="Malgun Gothic"/>
              </a:rPr>
              <a:t>현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금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조달에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따른  금융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비용과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이자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부담을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수반하지만</a:t>
            </a:r>
            <a:r>
              <a:rPr lang="en-US" altLang="ko-KR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,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구조는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실물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자산과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사채권의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가치를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동일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선상에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배치하여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</a:t>
            </a:r>
            <a:r>
              <a:rPr lang="ko-KR" altLang="en-US" sz="1050" spc="605" dirty="0">
                <a:solidFill>
                  <a:srgbClr val="1D283B"/>
                </a:solidFill>
                <a:latin typeface="Malgun Gothic"/>
                <a:cs typeface="Malgun Gothic"/>
              </a:rPr>
              <a:t>금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의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이동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없이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자산의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소유권과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권리만을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맞바꾸는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185" dirty="0">
                <a:solidFill>
                  <a:srgbClr val="1D283B"/>
                </a:solidFill>
                <a:latin typeface="Malgun Gothic"/>
                <a:cs typeface="Malgun Gothic"/>
              </a:rPr>
              <a:t>고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도화된</a:t>
            </a:r>
            <a:r>
              <a:rPr lang="ko-KR" altLang="en-US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스왑</a:t>
            </a:r>
            <a:r>
              <a:rPr lang="ko-KR" altLang="en-US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거래입니다</a:t>
            </a:r>
            <a:r>
              <a:rPr lang="en-US" altLang="ko-KR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.</a:t>
            </a:r>
            <a:endParaRPr lang="ko-KR" altLang="en-US" sz="105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lang="ko-KR" altLang="en-US" sz="1050" dirty="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5"/>
              </a:spcBef>
              <a:buClr>
                <a:srgbClr val="334154"/>
              </a:buClr>
              <a:buFont typeface="Malgun Gothic"/>
              <a:buAutoNum type="arabicPeriod" startAt="2"/>
              <a:tabLst>
                <a:tab pos="284480" algn="l"/>
              </a:tabLst>
            </a:pPr>
            <a:r>
              <a:rPr lang="en-US" altLang="ko-KR" sz="1200" b="1" dirty="0">
                <a:solidFill>
                  <a:srgbClr val="334154"/>
                </a:solidFill>
                <a:latin typeface="Malgun Gothic"/>
                <a:cs typeface="Malgun Gothic"/>
              </a:rPr>
              <a:t>1:1</a:t>
            </a:r>
            <a:r>
              <a:rPr lang="ko-KR" altLang="en-US" sz="1200" b="1" spc="-6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교환의</a:t>
            </a:r>
            <a:r>
              <a:rPr lang="ko-KR" altLang="en-US" sz="1200" b="1" spc="-6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절차적</a:t>
            </a:r>
            <a:r>
              <a:rPr lang="ko-KR" altLang="en-US"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실행</a:t>
            </a:r>
            <a:r>
              <a:rPr lang="ko-KR" altLang="en-US" sz="1200" b="1" spc="-6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20" dirty="0">
                <a:solidFill>
                  <a:srgbClr val="334154"/>
                </a:solidFill>
                <a:latin typeface="Malgun Gothic"/>
                <a:cs typeface="Malgun Gothic"/>
              </a:rPr>
              <a:t>프로세스</a:t>
            </a:r>
            <a:endParaRPr lang="ko-KR" altLang="en-US" sz="1200" dirty="0">
              <a:latin typeface="Malgun Gothic"/>
              <a:cs typeface="Malgun Gothic"/>
            </a:endParaRPr>
          </a:p>
          <a:p>
            <a:pPr marL="203200" marR="19050" lvl="2" indent="-75565">
              <a:lnSpc>
                <a:spcPct val="141900"/>
              </a:lnSpc>
              <a:spcBef>
                <a:spcPts val="1075"/>
              </a:spcBef>
              <a:buFont typeface="Malgun Gothic"/>
              <a:buChar char="•"/>
              <a:tabLst>
                <a:tab pos="203200" algn="l"/>
              </a:tabLst>
            </a:pPr>
            <a:r>
              <a:rPr lang="en-US" altLang="ko-KR" sz="1050" spc="-85" dirty="0">
                <a:solidFill>
                  <a:srgbClr val="1D283B"/>
                </a:solidFill>
                <a:latin typeface="Arial Black"/>
                <a:cs typeface="Arial Black"/>
              </a:rPr>
              <a:t>[Step</a:t>
            </a:r>
            <a:r>
              <a:rPr lang="ko-KR" altLang="en-US" sz="1050" spc="-70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lang="en-US" altLang="ko-KR" sz="1050" spc="-85" dirty="0">
                <a:solidFill>
                  <a:srgbClr val="1D283B"/>
                </a:solidFill>
                <a:latin typeface="Arial Black"/>
                <a:cs typeface="Arial Black"/>
              </a:rPr>
              <a:t>1]</a:t>
            </a:r>
            <a:r>
              <a:rPr lang="ko-KR" altLang="en-US" sz="1050" spc="-65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lang="ko-KR" altLang="en-US"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사채</a:t>
            </a:r>
            <a:r>
              <a:rPr lang="ko-KR" altLang="en-US"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권리</a:t>
            </a:r>
            <a:r>
              <a:rPr lang="ko-KR" altLang="en-US"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양도</a:t>
            </a:r>
            <a:r>
              <a:rPr lang="ko-KR" altLang="en-US"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b="1" spc="-45" dirty="0">
                <a:solidFill>
                  <a:srgbClr val="1D283B"/>
                </a:solidFill>
                <a:latin typeface="Malgun Gothic"/>
                <a:cs typeface="Malgun Gothic"/>
              </a:rPr>
              <a:t>약정</a:t>
            </a:r>
            <a:r>
              <a:rPr lang="en-US" altLang="ko-KR" sz="1050" b="1" spc="-45" dirty="0">
                <a:solidFill>
                  <a:srgbClr val="1D283B"/>
                </a:solidFill>
                <a:latin typeface="Malgun Gothic"/>
                <a:cs typeface="Malgun Gothic"/>
              </a:rPr>
              <a:t>:</a:t>
            </a:r>
            <a:r>
              <a:rPr lang="ko-KR" altLang="en-US"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기존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사채권자인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유한회사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 err="1">
                <a:solidFill>
                  <a:srgbClr val="1D283B"/>
                </a:solidFill>
                <a:latin typeface="Malgun Gothic"/>
                <a:cs typeface="Malgun Gothic"/>
              </a:rPr>
              <a:t>케이리츠가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보유한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 err="1">
                <a:solidFill>
                  <a:srgbClr val="1D283B"/>
                </a:solidFill>
                <a:latin typeface="Malgun Gothic"/>
                <a:cs typeface="Malgun Gothic"/>
              </a:rPr>
              <a:t>엑시온그룹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제</a:t>
            </a:r>
            <a:r>
              <a:rPr lang="en-US" altLang="ko-KR"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11</a:t>
            </a:r>
            <a:r>
              <a:rPr lang="ko-KR" altLang="en-US" sz="1050" spc="-55" dirty="0" err="1">
                <a:solidFill>
                  <a:srgbClr val="1D283B"/>
                </a:solidFill>
                <a:latin typeface="Malgun Gothic"/>
                <a:cs typeface="Malgun Gothic"/>
              </a:rPr>
              <a:t>회차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전환사채 </a:t>
            </a:r>
            <a:r>
              <a:rPr lang="en-US" altLang="ko-KR"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(</a:t>
            </a:r>
            <a:r>
              <a:rPr lang="ko-KR" altLang="en-US"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권면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en-US" altLang="ko-KR"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100</a:t>
            </a:r>
            <a:r>
              <a:rPr lang="ko-KR" altLang="en-US"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억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원</a:t>
            </a:r>
            <a:r>
              <a:rPr lang="en-US" altLang="ko-KR"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lang="ko-KR" altLang="en-US"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의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권리를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 err="1">
                <a:solidFill>
                  <a:srgbClr val="1D283B"/>
                </a:solidFill>
                <a:latin typeface="Malgun Gothic"/>
                <a:cs typeface="Malgun Gothic"/>
              </a:rPr>
              <a:t>유니코에너지그룹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측에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포괄적으로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양도합니다</a:t>
            </a:r>
            <a:r>
              <a:rPr lang="en-US" altLang="ko-KR"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.</a:t>
            </a:r>
            <a:endParaRPr lang="ko-KR" altLang="en-US" sz="1050" dirty="0">
              <a:latin typeface="Malgun Gothic"/>
              <a:cs typeface="Malgun Gothic"/>
            </a:endParaRPr>
          </a:p>
          <a:p>
            <a:pPr marL="203200" marR="5080" lvl="2" indent="-75565">
              <a:lnSpc>
                <a:spcPct val="141900"/>
              </a:lnSpc>
              <a:spcBef>
                <a:spcPts val="450"/>
              </a:spcBef>
              <a:buFont typeface="Malgun Gothic"/>
              <a:buChar char="•"/>
              <a:tabLst>
                <a:tab pos="203200" algn="l"/>
              </a:tabLst>
            </a:pPr>
            <a:r>
              <a:rPr lang="en-US" altLang="ko-KR" sz="1050" spc="-85" dirty="0">
                <a:solidFill>
                  <a:srgbClr val="1D283B"/>
                </a:solidFill>
                <a:latin typeface="Arial Black"/>
                <a:cs typeface="Arial Black"/>
              </a:rPr>
              <a:t>[Step</a:t>
            </a:r>
            <a:r>
              <a:rPr lang="ko-KR" altLang="en-US" sz="1050" spc="-70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lang="en-US" altLang="ko-KR" sz="1050" spc="-85" dirty="0">
                <a:solidFill>
                  <a:srgbClr val="1D283B"/>
                </a:solidFill>
                <a:latin typeface="Arial Black"/>
                <a:cs typeface="Arial Black"/>
              </a:rPr>
              <a:t>2]</a:t>
            </a:r>
            <a:r>
              <a:rPr lang="ko-KR" altLang="en-US" sz="1050" spc="-70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lang="ko-KR" altLang="en-US"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구리</a:t>
            </a:r>
            <a:r>
              <a:rPr lang="ko-KR" altLang="en-US"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lang="ko-KR" altLang="en-US"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지분</a:t>
            </a:r>
            <a:r>
              <a:rPr lang="ko-KR" altLang="en-US"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b="1" spc="-45" dirty="0">
                <a:solidFill>
                  <a:srgbClr val="1D283B"/>
                </a:solidFill>
                <a:latin typeface="Malgun Gothic"/>
                <a:cs typeface="Malgun Gothic"/>
              </a:rPr>
              <a:t>귀속</a:t>
            </a:r>
            <a:r>
              <a:rPr lang="en-US" altLang="ko-KR" sz="1050" b="1" spc="-45" dirty="0">
                <a:solidFill>
                  <a:srgbClr val="1D283B"/>
                </a:solidFill>
                <a:latin typeface="Malgun Gothic"/>
                <a:cs typeface="Malgun Gothic"/>
              </a:rPr>
              <a:t>:</a:t>
            </a:r>
            <a:r>
              <a:rPr lang="ko-KR" altLang="en-US"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그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대가로</a:t>
            </a:r>
            <a:r>
              <a:rPr lang="ko-KR" altLang="en-US"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유한회사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 err="1">
                <a:solidFill>
                  <a:srgbClr val="1D283B"/>
                </a:solidFill>
                <a:latin typeface="Malgun Gothic"/>
                <a:cs typeface="Malgun Gothic"/>
              </a:rPr>
              <a:t>케이리츠는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 err="1">
                <a:solidFill>
                  <a:srgbClr val="1D283B"/>
                </a:solidFill>
                <a:latin typeface="Malgun Gothic"/>
                <a:cs typeface="Malgun Gothic"/>
              </a:rPr>
              <a:t>무루아가</a:t>
            </a:r>
            <a:r>
              <a:rPr lang="ko-KR" altLang="en-US"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보유한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en-US" altLang="ko-KR" sz="1050" dirty="0">
                <a:solidFill>
                  <a:srgbClr val="1D283B"/>
                </a:solidFill>
                <a:latin typeface="Malgun Gothic"/>
                <a:cs typeface="Malgun Gothic"/>
              </a:rPr>
              <a:t>6</a:t>
            </a:r>
            <a:r>
              <a:rPr lang="en-US" altLang="ko-KR"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N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초고순도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구리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분말</a:t>
            </a:r>
            <a:r>
              <a:rPr lang="ko-KR" altLang="en-US"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 </a:t>
            </a:r>
            <a:r>
              <a:rPr lang="en-US" altLang="ko-KR"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600kg</a:t>
            </a:r>
            <a:r>
              <a:rPr lang="ko-KR" altLang="en-US" sz="1050" dirty="0">
                <a:solidFill>
                  <a:srgbClr val="1D283B"/>
                </a:solidFill>
                <a:latin typeface="Malgun Gothic"/>
                <a:cs typeface="Malgun Gothic"/>
              </a:rPr>
              <a:t>에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대한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en-US" altLang="ko-KR"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100</a:t>
            </a:r>
            <a:r>
              <a:rPr lang="ko-KR" altLang="en-US"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억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원</a:t>
            </a:r>
            <a:r>
              <a:rPr lang="ko-KR" altLang="en-US"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상당의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소유권</a:t>
            </a:r>
            <a:r>
              <a:rPr lang="ko-KR" altLang="en-US"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또는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이를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단독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편입한</a:t>
            </a:r>
            <a:r>
              <a:rPr lang="ko-KR" altLang="en-US"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특수목적법인</a:t>
            </a:r>
            <a:r>
              <a:rPr lang="en-US" altLang="ko-KR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(</a:t>
            </a:r>
            <a:r>
              <a:rPr lang="en-US" altLang="ko-KR" sz="1050" spc="-80" dirty="0">
                <a:solidFill>
                  <a:srgbClr val="1D283B"/>
                </a:solidFill>
                <a:latin typeface="Microsoft Sans Serif"/>
                <a:cs typeface="Microsoft Sans Serif"/>
              </a:rPr>
              <a:t>SPC</a:t>
            </a:r>
            <a:r>
              <a:rPr lang="en-US" altLang="ko-KR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lang="ko-KR" altLang="en-US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의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지분을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en-US" altLang="ko-KR" sz="1050" dirty="0">
                <a:solidFill>
                  <a:srgbClr val="1D283B"/>
                </a:solidFill>
                <a:latin typeface="Malgun Gothic"/>
                <a:cs typeface="Malgun Gothic"/>
              </a:rPr>
              <a:t>1:1</a:t>
            </a:r>
            <a:r>
              <a:rPr lang="ko-KR" altLang="en-US"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비율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로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정확하게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10" dirty="0" err="1">
                <a:solidFill>
                  <a:srgbClr val="1D283B"/>
                </a:solidFill>
                <a:latin typeface="Malgun Gothic"/>
                <a:cs typeface="Malgun Gothic"/>
              </a:rPr>
              <a:t>이전받습니다</a:t>
            </a:r>
            <a:r>
              <a:rPr lang="en-US" altLang="ko-KR"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.</a:t>
            </a:r>
            <a:endParaRPr lang="ko-KR" altLang="en-US" sz="1050" dirty="0">
              <a:latin typeface="Malgun Gothic"/>
              <a:cs typeface="Malgun Gothic"/>
            </a:endParaRPr>
          </a:p>
          <a:p>
            <a:pPr marL="203200" marR="83820" lvl="2" indent="-75565">
              <a:lnSpc>
                <a:spcPct val="141900"/>
              </a:lnSpc>
              <a:spcBef>
                <a:spcPts val="445"/>
              </a:spcBef>
              <a:buFont typeface="Malgun Gothic"/>
              <a:buChar char="•"/>
              <a:tabLst>
                <a:tab pos="203200" algn="l"/>
              </a:tabLst>
            </a:pPr>
            <a:r>
              <a:rPr lang="en-US" altLang="ko-KR" sz="1050" spc="-85" dirty="0">
                <a:solidFill>
                  <a:srgbClr val="1D283B"/>
                </a:solidFill>
                <a:latin typeface="Arial Black"/>
                <a:cs typeface="Arial Black"/>
              </a:rPr>
              <a:t>[Step</a:t>
            </a:r>
            <a:r>
              <a:rPr lang="ko-KR" altLang="en-US" sz="1050" spc="-70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lang="en-US" altLang="ko-KR" sz="1050" spc="-85" dirty="0">
                <a:solidFill>
                  <a:srgbClr val="1D283B"/>
                </a:solidFill>
                <a:latin typeface="Arial Black"/>
                <a:cs typeface="Arial Black"/>
              </a:rPr>
              <a:t>3]</a:t>
            </a:r>
            <a:r>
              <a:rPr lang="ko-KR" altLang="en-US" sz="1050" spc="-65" dirty="0">
                <a:solidFill>
                  <a:srgbClr val="1D283B"/>
                </a:solidFill>
                <a:latin typeface="Arial Black"/>
                <a:cs typeface="Arial Black"/>
              </a:rPr>
              <a:t> </a:t>
            </a:r>
            <a:r>
              <a:rPr lang="ko-KR" altLang="en-US"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</a:t>
            </a:r>
            <a:r>
              <a:rPr lang="ko-KR" altLang="en-US"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lang="ko-KR" altLang="en-US"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b="1" spc="-45" dirty="0">
                <a:solidFill>
                  <a:srgbClr val="1D283B"/>
                </a:solidFill>
                <a:latin typeface="Malgun Gothic"/>
                <a:cs typeface="Malgun Gothic"/>
              </a:rPr>
              <a:t>편입</a:t>
            </a:r>
            <a:r>
              <a:rPr lang="en-US" altLang="ko-KR" sz="1050" b="1" spc="-45" dirty="0">
                <a:solidFill>
                  <a:srgbClr val="1D283B"/>
                </a:solidFill>
                <a:latin typeface="Malgun Gothic"/>
                <a:cs typeface="Malgun Gothic"/>
              </a:rPr>
              <a:t>:</a:t>
            </a:r>
            <a:r>
              <a:rPr lang="ko-KR" altLang="en-US"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 err="1">
                <a:solidFill>
                  <a:srgbClr val="1D283B"/>
                </a:solidFill>
                <a:latin typeface="Malgun Gothic"/>
                <a:cs typeface="Malgun Gothic"/>
              </a:rPr>
              <a:t>유니코에너지그룹은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확보한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en-US" altLang="ko-KR" sz="1050" spc="-60" dirty="0">
                <a:solidFill>
                  <a:srgbClr val="1D283B"/>
                </a:solidFill>
                <a:latin typeface="Microsoft Sans Serif"/>
                <a:cs typeface="Microsoft Sans Serif"/>
              </a:rPr>
              <a:t>CB</a:t>
            </a:r>
            <a:r>
              <a:rPr lang="ko-KR" altLang="en-US" sz="1050" spc="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권리를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기반으로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상장사와</a:t>
            </a:r>
            <a:r>
              <a:rPr lang="ko-KR" altLang="en-US"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최종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조기상환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자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산</a:t>
            </a:r>
            <a:r>
              <a:rPr lang="ko-KR" altLang="en-US"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양수도</a:t>
            </a:r>
            <a:r>
              <a:rPr lang="ko-KR" altLang="en-US"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계약을</a:t>
            </a:r>
            <a:r>
              <a:rPr lang="ko-KR" altLang="en-US"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매칭하여</a:t>
            </a:r>
            <a:r>
              <a:rPr lang="en-US" altLang="ko-KR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,</a:t>
            </a:r>
            <a:r>
              <a:rPr lang="ko-KR" altLang="en-US"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</a:t>
            </a:r>
            <a:r>
              <a:rPr lang="ko-KR" altLang="en-US"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내부로</a:t>
            </a:r>
            <a:r>
              <a:rPr lang="ko-KR" altLang="en-US"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구리</a:t>
            </a:r>
            <a:r>
              <a:rPr lang="ko-KR" altLang="en-US"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분말</a:t>
            </a:r>
            <a:r>
              <a:rPr lang="ko-KR" altLang="en-US"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자산을</a:t>
            </a:r>
            <a:r>
              <a:rPr lang="ko-KR" altLang="en-US"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합법적으로</a:t>
            </a:r>
            <a:r>
              <a:rPr lang="ko-KR" altLang="en-US"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귀속시킵니다</a:t>
            </a:r>
            <a:r>
              <a:rPr lang="en-US" altLang="ko-KR"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.</a:t>
            </a:r>
            <a:endParaRPr lang="ko-KR" altLang="en-US" sz="1050" dirty="0">
              <a:latin typeface="Malgun Gothic"/>
              <a:cs typeface="Malgun Gothic"/>
            </a:endParaRPr>
          </a:p>
          <a:p>
            <a:pPr lvl="2">
              <a:lnSpc>
                <a:spcPct val="100000"/>
              </a:lnSpc>
              <a:spcBef>
                <a:spcPts val="165"/>
              </a:spcBef>
              <a:buClr>
                <a:srgbClr val="1D283B"/>
              </a:buClr>
              <a:buFont typeface="Malgun Gothic"/>
              <a:buChar char="•"/>
            </a:pPr>
            <a:endParaRPr lang="ko-KR" altLang="en-US" sz="1050" dirty="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buClr>
                <a:srgbClr val="334154"/>
              </a:buClr>
              <a:buFont typeface="Malgun Gothic"/>
              <a:buAutoNum type="arabicPeriod" startAt="2"/>
              <a:tabLst>
                <a:tab pos="284480" algn="l"/>
              </a:tabLst>
            </a:pPr>
            <a:r>
              <a:rPr lang="ko-KR" altLang="en-US"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초기</a:t>
            </a:r>
            <a:r>
              <a:rPr lang="ko-KR" altLang="en-US"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현금</a:t>
            </a:r>
            <a:r>
              <a:rPr lang="ko-KR" altLang="en-US" sz="1200" b="1" spc="-6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유출</a:t>
            </a:r>
            <a:r>
              <a:rPr lang="ko-KR" altLang="en-US"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제로</a:t>
            </a:r>
            <a:r>
              <a:rPr lang="en-US" altLang="ko-KR"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(</a:t>
            </a:r>
            <a:r>
              <a:rPr lang="en-US" altLang="ko-KR" sz="1200" spc="-80" dirty="0">
                <a:solidFill>
                  <a:srgbClr val="334154"/>
                </a:solidFill>
                <a:latin typeface="Arial Black"/>
                <a:cs typeface="Arial Black"/>
              </a:rPr>
              <a:t>Zero-</a:t>
            </a:r>
            <a:r>
              <a:rPr lang="en-US" altLang="ko-KR" sz="1200" spc="-95" dirty="0">
                <a:solidFill>
                  <a:srgbClr val="334154"/>
                </a:solidFill>
                <a:latin typeface="Arial Black"/>
                <a:cs typeface="Arial Black"/>
              </a:rPr>
              <a:t>Cash</a:t>
            </a:r>
            <a:r>
              <a:rPr lang="ko-KR" altLang="en-US" sz="1200" spc="-65" dirty="0">
                <a:solidFill>
                  <a:srgbClr val="334154"/>
                </a:solidFill>
                <a:latin typeface="Arial Black"/>
                <a:cs typeface="Arial Black"/>
              </a:rPr>
              <a:t> </a:t>
            </a:r>
            <a:r>
              <a:rPr lang="en-US" altLang="ko-KR" sz="1200" spc="-50" dirty="0">
                <a:solidFill>
                  <a:srgbClr val="334154"/>
                </a:solidFill>
                <a:latin typeface="Arial Black"/>
                <a:cs typeface="Arial Black"/>
              </a:rPr>
              <a:t>Outflow</a:t>
            </a:r>
            <a:r>
              <a:rPr lang="en-US" altLang="ko-KR" sz="1200" b="1" spc="-50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r>
              <a:rPr lang="ko-KR" altLang="en-US" sz="1200" b="1" spc="-50" dirty="0">
                <a:solidFill>
                  <a:srgbClr val="334154"/>
                </a:solidFill>
                <a:latin typeface="Malgun Gothic"/>
                <a:cs typeface="Malgun Gothic"/>
              </a:rPr>
              <a:t>의</a:t>
            </a:r>
            <a:r>
              <a:rPr lang="ko-KR" altLang="en-US" sz="1200" b="1" spc="-6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재무적</a:t>
            </a:r>
            <a:r>
              <a:rPr lang="ko-KR" altLang="en-US" sz="1200" b="1" spc="-6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lang="ko-KR" altLang="en-US"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이점</a:t>
            </a:r>
            <a:endParaRPr lang="ko-KR" altLang="en-US" sz="120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구조는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입장에서는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단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en-US" altLang="ko-KR"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1</a:t>
            </a:r>
            <a:r>
              <a:rPr lang="ko-KR" altLang="en-US"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원의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570" dirty="0">
                <a:solidFill>
                  <a:srgbClr val="1D283B"/>
                </a:solidFill>
                <a:latin typeface="Malgun Gothic"/>
                <a:cs typeface="Malgun Gothic"/>
              </a:rPr>
              <a:t>현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방출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없이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재무제표상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재고자산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또는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무형자산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en-US" altLang="ko-KR"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100</a:t>
            </a:r>
            <a:r>
              <a:rPr lang="ko-KR" altLang="en-US"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억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원을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즉시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증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대시키는</a:t>
            </a:r>
            <a:r>
              <a:rPr lang="ko-KR" altLang="en-US" sz="1050" spc="1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효과를</a:t>
            </a:r>
            <a:r>
              <a:rPr lang="ko-KR" altLang="en-US" sz="1050" spc="1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주며</a:t>
            </a:r>
            <a:r>
              <a:rPr lang="en-US" altLang="ko-KR"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,</a:t>
            </a:r>
            <a:r>
              <a:rPr lang="ko-KR" altLang="en-US" sz="1050" spc="1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자산가</a:t>
            </a:r>
            <a:r>
              <a:rPr lang="en-US" altLang="ko-KR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(</a:t>
            </a:r>
            <a:r>
              <a:rPr lang="ko-KR" altLang="en-US" sz="1050" spc="-65" dirty="0" err="1">
                <a:solidFill>
                  <a:srgbClr val="1D283B"/>
                </a:solidFill>
                <a:latin typeface="Malgun Gothic"/>
                <a:cs typeface="Malgun Gothic"/>
              </a:rPr>
              <a:t>무루아</a:t>
            </a:r>
            <a:r>
              <a:rPr lang="en-US" altLang="ko-KR"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lang="ko-KR" altLang="en-US" sz="1050" spc="1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입장에서는</a:t>
            </a:r>
            <a:r>
              <a:rPr lang="ko-KR" altLang="en-US" sz="1050" spc="1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비유동성</a:t>
            </a:r>
            <a:r>
              <a:rPr lang="ko-KR" altLang="en-US" sz="1050" spc="1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실물</a:t>
            </a:r>
            <a:r>
              <a:rPr lang="ko-KR" altLang="en-US" sz="1050" spc="1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자산을</a:t>
            </a:r>
            <a:r>
              <a:rPr lang="ko-KR" altLang="en-US" sz="1050" spc="1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언제든</a:t>
            </a:r>
            <a:r>
              <a:rPr lang="ko-KR" altLang="en-US" sz="1050" spc="1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자본시장에서</a:t>
            </a:r>
            <a:r>
              <a:rPr lang="ko-KR" altLang="en-US" sz="1050" spc="1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매매</a:t>
            </a:r>
            <a:r>
              <a:rPr lang="ko-KR" altLang="en-US" sz="1050" spc="1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가능한</a:t>
            </a:r>
            <a:r>
              <a:rPr lang="ko-KR" altLang="en-US"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en-US" altLang="ko-KR" sz="1050" spc="15" dirty="0">
                <a:solidFill>
                  <a:srgbClr val="1D283B"/>
                </a:solidFill>
                <a:latin typeface="Microsoft Sans Serif"/>
                <a:cs typeface="Microsoft Sans Serif"/>
              </a:rPr>
              <a:t>Listed</a:t>
            </a:r>
            <a:r>
              <a:rPr lang="ko-KR" altLang="en-US" sz="1050" spc="-1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lang="en-US" altLang="ko-KR" sz="1050" spc="-60" dirty="0">
                <a:solidFill>
                  <a:srgbClr val="1D283B"/>
                </a:solidFill>
                <a:latin typeface="Microsoft Sans Serif"/>
                <a:cs typeface="Microsoft Sans Serif"/>
              </a:rPr>
              <a:t>CB</a:t>
            </a:r>
            <a:r>
              <a:rPr lang="ko-KR" altLang="en-US" sz="1050" spc="-1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권리로</a:t>
            </a:r>
            <a:r>
              <a:rPr lang="ko-KR" altLang="en-US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치환하여</a:t>
            </a:r>
            <a:r>
              <a:rPr lang="ko-KR" altLang="en-US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즉각적인</a:t>
            </a:r>
            <a:r>
              <a:rPr lang="ko-KR" altLang="en-US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재무적</a:t>
            </a:r>
            <a:r>
              <a:rPr lang="ko-KR" altLang="en-US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기동성을</a:t>
            </a:r>
            <a:r>
              <a:rPr lang="ko-KR" altLang="en-US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확보하게</a:t>
            </a:r>
            <a:r>
              <a:rPr lang="ko-KR" altLang="en-US"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됩니다</a:t>
            </a:r>
            <a:r>
              <a:rPr lang="en-US" altLang="ko-KR"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.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07299" y="377563"/>
            <a:ext cx="2715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93A3B8"/>
                </a:solidFill>
                <a:latin typeface="Arial Black"/>
                <a:cs typeface="Arial Black"/>
              </a:rPr>
              <a:t>PROJECT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METIS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210" dirty="0">
                <a:solidFill>
                  <a:srgbClr val="93A3B8"/>
                </a:solidFill>
                <a:latin typeface="Arial Black"/>
                <a:cs typeface="Arial Black"/>
              </a:rPr>
              <a:t>|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INVESTMENT</a:t>
            </a:r>
            <a:r>
              <a:rPr sz="800" spc="30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93A3B8"/>
                </a:solidFill>
                <a:latin typeface="Arial Black"/>
                <a:cs typeface="Arial Black"/>
              </a:rPr>
              <a:t>MEMORANDUM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3BB866-B319-4D77-8985-789B3E88A348}"/>
              </a:ext>
            </a:extLst>
          </p:cNvPr>
          <p:cNvSpPr/>
          <p:nvPr/>
        </p:nvSpPr>
        <p:spPr>
          <a:xfrm>
            <a:off x="1132703" y="6176751"/>
            <a:ext cx="4746814" cy="35052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06E70099-66A2-4726-856D-AD4F859A64BB}"/>
              </a:ext>
            </a:extLst>
          </p:cNvPr>
          <p:cNvSpPr txBox="1"/>
          <p:nvPr/>
        </p:nvSpPr>
        <p:spPr>
          <a:xfrm>
            <a:off x="2287184" y="6290819"/>
            <a:ext cx="30059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ko-KR" altLang="en-US" sz="1200" b="1" u="heavy" spc="-1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주사전자현미경</a:t>
            </a:r>
            <a:r>
              <a:rPr lang="en-US" altLang="ko-KR" sz="1200" b="1" u="heavy" spc="-1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(SEM)</a:t>
            </a:r>
            <a:r>
              <a:rPr lang="ko-KR" altLang="en-US" sz="1200" b="1" u="heavy" spc="-1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을 이용한 입자 분석</a:t>
            </a:r>
            <a:r>
              <a:rPr sz="1200" b="1" u="heavy" spc="-1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0D7C5B6F-5DA7-47AC-8F4A-B80DE628F4EE}"/>
              </a:ext>
            </a:extLst>
          </p:cNvPr>
          <p:cNvSpPr txBox="1"/>
          <p:nvPr/>
        </p:nvSpPr>
        <p:spPr>
          <a:xfrm>
            <a:off x="1187450" y="8928100"/>
            <a:ext cx="474681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400">
              <a:spcBef>
                <a:spcPts val="100"/>
              </a:spcBef>
            </a:pP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주사전자현미경</a:t>
            </a:r>
            <a:r>
              <a:rPr lang="en-US" altLang="ko-KR" sz="900" dirty="0">
                <a:solidFill>
                  <a:srgbClr val="231F20"/>
                </a:solidFill>
                <a:latin typeface="Calibri Light"/>
                <a:cs typeface="Calibri Light"/>
              </a:rPr>
              <a:t>(SEM)</a:t>
            </a: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을 활용한 </a:t>
            </a:r>
            <a:r>
              <a:rPr lang="ko-KR" altLang="en-US" sz="900" dirty="0" err="1">
                <a:solidFill>
                  <a:srgbClr val="231F20"/>
                </a:solidFill>
                <a:latin typeface="Calibri Light"/>
                <a:cs typeface="Calibri Light"/>
              </a:rPr>
              <a:t>결정립</a:t>
            </a: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 크기 및 구조의 </a:t>
            </a:r>
            <a:r>
              <a:rPr lang="ko-KR" altLang="en-US" sz="900" dirty="0" err="1">
                <a:solidFill>
                  <a:srgbClr val="231F20"/>
                </a:solidFill>
                <a:latin typeface="Calibri Light"/>
                <a:cs typeface="Calibri Light"/>
              </a:rPr>
              <a:t>반정량적</a:t>
            </a: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 관찰을 위해 구리 분말 시편이 제출되었습니다</a:t>
            </a:r>
            <a:r>
              <a:rPr lang="en-US" altLang="ko-KR" sz="900" dirty="0">
                <a:solidFill>
                  <a:srgbClr val="231F20"/>
                </a:solidFill>
                <a:latin typeface="Calibri Light"/>
                <a:cs typeface="Calibri Light"/>
              </a:rPr>
              <a:t>.</a:t>
            </a: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해당 시편의 식별 정보는 다음과 같습니다</a:t>
            </a:r>
            <a:r>
              <a:rPr lang="en-US" altLang="ko-KR" sz="900" dirty="0">
                <a:solidFill>
                  <a:srgbClr val="231F20"/>
                </a:solidFill>
                <a:latin typeface="Calibri Light"/>
                <a:cs typeface="Calibri Light"/>
              </a:rPr>
              <a:t>.</a:t>
            </a: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🆔 시편 식별 번호</a:t>
            </a:r>
            <a:r>
              <a:rPr lang="en-US" altLang="ko-KR" sz="900" dirty="0">
                <a:solidFill>
                  <a:srgbClr val="231F20"/>
                </a:solidFill>
                <a:latin typeface="Calibri Light"/>
                <a:cs typeface="Calibri Light"/>
              </a:rPr>
              <a:t>: ELM-2025-0110 (5262)</a:t>
            </a: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분석을 위해 시편 봉지 내 구리 분말의 일부를 카본 패드로 옮긴 후</a:t>
            </a:r>
            <a:r>
              <a:rPr lang="en-US" altLang="ko-KR" sz="900" dirty="0">
                <a:solidFill>
                  <a:srgbClr val="231F20"/>
                </a:solidFill>
                <a:latin typeface="Calibri Light"/>
                <a:cs typeface="Calibri Light"/>
              </a:rPr>
              <a:t>, SEM</a:t>
            </a: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을 사용하여 최대 </a:t>
            </a:r>
            <a:r>
              <a:rPr lang="en-US" altLang="ko-KR" sz="900" dirty="0">
                <a:solidFill>
                  <a:srgbClr val="231F20"/>
                </a:solidFill>
                <a:latin typeface="Calibri Light"/>
                <a:cs typeface="Calibri Light"/>
              </a:rPr>
              <a:t>3,000</a:t>
            </a: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배의 배율로 관찰을 진행하였습니다</a:t>
            </a:r>
            <a:r>
              <a:rPr lang="en-US" altLang="ko-KR" sz="900" dirty="0">
                <a:solidFill>
                  <a:srgbClr val="231F20"/>
                </a:solidFill>
                <a:latin typeface="Calibri Light"/>
                <a:cs typeface="Calibri Light"/>
              </a:rPr>
              <a:t>.</a:t>
            </a:r>
            <a:r>
              <a:rPr lang="ko-KR" altLang="en-US" sz="900" dirty="0" err="1">
                <a:solidFill>
                  <a:srgbClr val="231F20"/>
                </a:solidFill>
                <a:latin typeface="Calibri Light"/>
                <a:cs typeface="Calibri Light"/>
              </a:rPr>
              <a:t>결정립</a:t>
            </a: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 크기는 구형 입자의 경우 원형 반경 측정법을</a:t>
            </a:r>
            <a:r>
              <a:rPr lang="en-US" altLang="ko-KR" sz="900" dirty="0">
                <a:solidFill>
                  <a:srgbClr val="231F20"/>
                </a:solidFill>
                <a:latin typeface="Calibri Light"/>
                <a:cs typeface="Calibri Light"/>
              </a:rPr>
              <a:t>, </a:t>
            </a: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길쭉한 형태의 입자의 경우 직선 거리 측정법을 적용하여 분석되었습니다</a:t>
            </a:r>
            <a:r>
              <a:rPr lang="en-US" altLang="ko-KR" sz="900" dirty="0">
                <a:solidFill>
                  <a:srgbClr val="231F20"/>
                </a:solidFill>
                <a:latin typeface="Calibri Light"/>
                <a:cs typeface="Calibri Light"/>
              </a:rPr>
              <a:t>. </a:t>
            </a:r>
            <a:r>
              <a:rPr lang="ko-KR" altLang="en-US" sz="900" dirty="0" err="1">
                <a:solidFill>
                  <a:srgbClr val="231F20"/>
                </a:solidFill>
                <a:latin typeface="Calibri Light"/>
                <a:cs typeface="Calibri Light"/>
              </a:rPr>
              <a:t>결정립</a:t>
            </a:r>
            <a:r>
              <a:rPr lang="ko-KR" altLang="en-US" sz="900" dirty="0">
                <a:solidFill>
                  <a:srgbClr val="231F20"/>
                </a:solidFill>
                <a:latin typeface="Calibri Light"/>
                <a:cs typeface="Calibri Light"/>
              </a:rPr>
              <a:t> 크기 및 구조에 대한 상세 평가 결과는 아래 표에 요약되어 있습니다</a:t>
            </a:r>
            <a:r>
              <a:rPr lang="en-US" altLang="ko-KR" sz="900" dirty="0">
                <a:solidFill>
                  <a:srgbClr val="231F20"/>
                </a:solidFill>
                <a:latin typeface="Calibri Light"/>
                <a:cs typeface="Calibri Light"/>
              </a:rPr>
              <a:t>.</a:t>
            </a:r>
            <a:endParaRPr sz="900" dirty="0">
              <a:latin typeface="Calibri Light"/>
              <a:cs typeface="Calibri Light"/>
            </a:endParaRPr>
          </a:p>
        </p:txBody>
      </p:sp>
      <p:pic>
        <p:nvPicPr>
          <p:cNvPr id="14" name="object 7">
            <a:extLst>
              <a:ext uri="{FF2B5EF4-FFF2-40B4-BE49-F238E27FC236}">
                <a16:creationId xmlns:a16="http://schemas.microsoft.com/office/drawing/2014/main" id="{B219835D-4880-460A-BE4D-9F291D8715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8042" y="6710150"/>
            <a:ext cx="3124200" cy="194593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122C52-3013-4C47-8DED-A41F07D168DA}"/>
              </a:ext>
            </a:extLst>
          </p:cNvPr>
          <p:cNvSpPr/>
          <p:nvPr/>
        </p:nvSpPr>
        <p:spPr>
          <a:xfrm>
            <a:off x="1207294" y="8896563"/>
            <a:ext cx="4672223" cy="62654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19999" y="2779282"/>
          <a:ext cx="6110604" cy="333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7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450">
                <a:tc gridSpan="2"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10"/>
                        </a:spcBef>
                        <a:tabLst>
                          <a:tab pos="1951989" algn="l"/>
                        </a:tabLst>
                      </a:pP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구분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항목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1000" b="1" spc="-6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법적·재무적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확정</a:t>
                      </a:r>
                      <a:r>
                        <a:rPr sz="1000" b="1" spc="-6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40970" marB="0">
                    <a:solidFill>
                      <a:srgbClr val="1D3A8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대상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사채의</a:t>
                      </a:r>
                      <a:r>
                        <a:rPr sz="1000" b="1" spc="-6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명칭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1445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주식회사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엑시온그룹</a:t>
                      </a:r>
                      <a:r>
                        <a:rPr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제11회차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무기명식</a:t>
                      </a:r>
                      <a:r>
                        <a:rPr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무보증</a:t>
                      </a:r>
                      <a:r>
                        <a:rPr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사모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전환사채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1445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권면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총액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000" spc="-80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Face</a:t>
                      </a:r>
                      <a:r>
                        <a:rPr sz="1000" spc="-70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000" spc="-10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Value</a:t>
                      </a:r>
                      <a:r>
                        <a:rPr sz="1000" b="1" spc="-1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금</a:t>
                      </a:r>
                      <a:r>
                        <a:rPr sz="1000" b="1" spc="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10,001,000,000원</a:t>
                      </a:r>
                      <a:r>
                        <a:rPr sz="1000" b="1" spc="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(일백억일백만원</a:t>
                      </a:r>
                      <a:r>
                        <a:rPr sz="1000" b="1" spc="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정)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000" b="1" spc="-7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사채권자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유한회사</a:t>
                      </a:r>
                      <a:r>
                        <a:rPr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케이리츠</a:t>
                      </a:r>
                      <a:r>
                        <a:rPr sz="1000" spc="-5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K-</a:t>
                      </a:r>
                      <a:r>
                        <a:rPr sz="1000" spc="-2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Rits</a:t>
                      </a:r>
                      <a:r>
                        <a:rPr sz="1000" spc="-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지정</a:t>
                      </a:r>
                      <a:r>
                        <a:rPr sz="1000" b="1" spc="-7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현재</a:t>
                      </a:r>
                      <a:r>
                        <a:rPr sz="1000" b="1" spc="-7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전환가액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금</a:t>
                      </a:r>
                      <a:r>
                        <a:rPr sz="1000" b="1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1,231원</a:t>
                      </a:r>
                      <a:r>
                        <a:rPr sz="1000" b="1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4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(1주당</a:t>
                      </a:r>
                      <a:r>
                        <a:rPr sz="1000" b="1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기준가)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발행</a:t>
                      </a:r>
                      <a:r>
                        <a:rPr sz="1000" b="1" spc="-7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b="1" spc="-7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납입일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spc="-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2025년</a:t>
                      </a:r>
                      <a:r>
                        <a:rPr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3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11월</a:t>
                      </a:r>
                      <a:r>
                        <a:rPr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13일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5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조기상환(</a:t>
                      </a:r>
                      <a:r>
                        <a:rPr sz="1000" spc="-55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Put</a:t>
                      </a:r>
                      <a:r>
                        <a:rPr sz="1000" b="1" spc="-5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r>
                        <a:rPr sz="1000" b="1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예정일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spc="-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2026년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4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2월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초순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(또는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협의에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따른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별도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지정일)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상환</a:t>
                      </a:r>
                      <a:r>
                        <a:rPr sz="1000" b="1" spc="-7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이자</a:t>
                      </a:r>
                      <a:r>
                        <a:rPr sz="1000" b="1" spc="-7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조건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발행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약정한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보장수익률을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소급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적용하여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계산된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이자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전액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가산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07299" y="1275160"/>
            <a:ext cx="6144895" cy="1303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500" b="1" spc="50" dirty="0">
                <a:solidFill>
                  <a:srgbClr val="1D3A89"/>
                </a:solidFill>
                <a:latin typeface="Malgun Gothic"/>
                <a:cs typeface="Malgun Gothic"/>
              </a:rPr>
              <a:t>4.</a:t>
            </a:r>
            <a:r>
              <a:rPr sz="1500" b="1" spc="-10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대상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사채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명세</a:t>
            </a:r>
            <a:r>
              <a:rPr sz="1500" b="1" spc="-10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및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인적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60" dirty="0">
                <a:solidFill>
                  <a:srgbClr val="1D3A89"/>
                </a:solidFill>
                <a:latin typeface="Malgun Gothic"/>
                <a:cs typeface="Malgun Gothic"/>
              </a:rPr>
              <a:t>정렬(</a:t>
            </a:r>
            <a:r>
              <a:rPr sz="1500" spc="-60" dirty="0">
                <a:solidFill>
                  <a:srgbClr val="1D3A89"/>
                </a:solidFill>
                <a:latin typeface="Arial Black"/>
                <a:cs typeface="Arial Black"/>
              </a:rPr>
              <a:t>Alignment</a:t>
            </a:r>
            <a:r>
              <a:rPr sz="1500" b="1" spc="-60" dirty="0">
                <a:solidFill>
                  <a:srgbClr val="1D3A89"/>
                </a:solidFill>
                <a:latin typeface="Malgun Gothic"/>
                <a:cs typeface="Malgun Gothic"/>
              </a:rPr>
              <a:t>)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1D3A89"/>
                </a:solidFill>
                <a:latin typeface="Malgun Gothic"/>
                <a:cs typeface="Malgun Gothic"/>
              </a:rPr>
              <a:t>분석</a:t>
            </a:r>
            <a:endParaRPr sz="15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200" b="1" dirty="0">
                <a:solidFill>
                  <a:srgbClr val="334154"/>
                </a:solidFill>
                <a:latin typeface="Malgun Gothic"/>
                <a:cs typeface="Malgun Gothic"/>
              </a:rPr>
              <a:t>4.1</a:t>
            </a:r>
            <a:r>
              <a:rPr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엑시온그룹</a:t>
            </a:r>
            <a:r>
              <a:rPr sz="1200" b="1" spc="-5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주식회사</a:t>
            </a:r>
            <a:r>
              <a:rPr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제11회차</a:t>
            </a:r>
            <a:r>
              <a:rPr sz="1200" b="1" spc="-5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90" dirty="0">
                <a:solidFill>
                  <a:srgbClr val="334154"/>
                </a:solidFill>
                <a:latin typeface="Malgun Gothic"/>
                <a:cs typeface="Malgun Gothic"/>
              </a:rPr>
              <a:t>전환사채(</a:t>
            </a:r>
            <a:r>
              <a:rPr sz="1200" spc="-90" dirty="0">
                <a:solidFill>
                  <a:srgbClr val="334154"/>
                </a:solidFill>
                <a:latin typeface="Arial Black"/>
                <a:cs typeface="Arial Black"/>
              </a:rPr>
              <a:t>CB</a:t>
            </a:r>
            <a:r>
              <a:rPr sz="1200" b="1" spc="-90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r>
              <a:rPr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세부</a:t>
            </a:r>
            <a:r>
              <a:rPr sz="1200" b="1" spc="-5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조건</a:t>
            </a:r>
            <a:endParaRPr sz="1200">
              <a:latin typeface="Malgun Gothic"/>
              <a:cs typeface="Malgun Gothic"/>
            </a:endParaRPr>
          </a:p>
          <a:p>
            <a:pPr marL="12700" marR="5080">
              <a:lnSpc>
                <a:spcPct val="141700"/>
              </a:lnSpc>
              <a:spcBef>
                <a:spcPts val="1080"/>
              </a:spcBef>
            </a:pP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구조화의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대상이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되는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사채는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이미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정식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발행되어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자본시장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내에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존재하는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정통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제도권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채권으로서,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세부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내역은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다음과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같이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확정되어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있습니다.</a:t>
            </a:r>
            <a:endParaRPr sz="105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2068" y="6770613"/>
            <a:ext cx="111125" cy="114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9999" y="6737049"/>
            <a:ext cx="6145530" cy="183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34154"/>
                </a:solidFill>
                <a:latin typeface="Malgun Gothic"/>
                <a:cs typeface="Malgun Gothic"/>
              </a:rPr>
              <a:t>4.2</a:t>
            </a:r>
            <a:r>
              <a:rPr sz="1200" b="1" spc="-6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친족</a:t>
            </a:r>
            <a:r>
              <a:rPr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네트워크</a:t>
            </a:r>
            <a:r>
              <a:rPr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기반의</a:t>
            </a:r>
            <a:r>
              <a:rPr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거래</a:t>
            </a:r>
            <a:r>
              <a:rPr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확실성(</a:t>
            </a:r>
            <a:r>
              <a:rPr sz="1200" spc="-75" dirty="0">
                <a:solidFill>
                  <a:srgbClr val="334154"/>
                </a:solidFill>
                <a:latin typeface="Arial Black"/>
                <a:cs typeface="Arial Black"/>
              </a:rPr>
              <a:t>Deal</a:t>
            </a:r>
            <a:r>
              <a:rPr sz="1200" spc="-60" dirty="0">
                <a:solidFill>
                  <a:srgbClr val="334154"/>
                </a:solidFill>
                <a:latin typeface="Arial Black"/>
                <a:cs typeface="Arial Black"/>
              </a:rPr>
              <a:t> </a:t>
            </a:r>
            <a:r>
              <a:rPr sz="1200" spc="-10" dirty="0">
                <a:solidFill>
                  <a:srgbClr val="334154"/>
                </a:solidFill>
                <a:latin typeface="Arial Black"/>
                <a:cs typeface="Arial Black"/>
              </a:rPr>
              <a:t>Certainty</a:t>
            </a:r>
            <a:r>
              <a:rPr sz="1200" b="1" spc="-10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endParaRPr sz="120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일반적인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구조화</a:t>
            </a:r>
            <a:r>
              <a:rPr sz="1050" spc="9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융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딜에서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가장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빈번하게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발생하는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실패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요인은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'기존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채권자의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변심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알박기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행위'입니다.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그러나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건의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경우,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현재</a:t>
            </a:r>
            <a:r>
              <a:rPr sz="1050" b="1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사채권자인</a:t>
            </a:r>
            <a:r>
              <a:rPr sz="1050" b="1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유한회사</a:t>
            </a:r>
            <a:r>
              <a:rPr sz="1050" b="1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케이리츠의</a:t>
            </a:r>
            <a:r>
              <a:rPr sz="1050" b="1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실질</a:t>
            </a:r>
            <a:r>
              <a:rPr sz="1050" b="1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의사결정권자가</a:t>
            </a:r>
            <a:r>
              <a:rPr sz="1050" b="1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제안자의</a:t>
            </a:r>
            <a:r>
              <a:rPr sz="1050" b="1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친동생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으로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0" dirty="0">
                <a:solidFill>
                  <a:srgbClr val="1D283B"/>
                </a:solidFill>
                <a:latin typeface="Malgun Gothic"/>
                <a:cs typeface="Malgun Gothic"/>
              </a:rPr>
              <a:t>확인되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어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인적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10" dirty="0">
                <a:solidFill>
                  <a:srgbClr val="1D283B"/>
                </a:solidFill>
                <a:latin typeface="Malgun Gothic"/>
                <a:cs typeface="Malgun Gothic"/>
              </a:rPr>
              <a:t>정렬(</a:t>
            </a:r>
            <a:r>
              <a:rPr sz="1050" spc="10" dirty="0">
                <a:solidFill>
                  <a:srgbClr val="1D283B"/>
                </a:solidFill>
                <a:latin typeface="Microsoft Sans Serif"/>
                <a:cs typeface="Microsoft Sans Serif"/>
              </a:rPr>
              <a:t>Human</a:t>
            </a:r>
            <a:r>
              <a:rPr sz="1050" spc="-1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25" dirty="0">
                <a:solidFill>
                  <a:srgbClr val="1D283B"/>
                </a:solidFill>
                <a:latin typeface="Microsoft Sans Serif"/>
                <a:cs typeface="Microsoft Sans Serif"/>
              </a:rPr>
              <a:t>Alignment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)이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완벽하게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이루어져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있습니다.</a:t>
            </a:r>
            <a:endParaRPr sz="1050">
              <a:latin typeface="Malgun Gothic"/>
              <a:cs typeface="Malgun Gothic"/>
            </a:endParaRPr>
          </a:p>
          <a:p>
            <a:pPr marL="12700" marR="5715" algn="just">
              <a:lnSpc>
                <a:spcPct val="141700"/>
              </a:lnSpc>
              <a:spcBef>
                <a:spcPts val="105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이는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이사회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의결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사채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양도에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대한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서면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동의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사전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조율을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완벽히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통제할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수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있음을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의미하며,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디딤파트너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스와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현대자산운용이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우려하는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'집행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리스크'를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원천적으로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해제하여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시장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내에서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100%의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거래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확실성을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40" dirty="0">
                <a:solidFill>
                  <a:srgbClr val="1D283B"/>
                </a:solidFill>
                <a:latin typeface="Malgun Gothic"/>
                <a:cs typeface="Malgun Gothic"/>
              </a:rPr>
              <a:t>보장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하는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강력한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소구점이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됩니다.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707299" y="377563"/>
            <a:ext cx="2715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93A3B8"/>
                </a:solidFill>
                <a:latin typeface="Arial Black"/>
                <a:cs typeface="Arial Black"/>
              </a:rPr>
              <a:t>PROJECT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METIS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210" dirty="0">
                <a:solidFill>
                  <a:srgbClr val="93A3B8"/>
                </a:solidFill>
                <a:latin typeface="Arial Black"/>
                <a:cs typeface="Arial Black"/>
              </a:rPr>
              <a:t>|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INVESTMENT</a:t>
            </a:r>
            <a:r>
              <a:rPr sz="800" spc="30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93A3B8"/>
                </a:solidFill>
                <a:latin typeface="Arial Black"/>
                <a:cs typeface="Arial Black"/>
              </a:rPr>
              <a:t>MEMORANDUM</a:t>
            </a:r>
            <a:endParaRPr sz="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5242" y="2433563"/>
            <a:ext cx="111125" cy="1143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07299" y="1275160"/>
            <a:ext cx="6145530" cy="4373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500" b="1" spc="50" dirty="0">
                <a:solidFill>
                  <a:srgbClr val="1D3A89"/>
                </a:solidFill>
                <a:latin typeface="Malgun Gothic"/>
                <a:cs typeface="Malgun Gothic"/>
              </a:rPr>
              <a:t>6.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참여사별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맞춤형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전략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dirty="0">
                <a:solidFill>
                  <a:srgbClr val="1D3A89"/>
                </a:solidFill>
                <a:latin typeface="Malgun Gothic"/>
                <a:cs typeface="Malgun Gothic"/>
              </a:rPr>
              <a:t>①: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무루아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90" dirty="0">
                <a:solidFill>
                  <a:srgbClr val="1D3A89"/>
                </a:solidFill>
                <a:latin typeface="Malgun Gothic"/>
                <a:cs typeface="Malgun Gothic"/>
              </a:rPr>
              <a:t>&amp;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0" dirty="0">
                <a:solidFill>
                  <a:srgbClr val="1D3A89"/>
                </a:solidFill>
                <a:latin typeface="Malgun Gothic"/>
                <a:cs typeface="Malgun Gothic"/>
              </a:rPr>
              <a:t>유니코에너지그룹</a:t>
            </a:r>
            <a:endParaRPr sz="1500" dirty="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2165"/>
              </a:spcBef>
              <a:buClr>
                <a:srgbClr val="334154"/>
              </a:buClr>
              <a:buFont typeface="Malgun Gothic"/>
              <a:buAutoNum type="arabicPeriod"/>
              <a:tabLst>
                <a:tab pos="284480" algn="l"/>
              </a:tabLst>
            </a:pP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비현금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실물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자산의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상장사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334154"/>
                </a:solidFill>
                <a:latin typeface="Malgun Gothic"/>
                <a:cs typeface="Malgun Gothic"/>
              </a:rPr>
              <a:t>자본화(</a:t>
            </a:r>
            <a:r>
              <a:rPr sz="1200" spc="-10" dirty="0">
                <a:solidFill>
                  <a:srgbClr val="334154"/>
                </a:solidFill>
                <a:latin typeface="Arial Black"/>
                <a:cs typeface="Arial Black"/>
              </a:rPr>
              <a:t>Securitization</a:t>
            </a:r>
            <a:r>
              <a:rPr sz="1200" b="1" spc="-10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endParaRPr sz="120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무루아와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유니코에너지그룹이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보유한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6</a:t>
            </a:r>
            <a:r>
              <a:rPr sz="1050" spc="15" dirty="0">
                <a:solidFill>
                  <a:srgbClr val="1D283B"/>
                </a:solidFill>
                <a:latin typeface="Microsoft Sans Serif"/>
                <a:cs typeface="Microsoft Sans Serif"/>
              </a:rPr>
              <a:t>N</a:t>
            </a:r>
            <a:r>
              <a:rPr sz="1050" spc="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구리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분말은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기술적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가치에도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불구하고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실물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형태로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장기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보관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시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감가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상각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관리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비용이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발생하며,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즉각적인</a:t>
            </a:r>
            <a:r>
              <a:rPr sz="1050" spc="9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융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레버리지를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일으키기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어려운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단점이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있었습니다.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딜을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통해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20" dirty="0">
                <a:solidFill>
                  <a:srgbClr val="1D283B"/>
                </a:solidFill>
                <a:latin typeface="Malgun Gothic"/>
                <a:cs typeface="Malgun Gothic"/>
              </a:rPr>
              <a:t>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루아는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실물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자산을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제도권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상장사의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핵심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자본인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'전환사채(</a:t>
            </a:r>
            <a:r>
              <a:rPr sz="1050" spc="-40" dirty="0">
                <a:solidFill>
                  <a:srgbClr val="1D283B"/>
                </a:solidFill>
                <a:latin typeface="Microsoft Sans Serif"/>
                <a:cs typeface="Microsoft Sans Serif"/>
              </a:rPr>
              <a:t>CB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)'로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치환함으로써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자산의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유동성을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극대화하는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5" dirty="0">
                <a:solidFill>
                  <a:srgbClr val="1D283B"/>
                </a:solidFill>
                <a:latin typeface="Malgun Gothic"/>
                <a:cs typeface="Malgun Gothic"/>
              </a:rPr>
              <a:t>유동화(</a:t>
            </a:r>
            <a:r>
              <a:rPr sz="1050" spc="5" dirty="0">
                <a:solidFill>
                  <a:srgbClr val="1D283B"/>
                </a:solidFill>
                <a:latin typeface="Microsoft Sans Serif"/>
                <a:cs typeface="Microsoft Sans Serif"/>
              </a:rPr>
              <a:t>Securitization</a:t>
            </a:r>
            <a:r>
              <a:rPr sz="1050" spc="5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혜택을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직접적으로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누리게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됩니다.</a:t>
            </a:r>
            <a:endParaRPr sz="105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 dirty="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5"/>
              </a:spcBef>
              <a:buClr>
                <a:srgbClr val="334154"/>
              </a:buClr>
              <a:buFont typeface="Malgun Gothic"/>
              <a:buAutoNum type="arabicPeriod" startAt="2"/>
              <a:tabLst>
                <a:tab pos="284480" algn="l"/>
              </a:tabLst>
            </a:pP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주가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상승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시나리오에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따른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자산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가치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334154"/>
                </a:solidFill>
                <a:latin typeface="Malgun Gothic"/>
                <a:cs typeface="Malgun Gothic"/>
              </a:rPr>
              <a:t>업사이드(</a:t>
            </a:r>
            <a:r>
              <a:rPr sz="1200" spc="-10" dirty="0">
                <a:solidFill>
                  <a:srgbClr val="334154"/>
                </a:solidFill>
                <a:latin typeface="Arial Black"/>
                <a:cs typeface="Arial Black"/>
              </a:rPr>
              <a:t>Upside</a:t>
            </a:r>
            <a:r>
              <a:rPr sz="1200" b="1" spc="-10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endParaRPr sz="120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현재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지정된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전환가액은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25" dirty="0">
                <a:solidFill>
                  <a:srgbClr val="1D283B"/>
                </a:solidFill>
                <a:latin typeface="Malgun Gothic"/>
                <a:cs typeface="Malgun Gothic"/>
              </a:rPr>
              <a:t>1,231원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으로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극도로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저평가된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구간에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위치해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있습니다.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양수도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공시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반도체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75" dirty="0">
                <a:solidFill>
                  <a:srgbClr val="1D283B"/>
                </a:solidFill>
                <a:latin typeface="Malgun Gothic"/>
                <a:cs typeface="Malgun Gothic"/>
              </a:rPr>
              <a:t>신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사업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진출이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본격화되어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상장사의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주가가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리레이팅될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경우,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무루아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측은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사채의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단순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70" dirty="0">
                <a:solidFill>
                  <a:srgbClr val="1D283B"/>
                </a:solidFill>
                <a:latin typeface="Malgun Gothic"/>
                <a:cs typeface="Malgun Gothic"/>
              </a:rPr>
              <a:t>원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en-US" altLang="ko-KR"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금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수취를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넘어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주식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을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통한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폭발적인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시세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차익(</a:t>
            </a:r>
            <a:r>
              <a:rPr sz="1050" spc="-5" dirty="0">
                <a:solidFill>
                  <a:srgbClr val="1D283B"/>
                </a:solidFill>
                <a:latin typeface="Microsoft Sans Serif"/>
                <a:cs typeface="Microsoft Sans Serif"/>
              </a:rPr>
              <a:t>Capital</a:t>
            </a:r>
            <a:r>
              <a:rPr sz="1050" spc="-1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5" dirty="0">
                <a:solidFill>
                  <a:srgbClr val="1D283B"/>
                </a:solidFill>
                <a:latin typeface="Microsoft Sans Serif"/>
                <a:cs typeface="Microsoft Sans Serif"/>
              </a:rPr>
              <a:t>Gain</a:t>
            </a:r>
            <a:r>
              <a:rPr sz="1050" spc="-5" dirty="0">
                <a:solidFill>
                  <a:srgbClr val="1D283B"/>
                </a:solidFill>
                <a:latin typeface="Malgun Gothic"/>
                <a:cs typeface="Malgun Gothic"/>
              </a:rPr>
              <a:t>)을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도모할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수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있습니다.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즉,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하방은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100억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원의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원</a:t>
            </a:r>
            <a:r>
              <a:rPr lang="ko-KR" altLang="en-US" sz="1050" spc="605" dirty="0">
                <a:solidFill>
                  <a:srgbClr val="1D283B"/>
                </a:solidFill>
                <a:latin typeface="Malgun Gothic"/>
                <a:cs typeface="Malgun Gothic"/>
              </a:rPr>
              <a:t>금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과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상환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이자로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20" dirty="0">
                <a:solidFill>
                  <a:srgbClr val="1D283B"/>
                </a:solidFill>
                <a:latin typeface="Malgun Gothic"/>
                <a:cs typeface="Malgun Gothic"/>
              </a:rPr>
              <a:t>단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단히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막아두고,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상방은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주가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상승에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따라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무제한으로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열어두는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최고의</a:t>
            </a:r>
            <a:r>
              <a:rPr lang="en-US" altLang="ko-KR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금융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포지션을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확보하게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됩니다.</a:t>
            </a:r>
            <a:endParaRPr sz="105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050" dirty="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buClr>
                <a:srgbClr val="334154"/>
              </a:buClr>
              <a:buFont typeface="Malgun Gothic"/>
              <a:buAutoNum type="arabicPeriod" startAt="3"/>
              <a:tabLst>
                <a:tab pos="284480" algn="l"/>
              </a:tabLst>
            </a:pP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현대자산운용과의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금융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연계를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통한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단기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엑시트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35" dirty="0">
                <a:solidFill>
                  <a:srgbClr val="334154"/>
                </a:solidFill>
                <a:latin typeface="Malgun Gothic"/>
                <a:cs typeface="Malgun Gothic"/>
              </a:rPr>
              <a:t>경로</a:t>
            </a:r>
            <a:endParaRPr sz="1200" dirty="0">
              <a:latin typeface="Malgun Gothic"/>
              <a:cs typeface="Malgun Gothic"/>
            </a:endParaRPr>
          </a:p>
          <a:p>
            <a:pPr marL="12700" marR="6350" algn="just">
              <a:lnSpc>
                <a:spcPct val="141700"/>
              </a:lnSpc>
              <a:spcBef>
                <a:spcPts val="1080"/>
              </a:spcBef>
            </a:pP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무루아가</a:t>
            </a:r>
            <a:r>
              <a:rPr sz="1050" spc="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인수한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100억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규모의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1D283B"/>
                </a:solidFill>
                <a:latin typeface="Microsoft Sans Serif"/>
                <a:cs typeface="Microsoft Sans Serif"/>
              </a:rPr>
              <a:t>CB</a:t>
            </a:r>
            <a:r>
              <a:rPr sz="1050" spc="-95" dirty="0">
                <a:solidFill>
                  <a:srgbClr val="1D283B"/>
                </a:solidFill>
                <a:latin typeface="Malgun Gothic"/>
                <a:cs typeface="Malgun Gothic"/>
              </a:rPr>
              <a:t>는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0" dirty="0">
                <a:solidFill>
                  <a:srgbClr val="1D283B"/>
                </a:solidFill>
                <a:latin typeface="Malgun Gothic"/>
                <a:cs typeface="Malgun Gothic"/>
              </a:rPr>
              <a:t>장기</a:t>
            </a:r>
            <a:r>
              <a:rPr sz="1050" spc="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0" dirty="0">
                <a:solidFill>
                  <a:srgbClr val="1D283B"/>
                </a:solidFill>
                <a:latin typeface="Malgun Gothic"/>
                <a:cs typeface="Malgun Gothic"/>
              </a:rPr>
              <a:t>보유</a:t>
            </a:r>
            <a:r>
              <a:rPr sz="1050" spc="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0" dirty="0">
                <a:solidFill>
                  <a:srgbClr val="1D283B"/>
                </a:solidFill>
                <a:latin typeface="Malgun Gothic"/>
                <a:cs typeface="Malgun Gothic"/>
              </a:rPr>
              <a:t>목적</a:t>
            </a:r>
            <a:r>
              <a:rPr sz="1050" spc="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외에도,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후술할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1D283B"/>
                </a:solidFill>
                <a:latin typeface="Malgun Gothic"/>
                <a:cs typeface="Malgun Gothic"/>
              </a:rPr>
              <a:t>현대자산운용의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사모펀드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0" dirty="0">
                <a:solidFill>
                  <a:srgbClr val="1D283B"/>
                </a:solidFill>
                <a:latin typeface="Malgun Gothic"/>
                <a:cs typeface="Malgun Gothic"/>
              </a:rPr>
              <a:t>구조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0" dirty="0">
                <a:solidFill>
                  <a:srgbClr val="1D283B"/>
                </a:solidFill>
                <a:latin typeface="Malgun Gothic"/>
                <a:cs typeface="Malgun Gothic"/>
              </a:rPr>
              <a:t>내에</a:t>
            </a:r>
            <a:r>
              <a:rPr sz="1050" spc="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담보로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제공되거나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블록딜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매칭을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통해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발행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후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조기에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일정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 err="1">
                <a:solidFill>
                  <a:srgbClr val="1D283B"/>
                </a:solidFill>
                <a:latin typeface="Malgun Gothic"/>
                <a:cs typeface="Malgun Gothic"/>
              </a:rPr>
              <a:t>부분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현</a:t>
            </a:r>
            <a:r>
              <a:rPr lang="ko-KR" altLang="en-US" sz="1050" spc="125" dirty="0">
                <a:solidFill>
                  <a:srgbClr val="1D283B"/>
                </a:solidFill>
                <a:latin typeface="Malgun Gothic"/>
                <a:cs typeface="Malgun Gothic"/>
              </a:rPr>
              <a:t>금</a:t>
            </a:r>
            <a:r>
              <a:rPr sz="1050" spc="-90" dirty="0" err="1">
                <a:solidFill>
                  <a:srgbClr val="1D283B"/>
                </a:solidFill>
                <a:latin typeface="Malgun Gothic"/>
                <a:cs typeface="Malgun Gothic"/>
              </a:rPr>
              <a:t>화할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수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있는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안전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패스트트랙(</a:t>
            </a:r>
            <a:r>
              <a:rPr sz="1050" spc="-50" dirty="0">
                <a:solidFill>
                  <a:srgbClr val="1D283B"/>
                </a:solidFill>
                <a:latin typeface="Microsoft Sans Serif"/>
                <a:cs typeface="Microsoft Sans Serif"/>
              </a:rPr>
              <a:t>Fast-</a:t>
            </a:r>
            <a:r>
              <a:rPr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Track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0" dirty="0" err="1">
                <a:solidFill>
                  <a:srgbClr val="1D283B"/>
                </a:solidFill>
                <a:latin typeface="Malgun Gothic"/>
                <a:cs typeface="Malgun Gothic"/>
              </a:rPr>
              <a:t>경로</a:t>
            </a:r>
            <a:r>
              <a:rPr sz="1050" spc="-90" dirty="0" err="1">
                <a:solidFill>
                  <a:srgbClr val="1D283B"/>
                </a:solidFill>
                <a:latin typeface="Malgun Gothic"/>
                <a:cs typeface="Malgun Gothic"/>
              </a:rPr>
              <a:t>가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보장됩니다.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707299" y="377563"/>
            <a:ext cx="2715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93A3B8"/>
                </a:solidFill>
                <a:latin typeface="Arial Black"/>
                <a:cs typeface="Arial Black"/>
              </a:rPr>
              <a:t>PROJECT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METIS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210" dirty="0">
                <a:solidFill>
                  <a:srgbClr val="93A3B8"/>
                </a:solidFill>
                <a:latin typeface="Arial Black"/>
                <a:cs typeface="Arial Black"/>
              </a:rPr>
              <a:t>|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INVESTMENT</a:t>
            </a:r>
            <a:r>
              <a:rPr sz="800" spc="30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93A3B8"/>
                </a:solidFill>
                <a:latin typeface="Arial Black"/>
                <a:cs typeface="Arial Black"/>
              </a:rPr>
              <a:t>MEMORANDUM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D0FBE7AD-80A2-4340-8152-367B8C1CB8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0843" y="8461288"/>
            <a:ext cx="101600" cy="120650"/>
          </a:xfrm>
          <a:prstGeom prst="rect">
            <a:avLst/>
          </a:prstGeom>
        </p:spPr>
      </p:pic>
      <p:sp>
        <p:nvSpPr>
          <p:cNvPr id="11" name="object 4">
            <a:extLst>
              <a:ext uri="{FF2B5EF4-FFF2-40B4-BE49-F238E27FC236}">
                <a16:creationId xmlns:a16="http://schemas.microsoft.com/office/drawing/2014/main" id="{D47C645D-1446-4CEF-981C-5FAB68710665}"/>
              </a:ext>
            </a:extLst>
          </p:cNvPr>
          <p:cNvSpPr txBox="1"/>
          <p:nvPr/>
        </p:nvSpPr>
        <p:spPr>
          <a:xfrm>
            <a:off x="707299" y="7535930"/>
            <a:ext cx="6335648" cy="188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500" b="1" spc="50" dirty="0">
                <a:solidFill>
                  <a:srgbClr val="1D3A89"/>
                </a:solidFill>
                <a:latin typeface="Malgun Gothic"/>
                <a:cs typeface="Malgun Gothic"/>
              </a:rPr>
              <a:t>7.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참여사별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맞춤형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전략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dirty="0">
                <a:solidFill>
                  <a:srgbClr val="1D3A89"/>
                </a:solidFill>
                <a:latin typeface="Malgun Gothic"/>
                <a:cs typeface="Malgun Gothic"/>
              </a:rPr>
              <a:t>②: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5" dirty="0">
                <a:solidFill>
                  <a:srgbClr val="1D3A89"/>
                </a:solidFill>
                <a:latin typeface="Malgun Gothic"/>
                <a:cs typeface="Malgun Gothic"/>
              </a:rPr>
              <a:t>디딤파트너스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80" dirty="0">
                <a:solidFill>
                  <a:srgbClr val="1D3A89"/>
                </a:solidFill>
                <a:latin typeface="Malgun Gothic"/>
                <a:cs typeface="Malgun Gothic"/>
              </a:rPr>
              <a:t>(법적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안전장치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1D3A89"/>
                </a:solidFill>
                <a:latin typeface="Malgun Gothic"/>
                <a:cs typeface="Malgun Gothic"/>
              </a:rPr>
              <a:t>명분)</a:t>
            </a:r>
            <a:endParaRPr sz="15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200" b="1" dirty="0">
                <a:solidFill>
                  <a:srgbClr val="334154"/>
                </a:solidFill>
                <a:latin typeface="Malgun Gothic"/>
                <a:cs typeface="Malgun Gothic"/>
              </a:rPr>
              <a:t>7.1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이사회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배임</a:t>
            </a:r>
            <a:r>
              <a:rPr sz="1200" b="1" spc="-6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리스크의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원천적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차단</a:t>
            </a:r>
            <a:r>
              <a:rPr sz="1200" b="1" spc="-6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논리</a:t>
            </a:r>
            <a:endParaRPr sz="120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자본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거래에서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기업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거버넌스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전문가인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디딤파트너스가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가장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집중적으로</a:t>
            </a:r>
            <a:r>
              <a:rPr sz="1050" spc="9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토해야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할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대목은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상법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제399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조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제401조에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따른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'이사회의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선관주의</a:t>
            </a:r>
            <a:r>
              <a:rPr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의무</a:t>
            </a:r>
            <a:r>
              <a:rPr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위반</a:t>
            </a:r>
            <a:r>
              <a:rPr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배임</a:t>
            </a:r>
            <a:r>
              <a:rPr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50" dirty="0">
                <a:solidFill>
                  <a:srgbClr val="1D283B"/>
                </a:solidFill>
                <a:latin typeface="Malgun Gothic"/>
                <a:cs typeface="Malgun Gothic"/>
              </a:rPr>
              <a:t>죄'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의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방어입니다.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고가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매입이나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부실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5" dirty="0">
                <a:solidFill>
                  <a:srgbClr val="1D283B"/>
                </a:solidFill>
                <a:latin typeface="Malgun Gothic"/>
                <a:cs typeface="Malgun Gothic"/>
              </a:rPr>
              <a:t>편입은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소액주주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연대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규제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당국의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표적이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되기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쉽습니다.</a:t>
            </a:r>
            <a:endParaRPr sz="105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5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디딤파트너스는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거래의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정당성을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확보하기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위해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다음의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3대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방어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논리를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사전에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구축하여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이사회를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 err="1">
                <a:solidFill>
                  <a:srgbClr val="1D283B"/>
                </a:solidFill>
                <a:latin typeface="Malgun Gothic"/>
                <a:cs typeface="Malgun Gothic"/>
              </a:rPr>
              <a:t>엄호합니</a:t>
            </a:r>
            <a:r>
              <a:rPr sz="1050" spc="-15" dirty="0" err="1">
                <a:solidFill>
                  <a:srgbClr val="1D283B"/>
                </a:solidFill>
                <a:latin typeface="Malgun Gothic"/>
                <a:cs typeface="Malgun Gothic"/>
              </a:rPr>
              <a:t>다</a:t>
            </a:r>
            <a:r>
              <a:rPr sz="1050" spc="-15" dirty="0">
                <a:solidFill>
                  <a:srgbClr val="1D283B"/>
                </a:solidFill>
                <a:latin typeface="Malgun Gothic"/>
                <a:cs typeface="Malgun Gothic"/>
              </a:rPr>
              <a:t>.</a:t>
            </a:r>
            <a:endParaRPr sz="1050" dirty="0">
              <a:latin typeface="Malgun Gothic"/>
              <a:cs typeface="Malgun Gothic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DA5847-DCB6-4C41-80EF-D359FB60D041}"/>
              </a:ext>
            </a:extLst>
          </p:cNvPr>
          <p:cNvCxnSpPr/>
          <p:nvPr/>
        </p:nvCxnSpPr>
        <p:spPr>
          <a:xfrm>
            <a:off x="695396" y="7535930"/>
            <a:ext cx="0" cy="233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17CD8688-4232-4C46-ACD7-79D03C2C6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19" y="7452378"/>
            <a:ext cx="295316" cy="40010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FC0A113-817F-450A-ABE5-4A5449C2DC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779" y="5938994"/>
            <a:ext cx="1207709" cy="120770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2A034B7-910D-4868-ADD8-7A3DC40B7D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4" y="5895171"/>
            <a:ext cx="1429160" cy="142916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8322884-0862-4A0B-85F8-E8065AD519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705" y="5919367"/>
            <a:ext cx="1207709" cy="1207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003" y="4401456"/>
            <a:ext cx="111125" cy="1143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6450" y="3746500"/>
            <a:ext cx="6144895" cy="1026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34154"/>
                </a:solidFill>
                <a:latin typeface="Malgun Gothic"/>
                <a:cs typeface="Malgun Gothic"/>
              </a:rPr>
              <a:t>7.2</a:t>
            </a:r>
            <a:r>
              <a:rPr sz="1200" b="1" spc="-5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시장</a:t>
            </a:r>
            <a:r>
              <a:rPr sz="1200" b="1" spc="-5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소통</a:t>
            </a:r>
            <a:r>
              <a:rPr sz="1200" b="1" spc="-4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및</a:t>
            </a:r>
            <a:r>
              <a:rPr sz="1200" b="1" spc="-5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컴플라이언스(</a:t>
            </a:r>
            <a:r>
              <a:rPr sz="1200" spc="-80" dirty="0">
                <a:solidFill>
                  <a:srgbClr val="334154"/>
                </a:solidFill>
                <a:latin typeface="Arial Black"/>
                <a:cs typeface="Arial Black"/>
              </a:rPr>
              <a:t>Compliance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r>
              <a:rPr sz="1200" b="1" spc="-4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리드</a:t>
            </a:r>
            <a:endParaRPr sz="120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디딤파트너스는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거래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전반의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투명한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공시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문안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작성과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이사회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회의록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정리를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주도하여,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향후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발생할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수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있는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0" dirty="0">
                <a:solidFill>
                  <a:srgbClr val="1D283B"/>
                </a:solidFill>
                <a:latin typeface="Malgun Gothic"/>
                <a:cs typeface="Malgun Gothic"/>
              </a:rPr>
              <a:t>소액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주주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분쟁이나</a:t>
            </a:r>
            <a:r>
              <a:rPr sz="1050" spc="9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융감독원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정정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요구를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선제적으로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통제함으로써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거버넌스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파트너로서의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독보적인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위상을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40" dirty="0">
                <a:solidFill>
                  <a:srgbClr val="1D283B"/>
                </a:solidFill>
                <a:latin typeface="Malgun Gothic"/>
                <a:cs typeface="Malgun Gothic"/>
              </a:rPr>
              <a:t>증명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할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것입니다.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7299" y="377563"/>
            <a:ext cx="2715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93A3B8"/>
                </a:solidFill>
                <a:latin typeface="Arial Black"/>
                <a:cs typeface="Arial Black"/>
              </a:rPr>
              <a:t>PROJECT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METIS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210" dirty="0">
                <a:solidFill>
                  <a:srgbClr val="93A3B8"/>
                </a:solidFill>
                <a:latin typeface="Arial Black"/>
                <a:cs typeface="Arial Black"/>
              </a:rPr>
              <a:t>|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INVESTMENT</a:t>
            </a:r>
            <a:r>
              <a:rPr sz="800" spc="30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93A3B8"/>
                </a:solidFill>
                <a:latin typeface="Arial Black"/>
                <a:cs typeface="Arial Black"/>
              </a:rPr>
              <a:t>MEMORANDUM</a:t>
            </a:r>
            <a:endParaRPr sz="800">
              <a:latin typeface="Arial Black"/>
              <a:cs typeface="Arial Black"/>
            </a:endParaRP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1BD0C432-9009-4FBD-BE7A-59662F63C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764652"/>
              </p:ext>
            </p:extLst>
          </p:nvPr>
        </p:nvGraphicFramePr>
        <p:xfrm>
          <a:off x="819150" y="1199430"/>
          <a:ext cx="6110604" cy="231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7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450">
                <a:tc gridSpan="2"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10"/>
                        </a:spcBef>
                        <a:tabLst>
                          <a:tab pos="1951989" algn="l"/>
                        </a:tabLst>
                      </a:pPr>
                      <a:r>
                        <a:rPr sz="1000" b="1" spc="-8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리스크</a:t>
                      </a:r>
                      <a:r>
                        <a:rPr sz="1000" b="1" spc="-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요인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1000" b="1" spc="-8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디딤파트너스</a:t>
                      </a:r>
                      <a:r>
                        <a:rPr sz="1000" b="1" spc="-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주도의</a:t>
                      </a:r>
                      <a:r>
                        <a:rPr sz="1000" b="1" spc="-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6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법적·회계적</a:t>
                      </a:r>
                      <a:r>
                        <a:rPr sz="1000" b="1" spc="-5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방어</a:t>
                      </a:r>
                      <a:r>
                        <a:rPr sz="1000" b="1" spc="-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장치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40970" marB="0">
                    <a:solidFill>
                      <a:srgbClr val="1D3A8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자산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가치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고평가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시비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144145">
                        <a:lnSpc>
                          <a:spcPct val="141700"/>
                        </a:lnSpc>
                        <a:spcBef>
                          <a:spcPts val="535"/>
                        </a:spcBef>
                      </a:pP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스위스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ISE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공식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평가서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외부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대형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회계법인의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자산감정평가서를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첨부하여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100억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원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가치의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객관적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정당성을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확보.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경영성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목적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결여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의혹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218440">
                        <a:lnSpc>
                          <a:spcPct val="141700"/>
                        </a:lnSpc>
                        <a:spcBef>
                          <a:spcPts val="570"/>
                        </a:spcBef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정관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변경을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통한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반도체·배터리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소재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공급망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사업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추가로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'정당한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신사업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진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출을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위한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경영상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판단'임을 </a:t>
                      </a:r>
                      <a:r>
                        <a:rPr sz="1000" spc="-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명시화.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특수관계인</a:t>
                      </a:r>
                      <a:r>
                        <a:rPr sz="1000" b="1" spc="-6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거래</a:t>
                      </a:r>
                      <a:r>
                        <a:rPr sz="1000" b="1" spc="-6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시비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189230">
                        <a:lnSpc>
                          <a:spcPct val="141700"/>
                        </a:lnSpc>
                        <a:spcBef>
                          <a:spcPts val="570"/>
                        </a:spcBef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채권자(케이리츠)와</a:t>
                      </a:r>
                      <a:r>
                        <a:rPr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신규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채권자(유니코)</a:t>
                      </a:r>
                      <a:r>
                        <a:rPr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간의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거래가</a:t>
                      </a:r>
                      <a:r>
                        <a:rPr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상장사의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4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현</a:t>
                      </a:r>
                      <a:r>
                        <a:rPr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1000" spc="-5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금</a:t>
                      </a:r>
                      <a:r>
                        <a:rPr sz="1000" spc="-50" dirty="0" err="1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부</a:t>
                      </a:r>
                      <a:r>
                        <a:rPr sz="1000" spc="-80" dirty="0" err="1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담을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전면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배제하므로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'회사에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유익한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거래'임을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입증.</a:t>
                      </a:r>
                      <a:endParaRPr sz="1000" dirty="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object 2">
            <a:extLst>
              <a:ext uri="{FF2B5EF4-FFF2-40B4-BE49-F238E27FC236}">
                <a16:creationId xmlns:a16="http://schemas.microsoft.com/office/drawing/2014/main" id="{D4C4E902-73D8-42FF-B98B-39821B89FD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5471" y="6389618"/>
            <a:ext cx="111125" cy="114300"/>
          </a:xfrm>
          <a:prstGeom prst="rect">
            <a:avLst/>
          </a:prstGeom>
        </p:spPr>
      </p:pic>
      <p:sp>
        <p:nvSpPr>
          <p:cNvPr id="12" name="object 8">
            <a:extLst>
              <a:ext uri="{FF2B5EF4-FFF2-40B4-BE49-F238E27FC236}">
                <a16:creationId xmlns:a16="http://schemas.microsoft.com/office/drawing/2014/main" id="{B7E4E2C8-51AC-4E68-8980-764FBB76FA6E}"/>
              </a:ext>
            </a:extLst>
          </p:cNvPr>
          <p:cNvSpPr txBox="1"/>
          <p:nvPr/>
        </p:nvSpPr>
        <p:spPr>
          <a:xfrm>
            <a:off x="806450" y="5004520"/>
            <a:ext cx="6145530" cy="4627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500" b="1" spc="50" dirty="0">
                <a:solidFill>
                  <a:srgbClr val="1D3A89"/>
                </a:solidFill>
                <a:latin typeface="Malgun Gothic"/>
                <a:cs typeface="Malgun Gothic"/>
              </a:rPr>
              <a:t>8.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참여사별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맞춤형</a:t>
            </a:r>
            <a:r>
              <a:rPr sz="1500" b="1" spc="-8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전략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dirty="0">
                <a:solidFill>
                  <a:srgbClr val="1D3A89"/>
                </a:solidFill>
                <a:latin typeface="Malgun Gothic"/>
                <a:cs typeface="Malgun Gothic"/>
              </a:rPr>
              <a:t>③: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5" dirty="0">
                <a:solidFill>
                  <a:srgbClr val="1D3A89"/>
                </a:solidFill>
                <a:latin typeface="Malgun Gothic"/>
                <a:cs typeface="Malgun Gothic"/>
              </a:rPr>
              <a:t>현대자산운용</a:t>
            </a:r>
            <a:r>
              <a:rPr sz="1500" b="1" spc="-8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80" dirty="0">
                <a:solidFill>
                  <a:srgbClr val="1D3A89"/>
                </a:solidFill>
                <a:latin typeface="Malgun Gothic"/>
                <a:cs typeface="Malgun Gothic"/>
              </a:rPr>
              <a:t>(금융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20" dirty="0">
                <a:solidFill>
                  <a:srgbClr val="1D3A89"/>
                </a:solidFill>
                <a:latin typeface="Malgun Gothic"/>
                <a:cs typeface="Malgun Gothic"/>
              </a:rPr>
              <a:t>유동화)</a:t>
            </a:r>
            <a:endParaRPr sz="1500" dirty="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2165"/>
              </a:spcBef>
              <a:buClr>
                <a:srgbClr val="334154"/>
              </a:buClr>
              <a:buFont typeface="Malgun Gothic"/>
              <a:buAutoNum type="arabicPeriod"/>
              <a:tabLst>
                <a:tab pos="284480" algn="l"/>
              </a:tabLst>
            </a:pP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현대자산운용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주도의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95" dirty="0">
                <a:solidFill>
                  <a:srgbClr val="334154"/>
                </a:solidFill>
                <a:latin typeface="Malgun Gothic"/>
                <a:cs typeface="Malgun Gothic"/>
              </a:rPr>
              <a:t>사모펀드(</a:t>
            </a:r>
            <a:r>
              <a:rPr sz="1200" spc="-95" dirty="0">
                <a:solidFill>
                  <a:srgbClr val="334154"/>
                </a:solidFill>
                <a:latin typeface="Arial Black"/>
                <a:cs typeface="Arial Black"/>
              </a:rPr>
              <a:t>PEF</a:t>
            </a:r>
            <a:r>
              <a:rPr sz="1200" b="1" spc="-95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및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spc="-175" dirty="0">
                <a:solidFill>
                  <a:srgbClr val="334154"/>
                </a:solidFill>
                <a:latin typeface="Arial Black"/>
                <a:cs typeface="Arial Black"/>
              </a:rPr>
              <a:t>SPC</a:t>
            </a:r>
            <a:r>
              <a:rPr sz="1200" spc="-70" dirty="0">
                <a:solidFill>
                  <a:srgbClr val="334154"/>
                </a:solidFill>
                <a:latin typeface="Arial Black"/>
                <a:cs typeface="Arial Black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설계</a:t>
            </a:r>
            <a:endParaRPr sz="120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제도권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대형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운용사인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현대자산운용은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유니코에너지그룹이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인도받은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엑시온그룹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제11회차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icrosoft Sans Serif"/>
                <a:cs typeface="Microsoft Sans Serif"/>
              </a:rPr>
              <a:t>CB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를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1D283B"/>
                </a:solidFill>
                <a:latin typeface="Malgun Gothic"/>
                <a:cs typeface="Malgun Gothic"/>
              </a:rPr>
              <a:t>기초자산으로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삼는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90" dirty="0">
                <a:solidFill>
                  <a:srgbClr val="1D283B"/>
                </a:solidFill>
                <a:latin typeface="Malgun Gothic"/>
                <a:cs typeface="Malgun Gothic"/>
              </a:rPr>
              <a:t>특수목적법인(</a:t>
            </a:r>
            <a:r>
              <a:rPr sz="1050" spc="-90" dirty="0">
                <a:solidFill>
                  <a:srgbClr val="1D283B"/>
                </a:solidFill>
                <a:latin typeface="Arial Black"/>
                <a:cs typeface="Arial Black"/>
              </a:rPr>
              <a:t>SPC</a:t>
            </a:r>
            <a:r>
              <a:rPr sz="1050" b="1" spc="-90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b="1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또는</a:t>
            </a:r>
            <a:r>
              <a:rPr sz="1050" b="1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프로젝트형</a:t>
            </a:r>
            <a:r>
              <a:rPr sz="1050" b="1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사모펀드(</a:t>
            </a:r>
            <a:r>
              <a:rPr sz="1050" spc="-85" dirty="0">
                <a:solidFill>
                  <a:srgbClr val="1D283B"/>
                </a:solidFill>
                <a:latin typeface="Arial Black"/>
                <a:cs typeface="Arial Black"/>
              </a:rPr>
              <a:t>PEF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를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설정합니다.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실물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자산인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구리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분말의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가치가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1D283B"/>
                </a:solidFill>
                <a:latin typeface="Microsoft Sans Serif"/>
                <a:cs typeface="Microsoft Sans Serif"/>
              </a:rPr>
              <a:t>ISE</a:t>
            </a:r>
            <a:r>
              <a:rPr sz="1050" spc="-3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보고서로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공인되어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있고,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채권의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확실성이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인적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결속으로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담보되어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있으므로</a:t>
            </a:r>
            <a:r>
              <a:rPr sz="1050" spc="95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융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상품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설계의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난이도가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매우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낮고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매력도가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높습니다.</a:t>
            </a:r>
            <a:endParaRPr sz="105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 dirty="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5"/>
              </a:spcBef>
              <a:buClr>
                <a:srgbClr val="334154"/>
              </a:buClr>
              <a:buFont typeface="Malgun Gothic"/>
              <a:buAutoNum type="arabicPeriod" startAt="2"/>
              <a:tabLst>
                <a:tab pos="284480" algn="l"/>
              </a:tabLst>
            </a:pP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기관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투자자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매칭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및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3단계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현금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유동화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0" dirty="0">
                <a:solidFill>
                  <a:srgbClr val="334154"/>
                </a:solidFill>
                <a:latin typeface="Malgun Gothic"/>
                <a:cs typeface="Malgun Gothic"/>
              </a:rPr>
              <a:t>프로세스</a:t>
            </a:r>
            <a:endParaRPr sz="120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현대자산운용은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자산의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안정적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</a:t>
            </a:r>
            <a:r>
              <a:rPr lang="ko-KR" altLang="en-US" sz="1050" spc="605" dirty="0">
                <a:solidFill>
                  <a:srgbClr val="1D283B"/>
                </a:solidFill>
                <a:latin typeface="Malgun Gothic"/>
                <a:cs typeface="Malgun Gothic"/>
              </a:rPr>
              <a:t>금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화를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위해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시장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내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우량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기관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투자자(</a:t>
            </a:r>
            <a:r>
              <a:rPr sz="1050" spc="-45" dirty="0">
                <a:solidFill>
                  <a:srgbClr val="1D283B"/>
                </a:solidFill>
                <a:latin typeface="Microsoft Sans Serif"/>
                <a:cs typeface="Microsoft Sans Serif"/>
              </a:rPr>
              <a:t>LPs</a:t>
            </a:r>
            <a:r>
              <a:rPr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증권사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연계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신탁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</a:t>
            </a:r>
            <a:r>
              <a:rPr lang="ko-KR" altLang="en-US" sz="1050" spc="605" dirty="0">
                <a:solidFill>
                  <a:srgbClr val="1D283B"/>
                </a:solidFill>
                <a:latin typeface="Malgun Gothic"/>
                <a:cs typeface="Malgun Gothic"/>
              </a:rPr>
              <a:t>금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을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40" dirty="0">
                <a:solidFill>
                  <a:srgbClr val="1D283B"/>
                </a:solidFill>
                <a:latin typeface="Malgun Gothic"/>
                <a:cs typeface="Malgun Gothic"/>
              </a:rPr>
              <a:t>매칭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하는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3단계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프로세스를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가동합니다.</a:t>
            </a:r>
            <a:endParaRPr sz="1050" dirty="0">
              <a:latin typeface="Malgun Gothic"/>
              <a:cs typeface="Malgun Gothic"/>
            </a:endParaRPr>
          </a:p>
          <a:p>
            <a:pPr marL="203200" marR="133350" lvl="2" indent="-75565">
              <a:lnSpc>
                <a:spcPct val="141700"/>
              </a:lnSpc>
              <a:spcBef>
                <a:spcPts val="1050"/>
              </a:spcBef>
              <a:buFont typeface="Malgun Gothic"/>
              <a:buChar char="•"/>
              <a:tabLst>
                <a:tab pos="203200" algn="l"/>
                <a:tab pos="1664335" algn="l"/>
              </a:tabLst>
            </a:pPr>
            <a:r>
              <a:rPr sz="1050" b="1" spc="-55" dirty="0">
                <a:solidFill>
                  <a:srgbClr val="1D283B"/>
                </a:solidFill>
                <a:latin typeface="Malgun Gothic"/>
                <a:cs typeface="Malgun Gothic"/>
              </a:rPr>
              <a:t>1단계</a:t>
            </a:r>
            <a:r>
              <a:rPr sz="1050" b="1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50" dirty="0">
                <a:solidFill>
                  <a:srgbClr val="1D283B"/>
                </a:solidFill>
                <a:latin typeface="Malgun Gothic"/>
                <a:cs typeface="Malgun Gothic"/>
              </a:rPr>
              <a:t>(사채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펀드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25" dirty="0">
                <a:solidFill>
                  <a:srgbClr val="1D283B"/>
                </a:solidFill>
                <a:latin typeface="Malgun Gothic"/>
                <a:cs typeface="Malgun Gothic"/>
              </a:rPr>
              <a:t>편입):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유니코가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보유한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100억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icrosoft Sans Serif"/>
                <a:cs typeface="Microsoft Sans Serif"/>
              </a:rPr>
              <a:t>CB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를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현대자산운용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펀드에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현물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출자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또는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양도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1D283B"/>
                </a:solidFill>
                <a:latin typeface="Malgun Gothic"/>
                <a:cs typeface="Malgun Gothic"/>
              </a:rPr>
              <a:t>형식으로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편입하여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자산의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5" dirty="0" err="1">
                <a:solidFill>
                  <a:srgbClr val="1D283B"/>
                </a:solidFill>
                <a:latin typeface="Malgun Gothic"/>
                <a:cs typeface="Malgun Gothic"/>
              </a:rPr>
              <a:t>제도권</a:t>
            </a:r>
            <a:r>
              <a:rPr lang="en-US" altLang="ko-KR"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금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융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상품화를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완료합니다.</a:t>
            </a:r>
            <a:endParaRPr sz="1050" dirty="0">
              <a:latin typeface="Malgun Gothic"/>
              <a:cs typeface="Malgun Gothic"/>
            </a:endParaRPr>
          </a:p>
          <a:p>
            <a:pPr marL="203200" marR="73025" lvl="2" indent="-75565">
              <a:lnSpc>
                <a:spcPct val="141700"/>
              </a:lnSpc>
              <a:spcBef>
                <a:spcPts val="450"/>
              </a:spcBef>
              <a:buFont typeface="Malgun Gothic"/>
              <a:buChar char="•"/>
              <a:tabLst>
                <a:tab pos="203200" algn="l"/>
                <a:tab pos="2004695" algn="l"/>
              </a:tabLst>
            </a:pPr>
            <a:r>
              <a:rPr sz="1050" b="1" spc="-55" dirty="0">
                <a:solidFill>
                  <a:srgbClr val="1D283B"/>
                </a:solidFill>
                <a:latin typeface="Malgun Gothic"/>
                <a:cs typeface="Malgun Gothic"/>
              </a:rPr>
              <a:t>2단계</a:t>
            </a:r>
            <a:r>
              <a:rPr sz="1050" b="1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0" dirty="0">
                <a:solidFill>
                  <a:srgbClr val="1D283B"/>
                </a:solidFill>
                <a:latin typeface="Malgun Gothic"/>
                <a:cs typeface="Malgun Gothic"/>
              </a:rPr>
              <a:t>(자산담보부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대출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금융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45" dirty="0">
                <a:solidFill>
                  <a:srgbClr val="1D283B"/>
                </a:solidFill>
                <a:latin typeface="Malgun Gothic"/>
                <a:cs typeface="Malgun Gothic"/>
              </a:rPr>
              <a:t>구조화):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편입된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icrosoft Sans Serif"/>
                <a:cs typeface="Microsoft Sans Serif"/>
              </a:rPr>
              <a:t>CB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를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담보로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대형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증권사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저축은행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등과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연계하여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단기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자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산담보부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대출(</a:t>
            </a:r>
            <a:r>
              <a:rPr sz="1050" spc="-35" dirty="0">
                <a:solidFill>
                  <a:srgbClr val="1D283B"/>
                </a:solidFill>
                <a:latin typeface="Microsoft Sans Serif"/>
                <a:cs typeface="Microsoft Sans Serif"/>
              </a:rPr>
              <a:t>LBO</a:t>
            </a:r>
            <a:r>
              <a:rPr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또는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35" dirty="0" err="1">
                <a:solidFill>
                  <a:srgbClr val="1D283B"/>
                </a:solidFill>
                <a:latin typeface="Malgun Gothic"/>
                <a:cs typeface="Malgun Gothic"/>
              </a:rPr>
              <a:t>대차</a:t>
            </a:r>
            <a:r>
              <a:rPr lang="ko-KR" altLang="en-US"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금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융)을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일으켜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lang="ko-KR" altLang="en-US"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유니코에너지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측에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일차적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유동성을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공급합니다.</a:t>
            </a:r>
            <a:endParaRPr sz="1050" dirty="0">
              <a:latin typeface="Malgun Gothic"/>
              <a:cs typeface="Malgun Gothic"/>
            </a:endParaRPr>
          </a:p>
          <a:p>
            <a:pPr marL="203200" marR="35560" lvl="2" indent="-75565">
              <a:lnSpc>
                <a:spcPct val="141700"/>
              </a:lnSpc>
              <a:spcBef>
                <a:spcPts val="450"/>
              </a:spcBef>
              <a:buFont typeface="Malgun Gothic"/>
              <a:buChar char="•"/>
              <a:tabLst>
                <a:tab pos="203200" algn="l"/>
              </a:tabLst>
            </a:pPr>
            <a:r>
              <a:rPr sz="1050" b="1" spc="-55" dirty="0">
                <a:solidFill>
                  <a:srgbClr val="1D283B"/>
                </a:solidFill>
                <a:latin typeface="Malgun Gothic"/>
                <a:cs typeface="Malgun Gothic"/>
              </a:rPr>
              <a:t>3단계</a:t>
            </a:r>
            <a:r>
              <a:rPr sz="1050" b="1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(블록딜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90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b="1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85" dirty="0">
                <a:solidFill>
                  <a:srgbClr val="1D283B"/>
                </a:solidFill>
                <a:latin typeface="Malgun Gothic"/>
                <a:cs typeface="Malgun Gothic"/>
              </a:rPr>
              <a:t>기관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b="1" spc="-25" dirty="0">
                <a:solidFill>
                  <a:srgbClr val="1D283B"/>
                </a:solidFill>
                <a:latin typeface="Malgun Gothic"/>
                <a:cs typeface="Malgun Gothic"/>
              </a:rPr>
              <a:t>매칭):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향후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신사업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공시로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주가가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우상향하는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시점에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맞추어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우호적인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기관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1D283B"/>
                </a:solidFill>
                <a:latin typeface="Malgun Gothic"/>
                <a:cs typeface="Malgun Gothic"/>
              </a:rPr>
              <a:t>투자자에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게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icrosoft Sans Serif"/>
                <a:cs typeface="Microsoft Sans Serif"/>
              </a:rPr>
              <a:t>CB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를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블록딜(</a:t>
            </a:r>
            <a:r>
              <a:rPr sz="1050" spc="-25" dirty="0">
                <a:solidFill>
                  <a:srgbClr val="1D283B"/>
                </a:solidFill>
                <a:latin typeface="Microsoft Sans Serif"/>
                <a:cs typeface="Microsoft Sans Serif"/>
              </a:rPr>
              <a:t>Block-</a:t>
            </a:r>
            <a:r>
              <a:rPr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deal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형태로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매각하거나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주식으로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전환하여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시장에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연착륙시킴으로써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 err="1">
                <a:solidFill>
                  <a:srgbClr val="1D283B"/>
                </a:solidFill>
                <a:latin typeface="Malgun Gothic"/>
                <a:cs typeface="Malgun Gothic"/>
              </a:rPr>
              <a:t>최종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현</a:t>
            </a:r>
            <a:r>
              <a:rPr lang="ko-KR" altLang="en-US" sz="1050" spc="145" dirty="0">
                <a:solidFill>
                  <a:srgbClr val="1D283B"/>
                </a:solidFill>
                <a:latin typeface="Malgun Gothic"/>
                <a:cs typeface="Malgun Gothic"/>
              </a:rPr>
              <a:t>금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화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를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완성합니다.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07EDF3B9-AE47-48B2-9A06-3FDF96C854A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6706256" y="10147175"/>
            <a:ext cx="184784" cy="18986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E0F6D14-5B87-41D4-9F01-8BB1C5CAA0A9}"/>
              </a:ext>
            </a:extLst>
          </p:cNvPr>
          <p:cNvCxnSpPr/>
          <p:nvPr/>
        </p:nvCxnSpPr>
        <p:spPr>
          <a:xfrm>
            <a:off x="700011" y="5042846"/>
            <a:ext cx="0" cy="233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C53CEA74-4255-4EC9-A0B3-3330F0CAD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34" y="4959294"/>
            <a:ext cx="295316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707299" y="377563"/>
            <a:ext cx="2715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93A3B8"/>
                </a:solidFill>
                <a:latin typeface="Arial Black"/>
                <a:cs typeface="Arial Black"/>
              </a:rPr>
              <a:t>PROJECT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METIS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210" dirty="0">
                <a:solidFill>
                  <a:srgbClr val="93A3B8"/>
                </a:solidFill>
                <a:latin typeface="Arial Black"/>
                <a:cs typeface="Arial Black"/>
              </a:rPr>
              <a:t>|</a:t>
            </a:r>
            <a:r>
              <a:rPr sz="800" spc="25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93A3B8"/>
                </a:solidFill>
                <a:latin typeface="Arial Black"/>
                <a:cs typeface="Arial Black"/>
              </a:rPr>
              <a:t>INVESTMENT</a:t>
            </a:r>
            <a:r>
              <a:rPr sz="800" spc="30" dirty="0">
                <a:solidFill>
                  <a:srgbClr val="93A3B8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93A3B8"/>
                </a:solidFill>
                <a:latin typeface="Arial Black"/>
                <a:cs typeface="Arial Black"/>
              </a:rPr>
              <a:t>MEMORANDUM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11" name="object 2">
            <a:extLst>
              <a:ext uri="{FF2B5EF4-FFF2-40B4-BE49-F238E27FC236}">
                <a16:creationId xmlns:a16="http://schemas.microsoft.com/office/drawing/2014/main" id="{360C5650-A275-4019-BB0E-20B7A2B256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7138" y="3479853"/>
            <a:ext cx="111125" cy="114300"/>
          </a:xfrm>
          <a:prstGeom prst="rect">
            <a:avLst/>
          </a:prstGeom>
        </p:spPr>
      </p:pic>
      <p:pic>
        <p:nvPicPr>
          <p:cNvPr id="12" name="object 3">
            <a:extLst>
              <a:ext uri="{FF2B5EF4-FFF2-40B4-BE49-F238E27FC236}">
                <a16:creationId xmlns:a16="http://schemas.microsoft.com/office/drawing/2014/main" id="{4AC2B306-0195-4867-A21A-7EC882AA739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0943" y="3700198"/>
            <a:ext cx="101600" cy="12065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2B1D5AC6-1531-46B7-A45B-C4FAFDAA6EBC}"/>
              </a:ext>
            </a:extLst>
          </p:cNvPr>
          <p:cNvSpPr txBox="1"/>
          <p:nvPr/>
        </p:nvSpPr>
        <p:spPr>
          <a:xfrm>
            <a:off x="769935" y="1231900"/>
            <a:ext cx="6145530" cy="301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500" b="1" spc="50" dirty="0">
                <a:solidFill>
                  <a:srgbClr val="1D3A89"/>
                </a:solidFill>
                <a:latin typeface="Malgun Gothic"/>
                <a:cs typeface="Malgun Gothic"/>
              </a:rPr>
              <a:t>9.</a:t>
            </a:r>
            <a:r>
              <a:rPr sz="1500" b="1" spc="-10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상장사의</a:t>
            </a:r>
            <a:r>
              <a:rPr sz="1500" b="1" spc="-10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원자재</a:t>
            </a:r>
            <a:r>
              <a:rPr sz="1500" b="1" spc="-10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활용</a:t>
            </a:r>
            <a:r>
              <a:rPr sz="1500" b="1" spc="-10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및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기업가치</a:t>
            </a:r>
            <a:r>
              <a:rPr sz="1500" b="1" spc="-10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제고(</a:t>
            </a:r>
            <a:r>
              <a:rPr sz="1500" spc="-90" dirty="0">
                <a:solidFill>
                  <a:srgbClr val="1D3A89"/>
                </a:solidFill>
                <a:latin typeface="Arial Black"/>
                <a:cs typeface="Arial Black"/>
              </a:rPr>
              <a:t>Value-</a:t>
            </a:r>
            <a:r>
              <a:rPr sz="1500" spc="-60" dirty="0">
                <a:solidFill>
                  <a:srgbClr val="1D3A89"/>
                </a:solidFill>
                <a:latin typeface="Arial Black"/>
                <a:cs typeface="Arial Black"/>
              </a:rPr>
              <a:t>Up</a:t>
            </a:r>
            <a:r>
              <a:rPr sz="1500" b="1" spc="-60" dirty="0">
                <a:solidFill>
                  <a:srgbClr val="1D3A89"/>
                </a:solidFill>
                <a:latin typeface="Malgun Gothic"/>
                <a:cs typeface="Malgun Gothic"/>
              </a:rPr>
              <a:t>)</a:t>
            </a:r>
            <a:r>
              <a:rPr sz="1500" b="1" spc="-10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1D3A89"/>
                </a:solidFill>
                <a:latin typeface="Malgun Gothic"/>
                <a:cs typeface="Malgun Gothic"/>
              </a:rPr>
              <a:t>계획</a:t>
            </a:r>
            <a:endParaRPr sz="1500" dirty="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2165"/>
              </a:spcBef>
              <a:buClr>
                <a:srgbClr val="334154"/>
              </a:buClr>
              <a:buFont typeface="Malgun Gothic"/>
              <a:buAutoNum type="arabicPeriod"/>
              <a:tabLst>
                <a:tab pos="284480" algn="l"/>
              </a:tabLst>
            </a:pP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반도체·차세대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배터리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필수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원자재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공급망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구축</a:t>
            </a:r>
            <a:endParaRPr sz="120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상장사(엑시온그룹)가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편입하는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15" dirty="0">
                <a:solidFill>
                  <a:srgbClr val="1D283B"/>
                </a:solidFill>
                <a:latin typeface="Malgun Gothic"/>
                <a:cs typeface="Malgun Gothic"/>
              </a:rPr>
              <a:t>6</a:t>
            </a:r>
            <a:r>
              <a:rPr sz="1050" spc="15" dirty="0">
                <a:solidFill>
                  <a:srgbClr val="1D283B"/>
                </a:solidFill>
                <a:latin typeface="Microsoft Sans Serif"/>
                <a:cs typeface="Microsoft Sans Serif"/>
              </a:rPr>
              <a:t>N</a:t>
            </a:r>
            <a:r>
              <a:rPr sz="105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초고순도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구리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분말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600</a:t>
            </a:r>
            <a:r>
              <a:rPr sz="1050" dirty="0">
                <a:solidFill>
                  <a:srgbClr val="1D283B"/>
                </a:solidFill>
                <a:latin typeface="Microsoft Sans Serif"/>
                <a:cs typeface="Microsoft Sans Serif"/>
              </a:rPr>
              <a:t>kg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은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단순한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재무제표상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숫자에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머물지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않고,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실제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국내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주요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반도체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서플라이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체인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대기업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연구소의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테스트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베드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공급용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원자재로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전면에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내세워집니다.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극미세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공정에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대응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가능한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독점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소재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기술을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보유한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강소기업으로서의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브랜딩을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시작합니다.</a:t>
            </a:r>
            <a:endParaRPr sz="105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 dirty="0">
              <a:latin typeface="Malgun Gothic"/>
              <a:cs typeface="Malgun Gothic"/>
            </a:endParaRPr>
          </a:p>
          <a:p>
            <a:pPr marL="284480" lvl="1" indent="-271780">
              <a:lnSpc>
                <a:spcPct val="100000"/>
              </a:lnSpc>
              <a:spcBef>
                <a:spcPts val="5"/>
              </a:spcBef>
              <a:buClr>
                <a:srgbClr val="334154"/>
              </a:buClr>
              <a:buFont typeface="Malgun Gothic"/>
              <a:buAutoNum type="arabicPeriod" startAt="2"/>
              <a:tabLst>
                <a:tab pos="284480" algn="l"/>
              </a:tabLst>
            </a:pP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주주가치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극대화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및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시장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커뮤니케이션(</a:t>
            </a:r>
            <a:r>
              <a:rPr sz="1200" spc="-80" dirty="0">
                <a:solidFill>
                  <a:srgbClr val="334154"/>
                </a:solidFill>
                <a:latin typeface="Arial Black"/>
                <a:cs typeface="Arial Black"/>
              </a:rPr>
              <a:t>IR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전략</a:t>
            </a:r>
            <a:endParaRPr sz="120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편입과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동시에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증권가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메이저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경제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매체를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통해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'현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없는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100억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규모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첨단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소재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전격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00" dirty="0">
                <a:solidFill>
                  <a:srgbClr val="1D283B"/>
                </a:solidFill>
                <a:latin typeface="Malgun Gothic"/>
                <a:cs typeface="Malgun Gothic"/>
              </a:rPr>
              <a:t>확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보'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'스위스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icrosoft Sans Serif"/>
                <a:cs typeface="Microsoft Sans Serif"/>
              </a:rPr>
              <a:t>ISE</a:t>
            </a:r>
            <a:r>
              <a:rPr sz="1050" spc="1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가치</a:t>
            </a:r>
            <a:r>
              <a:rPr sz="1050" spc="919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증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완료'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테마를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대대적으로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20" dirty="0">
                <a:solidFill>
                  <a:srgbClr val="1D283B"/>
                </a:solidFill>
                <a:latin typeface="Microsoft Sans Serif"/>
                <a:cs typeface="Microsoft Sans Serif"/>
              </a:rPr>
              <a:t>IR(Investor</a:t>
            </a:r>
            <a:r>
              <a:rPr sz="1050" spc="1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5" dirty="0">
                <a:solidFill>
                  <a:srgbClr val="1D283B"/>
                </a:solidFill>
                <a:latin typeface="Microsoft Sans Serif"/>
                <a:cs typeface="Microsoft Sans Serif"/>
              </a:rPr>
              <a:t>Relations)</a:t>
            </a:r>
            <a:r>
              <a:rPr sz="1050" spc="1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마케팅합니다.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이는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최근</a:t>
            </a:r>
            <a:r>
              <a:rPr sz="1050" spc="-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트렌드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인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주주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가치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제고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정책과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맞물려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주가의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강력한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하방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경직성을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형성하고,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공매도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투기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세력의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공격을</a:t>
            </a:r>
            <a:r>
              <a:rPr sz="1050" spc="-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차단하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는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방어막이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될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것입니다.</a:t>
            </a:r>
            <a:endParaRPr sz="1050" dirty="0">
              <a:latin typeface="Malgun Gothic"/>
              <a:cs typeface="Malgun Gothic"/>
            </a:endParaRPr>
          </a:p>
        </p:txBody>
      </p:sp>
      <p:pic>
        <p:nvPicPr>
          <p:cNvPr id="15" name="object 2">
            <a:extLst>
              <a:ext uri="{FF2B5EF4-FFF2-40B4-BE49-F238E27FC236}">
                <a16:creationId xmlns:a16="http://schemas.microsoft.com/office/drawing/2014/main" id="{1480D42D-8C9E-44B7-AC27-FAFD9330AD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349" y="6044093"/>
            <a:ext cx="111125" cy="114300"/>
          </a:xfrm>
          <a:prstGeom prst="rect">
            <a:avLst/>
          </a:prstGeom>
        </p:spPr>
      </p:pic>
      <p:sp>
        <p:nvSpPr>
          <p:cNvPr id="16" name="object 3">
            <a:extLst>
              <a:ext uri="{FF2B5EF4-FFF2-40B4-BE49-F238E27FC236}">
                <a16:creationId xmlns:a16="http://schemas.microsoft.com/office/drawing/2014/main" id="{B481B78D-6A3C-4F21-BC78-9D08D56486BB}"/>
              </a:ext>
            </a:extLst>
          </p:cNvPr>
          <p:cNvSpPr txBox="1"/>
          <p:nvPr/>
        </p:nvSpPr>
        <p:spPr>
          <a:xfrm>
            <a:off x="707299" y="4432300"/>
            <a:ext cx="6145530" cy="301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D3A89"/>
                </a:solidFill>
                <a:latin typeface="Malgun Gothic"/>
                <a:cs typeface="Malgun Gothic"/>
              </a:rPr>
              <a:t>10.</a:t>
            </a:r>
            <a:r>
              <a:rPr sz="1500" b="1" spc="-8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리스크</a:t>
            </a:r>
            <a:r>
              <a:rPr sz="1500" b="1" spc="-8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관리</a:t>
            </a:r>
            <a:r>
              <a:rPr sz="1500" b="1" spc="-8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및</a:t>
            </a:r>
            <a:r>
              <a:rPr sz="1500" b="1" spc="-8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5" dirty="0">
                <a:solidFill>
                  <a:srgbClr val="1D3A89"/>
                </a:solidFill>
                <a:latin typeface="Malgun Gothic"/>
                <a:cs typeface="Malgun Gothic"/>
              </a:rPr>
              <a:t>미티게이션</a:t>
            </a:r>
            <a:r>
              <a:rPr sz="1500" b="1" spc="-8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(</a:t>
            </a:r>
            <a:r>
              <a:rPr sz="1500" spc="-95" dirty="0">
                <a:solidFill>
                  <a:srgbClr val="1D3A89"/>
                </a:solidFill>
                <a:latin typeface="Arial Black"/>
                <a:cs typeface="Arial Black"/>
              </a:rPr>
              <a:t>Risk</a:t>
            </a:r>
            <a:r>
              <a:rPr sz="1500" spc="-90" dirty="0">
                <a:solidFill>
                  <a:srgbClr val="1D3A89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1D3A89"/>
                </a:solidFill>
                <a:latin typeface="Arial Black"/>
                <a:cs typeface="Arial Black"/>
              </a:rPr>
              <a:t>Mitigation</a:t>
            </a:r>
            <a:r>
              <a:rPr sz="1500" b="1" spc="-10" dirty="0">
                <a:solidFill>
                  <a:srgbClr val="1D3A89"/>
                </a:solidFill>
                <a:latin typeface="Malgun Gothic"/>
                <a:cs typeface="Malgun Gothic"/>
              </a:rPr>
              <a:t>)</a:t>
            </a:r>
            <a:endParaRPr sz="1500">
              <a:latin typeface="Malgun Gothic"/>
              <a:cs typeface="Malgun Gothic"/>
            </a:endParaRPr>
          </a:p>
          <a:p>
            <a:pPr marL="374650" lvl="1" indent="-361950">
              <a:lnSpc>
                <a:spcPct val="100000"/>
              </a:lnSpc>
              <a:spcBef>
                <a:spcPts val="2165"/>
              </a:spcBef>
              <a:buClr>
                <a:srgbClr val="334154"/>
              </a:buClr>
              <a:buFont typeface="Malgun Gothic"/>
              <a:buAutoNum type="arabicPeriod"/>
              <a:tabLst>
                <a:tab pos="374650" algn="l"/>
              </a:tabLst>
            </a:pP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인적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리스크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및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딜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브레이크(</a:t>
            </a:r>
            <a:r>
              <a:rPr sz="1200" spc="-75" dirty="0">
                <a:solidFill>
                  <a:srgbClr val="334154"/>
                </a:solidFill>
                <a:latin typeface="Arial Black"/>
                <a:cs typeface="Arial Black"/>
              </a:rPr>
              <a:t>Deal</a:t>
            </a:r>
            <a:r>
              <a:rPr sz="1200" spc="-70" dirty="0">
                <a:solidFill>
                  <a:srgbClr val="334154"/>
                </a:solidFill>
                <a:latin typeface="Arial Black"/>
                <a:cs typeface="Arial Black"/>
              </a:rPr>
              <a:t> </a:t>
            </a:r>
            <a:r>
              <a:rPr sz="1200" spc="-75" dirty="0">
                <a:solidFill>
                  <a:srgbClr val="334154"/>
                </a:solidFill>
                <a:latin typeface="Arial Black"/>
                <a:cs typeface="Arial Black"/>
              </a:rPr>
              <a:t>Break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)의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원천</a:t>
            </a:r>
            <a:r>
              <a:rPr sz="1200" b="1" spc="-6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35" dirty="0">
                <a:solidFill>
                  <a:srgbClr val="334154"/>
                </a:solidFill>
                <a:latin typeface="Malgun Gothic"/>
                <a:cs typeface="Malgun Gothic"/>
              </a:rPr>
              <a:t>차단</a:t>
            </a:r>
            <a:endParaRPr sz="120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모든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자본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거래에서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가장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치명적인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리스크는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이해관계자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간의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이견으로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인한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'딜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무산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리스크'입니다.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0" dirty="0">
                <a:solidFill>
                  <a:srgbClr val="1D283B"/>
                </a:solidFill>
                <a:latin typeface="Malgun Gothic"/>
                <a:cs typeface="Malgun Gothic"/>
              </a:rPr>
              <a:t>프로젝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트는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사채권자(케이리츠)가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제안자의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친족이라는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독보적인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인적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인프라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덕분에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계약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조건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조율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중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거래가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0" dirty="0">
                <a:solidFill>
                  <a:srgbClr val="1D283B"/>
                </a:solidFill>
                <a:latin typeface="Malgun Gothic"/>
                <a:cs typeface="Malgun Gothic"/>
              </a:rPr>
              <a:t>파기될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위험이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제로에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가깝습니다.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외부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변수를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완벽히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통제한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상태에서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디딤파트너스의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서류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작업과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1D283B"/>
                </a:solidFill>
                <a:latin typeface="Malgun Gothic"/>
                <a:cs typeface="Malgun Gothic"/>
              </a:rPr>
              <a:t>현대자산운용의</a:t>
            </a:r>
            <a:endParaRPr sz="1050">
              <a:latin typeface="Malgun Gothic"/>
              <a:cs typeface="Malgun Gothic"/>
            </a:endParaRPr>
          </a:p>
          <a:p>
            <a:pPr marL="135255" algn="just">
              <a:lnSpc>
                <a:spcPct val="100000"/>
              </a:lnSpc>
              <a:spcBef>
                <a:spcPts val="525"/>
              </a:spcBef>
            </a:pP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융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펀딩이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진행되므로,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시간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비용과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매몰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비용을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극소화합니다.</a:t>
            </a:r>
            <a:endParaRPr sz="10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Malgun Gothic"/>
              <a:cs typeface="Malgun Gothic"/>
            </a:endParaRPr>
          </a:p>
          <a:p>
            <a:pPr marL="374650" lvl="1" indent="-361950">
              <a:lnSpc>
                <a:spcPct val="100000"/>
              </a:lnSpc>
              <a:spcBef>
                <a:spcPts val="5"/>
              </a:spcBef>
              <a:buClr>
                <a:srgbClr val="334154"/>
              </a:buClr>
              <a:buFont typeface="Malgun Gothic"/>
              <a:buAutoNum type="arabicPeriod" startAt="2"/>
              <a:tabLst>
                <a:tab pos="374650" algn="l"/>
              </a:tabLst>
            </a:pP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자산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가치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변동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리스크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방어</a:t>
            </a:r>
            <a:endParaRPr sz="120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실물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원자재의</a:t>
            </a:r>
            <a:r>
              <a:rPr sz="1050" spc="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글로벌</a:t>
            </a:r>
            <a:r>
              <a:rPr sz="1050" spc="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시세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변동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리스크는</a:t>
            </a:r>
            <a:r>
              <a:rPr sz="1050" spc="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스위스</a:t>
            </a:r>
            <a:r>
              <a:rPr sz="1050" spc="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0" dirty="0">
                <a:solidFill>
                  <a:srgbClr val="1D283B"/>
                </a:solidFill>
                <a:latin typeface="Microsoft Sans Serif"/>
                <a:cs typeface="Microsoft Sans Serif"/>
              </a:rPr>
              <a:t>ISE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에서</a:t>
            </a:r>
            <a:r>
              <a:rPr sz="1050" spc="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고정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평가한</a:t>
            </a:r>
            <a:r>
              <a:rPr sz="1050" spc="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가치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표준(100억)을</a:t>
            </a:r>
            <a:r>
              <a:rPr sz="1050" spc="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계약서상</a:t>
            </a:r>
            <a:r>
              <a:rPr sz="1050" spc="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확정 가액으로</a:t>
            </a:r>
            <a:r>
              <a:rPr sz="1050" spc="1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0" dirty="0">
                <a:solidFill>
                  <a:srgbClr val="1D283B"/>
                </a:solidFill>
                <a:latin typeface="Malgun Gothic"/>
                <a:cs typeface="Malgun Gothic"/>
              </a:rPr>
              <a:t>대등</a:t>
            </a:r>
            <a:r>
              <a:rPr sz="1050" spc="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1D283B"/>
                </a:solidFill>
                <a:latin typeface="Malgun Gothic"/>
                <a:cs typeface="Malgun Gothic"/>
              </a:rPr>
              <a:t>매칭함으로써</a:t>
            </a:r>
            <a:r>
              <a:rPr sz="1050" spc="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헷지합니다.</a:t>
            </a:r>
            <a:r>
              <a:rPr sz="1050" spc="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0" dirty="0">
                <a:solidFill>
                  <a:srgbClr val="1D283B"/>
                </a:solidFill>
                <a:latin typeface="Malgun Gothic"/>
                <a:cs typeface="Malgun Gothic"/>
              </a:rPr>
              <a:t>시장</a:t>
            </a:r>
            <a:r>
              <a:rPr sz="1050" spc="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가격의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미세한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등락과</a:t>
            </a:r>
            <a:r>
              <a:rPr sz="1050" spc="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관계없이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D283B"/>
                </a:solidFill>
                <a:latin typeface="Malgun Gothic"/>
                <a:cs typeface="Malgun Gothic"/>
              </a:rPr>
              <a:t>1:1</a:t>
            </a:r>
            <a:r>
              <a:rPr sz="1050" spc="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맞교환의</a:t>
            </a:r>
            <a:r>
              <a:rPr sz="1050" spc="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0" dirty="0">
                <a:solidFill>
                  <a:srgbClr val="1D283B"/>
                </a:solidFill>
                <a:latin typeface="Malgun Gothic"/>
                <a:cs typeface="Malgun Gothic"/>
              </a:rPr>
              <a:t>법적</a:t>
            </a:r>
            <a:r>
              <a:rPr sz="1050" spc="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20" dirty="0">
                <a:solidFill>
                  <a:srgbClr val="1D283B"/>
                </a:solidFill>
                <a:latin typeface="Malgun Gothic"/>
                <a:cs typeface="Malgun Gothic"/>
              </a:rPr>
              <a:t>효력은</a:t>
            </a:r>
            <a:r>
              <a:rPr sz="1050" spc="3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5" dirty="0">
                <a:solidFill>
                  <a:srgbClr val="1D283B"/>
                </a:solidFill>
                <a:latin typeface="Malgun Gothic"/>
                <a:cs typeface="Malgun Gothic"/>
              </a:rPr>
              <a:t>유지되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도록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1D283B"/>
                </a:solidFill>
                <a:latin typeface="Malgun Gothic"/>
                <a:cs typeface="Malgun Gothic"/>
              </a:rPr>
              <a:t>조율되었습니다.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93B1AA7B-35CF-4757-B8DE-F6BF60B5D02B}"/>
              </a:ext>
            </a:extLst>
          </p:cNvPr>
          <p:cNvSpPr txBox="1"/>
          <p:nvPr/>
        </p:nvSpPr>
        <p:spPr>
          <a:xfrm>
            <a:off x="682476" y="7861300"/>
            <a:ext cx="432498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D3A89"/>
                </a:solidFill>
                <a:latin typeface="Malgun Gothic"/>
                <a:cs typeface="Malgun Gothic"/>
              </a:rPr>
              <a:t>11.</a:t>
            </a:r>
            <a:r>
              <a:rPr sz="1500" b="1" spc="-8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재무</a:t>
            </a:r>
            <a:r>
              <a:rPr sz="1500" b="1" spc="-8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5" dirty="0">
                <a:solidFill>
                  <a:srgbClr val="1D3A89"/>
                </a:solidFill>
                <a:latin typeface="Malgun Gothic"/>
                <a:cs typeface="Malgun Gothic"/>
              </a:rPr>
              <a:t>시뮬레이션</a:t>
            </a:r>
            <a:r>
              <a:rPr sz="1500" b="1" spc="-8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및</a:t>
            </a:r>
            <a:r>
              <a:rPr sz="1500" b="1" spc="-7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5" dirty="0">
                <a:solidFill>
                  <a:srgbClr val="1D3A89"/>
                </a:solidFill>
                <a:latin typeface="Malgun Gothic"/>
                <a:cs typeface="Malgun Gothic"/>
              </a:rPr>
              <a:t>밸류에이션</a:t>
            </a:r>
            <a:r>
              <a:rPr sz="1500" b="1" spc="-8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1D3A89"/>
                </a:solidFill>
                <a:latin typeface="Malgun Gothic"/>
                <a:cs typeface="Malgun Gothic"/>
              </a:rPr>
              <a:t>모델</a:t>
            </a:r>
            <a:endParaRPr sz="15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200" b="1" dirty="0">
                <a:solidFill>
                  <a:srgbClr val="334154"/>
                </a:solidFill>
                <a:latin typeface="Malgun Gothic"/>
                <a:cs typeface="Malgun Gothic"/>
              </a:rPr>
              <a:t>11.1</a:t>
            </a:r>
            <a:r>
              <a:rPr sz="1200" b="1" spc="-4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334154"/>
                </a:solidFill>
                <a:latin typeface="Malgun Gothic"/>
                <a:cs typeface="Malgun Gothic"/>
              </a:rPr>
              <a:t>1:1</a:t>
            </a:r>
            <a:r>
              <a:rPr sz="1200" b="1" spc="-4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스왑의</a:t>
            </a:r>
            <a:r>
              <a:rPr sz="1200" b="1" spc="-4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재무제표</a:t>
            </a:r>
            <a:r>
              <a:rPr sz="1200" b="1" spc="-4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영향</a:t>
            </a:r>
            <a:r>
              <a:rPr sz="1200" b="1" spc="-4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평가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거래가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완료된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직후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상장사와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투자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90" dirty="0">
                <a:solidFill>
                  <a:srgbClr val="1D283B"/>
                </a:solidFill>
                <a:latin typeface="Malgun Gothic"/>
                <a:cs typeface="Malgun Gothic"/>
              </a:rPr>
              <a:t>참여사들의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재무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변화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시뮬레이션입니다.</a:t>
            </a:r>
            <a:endParaRPr sz="1050">
              <a:latin typeface="Malgun Gothic"/>
              <a:cs typeface="Malgun Gothic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D7B11EF-114D-4109-BD00-417EDDC73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95" y="4355377"/>
            <a:ext cx="295316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52C10CCC-FE35-4743-80CC-C0F755620E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3405" y="1819081"/>
            <a:ext cx="107950" cy="111125"/>
          </a:xfrm>
          <a:prstGeom prst="rect">
            <a:avLst/>
          </a:prstGeom>
        </p:spPr>
      </p:pic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089AB3A0-A519-4687-B234-B86E9AE1F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283240"/>
              </p:ext>
            </p:extLst>
          </p:nvPr>
        </p:nvGraphicFramePr>
        <p:xfrm>
          <a:off x="812706" y="1231900"/>
          <a:ext cx="6111239" cy="2729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8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9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재무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지표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변동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항목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40970" marB="0">
                    <a:solidFill>
                      <a:srgbClr val="1D3A89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거래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전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포지션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40970" marB="0">
                    <a:solidFill>
                      <a:srgbClr val="1D3A89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거래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후</a:t>
                      </a:r>
                      <a:r>
                        <a:rPr sz="1000" b="1" spc="-7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예상</a:t>
                      </a:r>
                      <a:r>
                        <a:rPr sz="1000" b="1" spc="-7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포지션</a:t>
                      </a:r>
                      <a:r>
                        <a:rPr sz="1000" b="1" spc="-7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b="1" spc="-7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효과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40970" marB="0">
                    <a:solidFill>
                      <a:srgbClr val="1D3A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1D3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상장사</a:t>
                      </a:r>
                      <a:r>
                        <a:rPr sz="1000" b="1" spc="-6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현금성</a:t>
                      </a:r>
                      <a:r>
                        <a:rPr sz="1000" b="1" spc="-6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3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자산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보유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4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현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제한적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3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상태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b="1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변동</a:t>
                      </a:r>
                      <a:r>
                        <a:rPr sz="1000" b="1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없음</a:t>
                      </a:r>
                      <a:r>
                        <a:rPr sz="1000" b="1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(현금</a:t>
                      </a:r>
                      <a:r>
                        <a:rPr sz="1000" b="1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방출</a:t>
                      </a:r>
                      <a:r>
                        <a:rPr sz="1000" b="1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제로로</a:t>
                      </a:r>
                      <a:r>
                        <a:rPr sz="1000" b="1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유동성</a:t>
                      </a:r>
                      <a:r>
                        <a:rPr sz="1000" b="1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보존)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상장사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자산</a:t>
                      </a:r>
                      <a:r>
                        <a:rPr sz="1000" b="1" spc="-6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총계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자산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규모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8745" marR="161925">
                        <a:lnSpc>
                          <a:spcPct val="141700"/>
                        </a:lnSpc>
                        <a:spcBef>
                          <a:spcPts val="570"/>
                        </a:spcBef>
                      </a:pP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초고순도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구리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분말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편입으로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즉시</a:t>
                      </a:r>
                      <a:r>
                        <a:rPr sz="1000" b="1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100억 </a:t>
                      </a:r>
                      <a:r>
                        <a:rPr sz="1000" b="1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원</a:t>
                      </a:r>
                      <a:r>
                        <a:rPr sz="1000" b="1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증가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무루아</a:t>
                      </a:r>
                      <a:r>
                        <a:rPr sz="1000" b="1" spc="-7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보유</a:t>
                      </a:r>
                      <a:r>
                        <a:rPr sz="1000" b="1" spc="-6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유동성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실물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자산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(비유동성)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121285">
                        <a:lnSpc>
                          <a:spcPct val="141700"/>
                        </a:lnSpc>
                        <a:spcBef>
                          <a:spcPts val="570"/>
                        </a:spcBef>
                      </a:pP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제도권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상장사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CB</a:t>
                      </a:r>
                      <a:r>
                        <a:rPr sz="10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즉각적 능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자산)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융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자원화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가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b="1" spc="-8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현대자산운용</a:t>
                      </a:r>
                      <a:r>
                        <a:rPr sz="1000" b="1" spc="-45" dirty="0">
                          <a:solidFill>
                            <a:srgbClr val="1D3A8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3A89"/>
                          </a:solidFill>
                          <a:latin typeface="Arial Black"/>
                          <a:cs typeface="Arial Black"/>
                        </a:rPr>
                        <a:t>AUM</a:t>
                      </a:r>
                      <a:endParaRPr sz="1000">
                        <a:latin typeface="Arial Black"/>
                        <a:cs typeface="Arial Black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운용</a:t>
                      </a:r>
                      <a:r>
                        <a:rPr sz="1000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규모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8745" marR="161925">
                        <a:lnSpc>
                          <a:spcPct val="141700"/>
                        </a:lnSpc>
                        <a:spcBef>
                          <a:spcPts val="570"/>
                        </a:spcBef>
                      </a:pP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신규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펀드</a:t>
                      </a:r>
                      <a:r>
                        <a:rPr sz="1000" spc="-7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설정으로</a:t>
                      </a:r>
                      <a:r>
                        <a:rPr sz="1000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최소</a:t>
                      </a:r>
                      <a:r>
                        <a:rPr sz="1000" b="1" spc="-6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100억 </a:t>
                      </a:r>
                      <a:r>
                        <a:rPr sz="1000" b="1" spc="-80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원</a:t>
                      </a:r>
                      <a:r>
                        <a:rPr sz="1000" b="1" spc="-7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D283B"/>
                          </a:solidFill>
                          <a:latin typeface="Malgun Gothic"/>
                          <a:cs typeface="Malgun Gothic"/>
                        </a:rPr>
                        <a:t>확보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E2E8EF"/>
                      </a:solidFill>
                      <a:prstDash val="solid"/>
                    </a:lnL>
                    <a:lnR w="9525">
                      <a:solidFill>
                        <a:srgbClr val="E2E8EF"/>
                      </a:solidFill>
                      <a:prstDash val="solid"/>
                    </a:lnR>
                    <a:lnT w="9525">
                      <a:solidFill>
                        <a:srgbClr val="E2E8EF"/>
                      </a:solidFill>
                      <a:prstDash val="solid"/>
                    </a:lnT>
                    <a:lnB w="9525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object 5">
            <a:extLst>
              <a:ext uri="{FF2B5EF4-FFF2-40B4-BE49-F238E27FC236}">
                <a16:creationId xmlns:a16="http://schemas.microsoft.com/office/drawing/2014/main" id="{C50C44CC-828A-4011-93B8-1926B5AEA7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8165" y="2866831"/>
            <a:ext cx="107950" cy="111125"/>
          </a:xfrm>
          <a:prstGeom prst="rect">
            <a:avLst/>
          </a:prstGeom>
        </p:spPr>
      </p:pic>
      <p:pic>
        <p:nvPicPr>
          <p:cNvPr id="11" name="object 2">
            <a:extLst>
              <a:ext uri="{FF2B5EF4-FFF2-40B4-BE49-F238E27FC236}">
                <a16:creationId xmlns:a16="http://schemas.microsoft.com/office/drawing/2014/main" id="{A0D37E86-8EAB-42F9-8EFC-E85565B66FD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1358" y="5239036"/>
            <a:ext cx="101600" cy="120650"/>
          </a:xfrm>
          <a:prstGeom prst="rect">
            <a:avLst/>
          </a:prstGeom>
        </p:spPr>
      </p:pic>
      <p:pic>
        <p:nvPicPr>
          <p:cNvPr id="12" name="object 3">
            <a:extLst>
              <a:ext uri="{FF2B5EF4-FFF2-40B4-BE49-F238E27FC236}">
                <a16:creationId xmlns:a16="http://schemas.microsoft.com/office/drawing/2014/main" id="{9BE4D1BD-AF61-447B-B592-7CED4432DC3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4820" y="6502051"/>
            <a:ext cx="101600" cy="12065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38ECE51-0287-4073-ADE3-90127D66620B}"/>
              </a:ext>
            </a:extLst>
          </p:cNvPr>
          <p:cNvSpPr txBox="1"/>
          <p:nvPr/>
        </p:nvSpPr>
        <p:spPr>
          <a:xfrm>
            <a:off x="812706" y="4313678"/>
            <a:ext cx="6145530" cy="256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D3A89"/>
                </a:solidFill>
                <a:latin typeface="Malgun Gothic"/>
                <a:cs typeface="Malgun Gothic"/>
              </a:rPr>
              <a:t>12.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실행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프로토콜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및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실무적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차기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단계</a:t>
            </a:r>
            <a:r>
              <a:rPr sz="1500" b="1" spc="-9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70" dirty="0">
                <a:solidFill>
                  <a:srgbClr val="1D3A89"/>
                </a:solidFill>
                <a:latin typeface="Malgun Gothic"/>
                <a:cs typeface="Malgun Gothic"/>
              </a:rPr>
              <a:t>(</a:t>
            </a:r>
            <a:r>
              <a:rPr sz="1500" spc="-70" dirty="0">
                <a:solidFill>
                  <a:srgbClr val="1D3A89"/>
                </a:solidFill>
                <a:latin typeface="Arial Black"/>
                <a:cs typeface="Arial Black"/>
              </a:rPr>
              <a:t>Next</a:t>
            </a:r>
            <a:r>
              <a:rPr sz="1500" spc="-95" dirty="0">
                <a:solidFill>
                  <a:srgbClr val="1D3A89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1D3A89"/>
                </a:solidFill>
                <a:latin typeface="Arial Black"/>
                <a:cs typeface="Arial Black"/>
              </a:rPr>
              <a:t>Steps</a:t>
            </a:r>
            <a:r>
              <a:rPr sz="1500" b="1" spc="-10" dirty="0">
                <a:solidFill>
                  <a:srgbClr val="1D3A89"/>
                </a:solidFill>
                <a:latin typeface="Malgun Gothic"/>
                <a:cs typeface="Malgun Gothic"/>
              </a:rPr>
              <a:t>)</a:t>
            </a:r>
            <a:endParaRPr sz="1500" dirty="0">
              <a:latin typeface="Malgun Gothic"/>
              <a:cs typeface="Malgun Gothic"/>
            </a:endParaRPr>
          </a:p>
          <a:p>
            <a:pPr marL="374650" lvl="1" indent="-361950">
              <a:lnSpc>
                <a:spcPct val="100000"/>
              </a:lnSpc>
              <a:spcBef>
                <a:spcPts val="2165"/>
              </a:spcBef>
              <a:buClr>
                <a:srgbClr val="334154"/>
              </a:buClr>
              <a:buFont typeface="Malgun Gothic"/>
              <a:buAutoNum type="arabicPeriod"/>
              <a:tabLst>
                <a:tab pos="374650" algn="l"/>
              </a:tabLst>
            </a:pP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기본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합의서(</a:t>
            </a:r>
            <a:r>
              <a:rPr sz="1200" spc="-55" dirty="0">
                <a:solidFill>
                  <a:srgbClr val="334154"/>
                </a:solidFill>
                <a:latin typeface="Arial Black"/>
                <a:cs typeface="Arial Black"/>
              </a:rPr>
              <a:t>MOU</a:t>
            </a:r>
            <a:r>
              <a:rPr sz="1200" b="1" spc="-55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및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구속력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있는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95" dirty="0">
                <a:solidFill>
                  <a:srgbClr val="334154"/>
                </a:solidFill>
                <a:latin typeface="Malgun Gothic"/>
                <a:cs typeface="Malgun Gothic"/>
              </a:rPr>
              <a:t>계약(</a:t>
            </a:r>
            <a:r>
              <a:rPr sz="1200" spc="-95" dirty="0">
                <a:solidFill>
                  <a:srgbClr val="334154"/>
                </a:solidFill>
                <a:latin typeface="Arial Black"/>
                <a:cs typeface="Arial Black"/>
              </a:rPr>
              <a:t>SPA</a:t>
            </a:r>
            <a:r>
              <a:rPr sz="1200" b="1" spc="-95" dirty="0">
                <a:solidFill>
                  <a:srgbClr val="334154"/>
                </a:solidFill>
                <a:latin typeface="Malgun Gothic"/>
                <a:cs typeface="Malgun Gothic"/>
              </a:rPr>
              <a:t>)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35" dirty="0">
                <a:solidFill>
                  <a:srgbClr val="334154"/>
                </a:solidFill>
                <a:latin typeface="Malgun Gothic"/>
                <a:cs typeface="Malgun Gothic"/>
              </a:rPr>
              <a:t>체결</a:t>
            </a:r>
            <a:endParaRPr sz="1200" dirty="0">
              <a:latin typeface="Malgun Gothic"/>
              <a:cs typeface="Malgun Gothic"/>
            </a:endParaRPr>
          </a:p>
          <a:p>
            <a:pPr marL="12700" marR="5715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제안서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수령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직후,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무루아와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디딤파트너스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측의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내부</a:t>
            </a:r>
            <a:r>
              <a:rPr sz="1050" spc="92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토가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완료되는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대로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5" dirty="0">
                <a:solidFill>
                  <a:srgbClr val="1D283B"/>
                </a:solidFill>
                <a:latin typeface="Malgun Gothic"/>
                <a:cs typeface="Malgun Gothic"/>
              </a:rPr>
              <a:t>4자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간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비밀유지약정(</a:t>
            </a:r>
            <a:r>
              <a:rPr sz="1050" spc="-50" dirty="0">
                <a:solidFill>
                  <a:srgbClr val="1D283B"/>
                </a:solidFill>
                <a:latin typeface="Microsoft Sans Serif"/>
                <a:cs typeface="Microsoft Sans Serif"/>
              </a:rPr>
              <a:t>NDA</a:t>
            </a:r>
            <a:r>
              <a:rPr sz="1050" spc="-50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60" dirty="0">
                <a:solidFill>
                  <a:srgbClr val="1D283B"/>
                </a:solidFill>
                <a:latin typeface="Malgun Gothic"/>
                <a:cs typeface="Malgun Gothic"/>
              </a:rPr>
              <a:t>전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략적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기본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합의서(</a:t>
            </a:r>
            <a:r>
              <a:rPr sz="1050" spc="-25" dirty="0">
                <a:solidFill>
                  <a:srgbClr val="1D283B"/>
                </a:solidFill>
                <a:latin typeface="Microsoft Sans Serif"/>
                <a:cs typeface="Microsoft Sans Serif"/>
              </a:rPr>
              <a:t>MOU</a:t>
            </a:r>
            <a:r>
              <a:rPr sz="1050" spc="-25" dirty="0">
                <a:solidFill>
                  <a:srgbClr val="1D283B"/>
                </a:solidFill>
                <a:latin typeface="Malgun Gothic"/>
                <a:cs typeface="Malgun Gothic"/>
              </a:rPr>
              <a:t>)에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서명합니다.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이후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케이리츠와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유니코에너지그룹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간의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사채권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양수도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계약서(</a:t>
            </a:r>
            <a:r>
              <a:rPr sz="1050" spc="-65" dirty="0">
                <a:solidFill>
                  <a:srgbClr val="1D283B"/>
                </a:solidFill>
                <a:latin typeface="Microsoft Sans Serif"/>
                <a:cs typeface="Microsoft Sans Serif"/>
              </a:rPr>
              <a:t>SPA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)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85" dirty="0">
                <a:solidFill>
                  <a:srgbClr val="1D283B"/>
                </a:solidFill>
                <a:latin typeface="Malgun Gothic"/>
                <a:cs typeface="Malgun Gothic"/>
              </a:rPr>
              <a:t>및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무루아와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상장사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간의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양수도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본계약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작성을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동시에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진행합니다.</a:t>
            </a:r>
            <a:endParaRPr sz="105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 dirty="0">
              <a:latin typeface="Malgun Gothic"/>
              <a:cs typeface="Malgun Gothic"/>
            </a:endParaRPr>
          </a:p>
          <a:p>
            <a:pPr marL="374650" lvl="1" indent="-361950">
              <a:lnSpc>
                <a:spcPct val="100000"/>
              </a:lnSpc>
              <a:spcBef>
                <a:spcPts val="5"/>
              </a:spcBef>
              <a:buClr>
                <a:srgbClr val="334154"/>
              </a:buClr>
              <a:buFont typeface="Malgun Gothic"/>
              <a:buAutoNum type="arabicPeriod" startAt="2"/>
              <a:tabLst>
                <a:tab pos="374650" algn="l"/>
              </a:tabLst>
            </a:pP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삼광빌딩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이사회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안건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상정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준비</a:t>
            </a:r>
            <a:endParaRPr sz="1200" dirty="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디딤파트너스의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법률</a:t>
            </a:r>
            <a:r>
              <a:rPr sz="1050" spc="96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토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하에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강남구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삼성로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5" dirty="0">
                <a:solidFill>
                  <a:srgbClr val="1D283B"/>
                </a:solidFill>
                <a:latin typeface="Malgun Gothic"/>
                <a:cs typeface="Malgun Gothic"/>
              </a:rPr>
              <a:t>633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삼광빌딩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본점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이사회장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제출용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안건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통지서를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작성하여</a:t>
            </a:r>
            <a:r>
              <a:rPr sz="1050" spc="-2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210" dirty="0">
                <a:solidFill>
                  <a:srgbClr val="1D283B"/>
                </a:solidFill>
                <a:latin typeface="Malgun Gothic"/>
                <a:cs typeface="Malgun Gothic"/>
              </a:rPr>
              <a:t>각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이사들에게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상법적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시한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내에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발송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조치합니다.</a:t>
            </a:r>
            <a:endParaRPr sz="1050" dirty="0">
              <a:latin typeface="Malgun Gothic"/>
              <a:cs typeface="Malgun Gothic"/>
            </a:endParaRPr>
          </a:p>
        </p:txBody>
      </p:sp>
      <p:pic>
        <p:nvPicPr>
          <p:cNvPr id="16" name="object 2">
            <a:extLst>
              <a:ext uri="{FF2B5EF4-FFF2-40B4-BE49-F238E27FC236}">
                <a16:creationId xmlns:a16="http://schemas.microsoft.com/office/drawing/2014/main" id="{555B8CD9-022A-499F-884C-095295BE418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8085" y="8232976"/>
            <a:ext cx="111125" cy="114300"/>
          </a:xfrm>
          <a:prstGeom prst="rect">
            <a:avLst/>
          </a:prstGeom>
        </p:spPr>
      </p:pic>
      <p:sp>
        <p:nvSpPr>
          <p:cNvPr id="17" name="object 3">
            <a:extLst>
              <a:ext uri="{FF2B5EF4-FFF2-40B4-BE49-F238E27FC236}">
                <a16:creationId xmlns:a16="http://schemas.microsoft.com/office/drawing/2014/main" id="{4D55CB82-B45B-4BB9-AFC1-809BBBB47121}"/>
              </a:ext>
            </a:extLst>
          </p:cNvPr>
          <p:cNvSpPr txBox="1"/>
          <p:nvPr/>
        </p:nvSpPr>
        <p:spPr>
          <a:xfrm>
            <a:off x="806356" y="7074573"/>
            <a:ext cx="6145530" cy="281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D3A89"/>
                </a:solidFill>
                <a:latin typeface="Malgun Gothic"/>
                <a:cs typeface="Malgun Gothic"/>
              </a:rPr>
              <a:t>13.</a:t>
            </a:r>
            <a:r>
              <a:rPr sz="1500" b="1" spc="-90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결론</a:t>
            </a:r>
            <a:r>
              <a:rPr sz="1500" b="1" spc="-8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및</a:t>
            </a:r>
            <a:r>
              <a:rPr sz="1500" b="1" spc="-8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면책</a:t>
            </a:r>
            <a:r>
              <a:rPr sz="1500" b="1" spc="-85" dirty="0">
                <a:solidFill>
                  <a:srgbClr val="1D3A89"/>
                </a:solidFill>
                <a:latin typeface="Malgun Gothic"/>
                <a:cs typeface="Malgun Gothic"/>
              </a:rPr>
              <a:t> </a:t>
            </a:r>
            <a:r>
              <a:rPr sz="1500" b="1" spc="-120" dirty="0">
                <a:solidFill>
                  <a:srgbClr val="1D3A89"/>
                </a:solidFill>
                <a:latin typeface="Malgun Gothic"/>
                <a:cs typeface="Malgun Gothic"/>
              </a:rPr>
              <a:t>고지</a:t>
            </a:r>
            <a:r>
              <a:rPr sz="1500" b="1" spc="-85" dirty="0">
                <a:solidFill>
                  <a:srgbClr val="1D3A89"/>
                </a:solidFill>
                <a:latin typeface="Malgun Gothic"/>
                <a:cs typeface="Malgun Gothic"/>
              </a:rPr>
              <a:t> (</a:t>
            </a:r>
            <a:r>
              <a:rPr sz="1500" spc="-85" dirty="0">
                <a:solidFill>
                  <a:srgbClr val="1D3A89"/>
                </a:solidFill>
                <a:latin typeface="Arial Black"/>
                <a:cs typeface="Arial Black"/>
              </a:rPr>
              <a:t>Conclusion</a:t>
            </a:r>
            <a:r>
              <a:rPr sz="1500" spc="-95" dirty="0">
                <a:solidFill>
                  <a:srgbClr val="1D3A89"/>
                </a:solidFill>
                <a:latin typeface="Arial Black"/>
                <a:cs typeface="Arial Black"/>
              </a:rPr>
              <a:t> </a:t>
            </a:r>
            <a:r>
              <a:rPr sz="1500" spc="-220" dirty="0">
                <a:solidFill>
                  <a:srgbClr val="1D3A89"/>
                </a:solidFill>
                <a:latin typeface="Arial Black"/>
                <a:cs typeface="Arial Black"/>
              </a:rPr>
              <a:t>&amp;</a:t>
            </a:r>
            <a:r>
              <a:rPr sz="1500" spc="-90" dirty="0">
                <a:solidFill>
                  <a:srgbClr val="1D3A89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1D3A89"/>
                </a:solidFill>
                <a:latin typeface="Arial Black"/>
                <a:cs typeface="Arial Black"/>
              </a:rPr>
              <a:t>Disclaimer</a:t>
            </a:r>
            <a:r>
              <a:rPr sz="1500" b="1" spc="-10" dirty="0">
                <a:solidFill>
                  <a:srgbClr val="1D3A89"/>
                </a:solidFill>
                <a:latin typeface="Malgun Gothic"/>
                <a:cs typeface="Malgun Gothic"/>
              </a:rPr>
              <a:t>)</a:t>
            </a:r>
            <a:endParaRPr sz="1500">
              <a:latin typeface="Malgun Gothic"/>
              <a:cs typeface="Malgun Gothic"/>
            </a:endParaRPr>
          </a:p>
          <a:p>
            <a:pPr marL="374650" lvl="1" indent="-361950">
              <a:lnSpc>
                <a:spcPct val="100000"/>
              </a:lnSpc>
              <a:spcBef>
                <a:spcPts val="2165"/>
              </a:spcBef>
              <a:buClr>
                <a:srgbClr val="334154"/>
              </a:buClr>
              <a:buFont typeface="Malgun Gothic"/>
              <a:buAutoNum type="arabicPeriod"/>
              <a:tabLst>
                <a:tab pos="374650" algn="l"/>
              </a:tabLst>
            </a:pP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본</a:t>
            </a:r>
            <a:r>
              <a:rPr sz="1200" b="1" spc="-8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프로젝트의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334154"/>
                </a:solidFill>
                <a:latin typeface="Malgun Gothic"/>
                <a:cs typeface="Malgun Gothic"/>
              </a:rPr>
              <a:t>궁극적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35" dirty="0">
                <a:solidFill>
                  <a:srgbClr val="334154"/>
                </a:solidFill>
                <a:latin typeface="Malgun Gothic"/>
                <a:cs typeface="Malgun Gothic"/>
              </a:rPr>
              <a:t>비전</a:t>
            </a:r>
            <a:endParaRPr sz="1200">
              <a:latin typeface="Malgun Gothic"/>
              <a:cs typeface="Malgun Gothic"/>
            </a:endParaRPr>
          </a:p>
          <a:p>
            <a:pPr marL="12700" marR="5080" algn="just">
              <a:lnSpc>
                <a:spcPct val="141700"/>
              </a:lnSpc>
              <a:spcBef>
                <a:spcPts val="1080"/>
              </a:spcBef>
            </a:pPr>
            <a:r>
              <a:rPr sz="1050" b="1" spc="-65" dirty="0">
                <a:solidFill>
                  <a:srgbClr val="1D283B"/>
                </a:solidFill>
                <a:latin typeface="Malgun Gothic"/>
                <a:cs typeface="Malgun Gothic"/>
              </a:rPr>
              <a:t>[프로젝트</a:t>
            </a:r>
            <a:r>
              <a:rPr sz="1050" b="1" spc="-70" dirty="0">
                <a:solidFill>
                  <a:srgbClr val="1D283B"/>
                </a:solidFill>
                <a:latin typeface="Malgun Gothic"/>
                <a:cs typeface="Malgun Gothic"/>
              </a:rPr>
              <a:t> 메티스]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는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자산가에게는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최적의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유동성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확보를,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거버넌스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파트너에게는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리스크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없는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완벽한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실무적</a:t>
            </a:r>
            <a:r>
              <a:rPr sz="1050" spc="-7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1D283B"/>
                </a:solidFill>
                <a:latin typeface="Malgun Gothic"/>
                <a:cs typeface="Malgun Gothic"/>
              </a:rPr>
              <a:t>명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분을,</a:t>
            </a:r>
            <a:r>
              <a:rPr sz="1050" spc="919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융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기관에는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확실성이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보장된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우량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상품을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제공하는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대한민국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자본시장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내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흔치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않은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마스터피스형</a:t>
            </a:r>
            <a:r>
              <a:rPr sz="1050" spc="-5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40" dirty="0">
                <a:solidFill>
                  <a:srgbClr val="1D283B"/>
                </a:solidFill>
                <a:latin typeface="Malgun Gothic"/>
                <a:cs typeface="Malgun Gothic"/>
              </a:rPr>
              <a:t>딜입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40" dirty="0">
                <a:solidFill>
                  <a:srgbClr val="1D283B"/>
                </a:solidFill>
                <a:latin typeface="Malgun Gothic"/>
                <a:cs typeface="Malgun Gothic"/>
              </a:rPr>
              <a:t>니다.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신뢰할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수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있는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인적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네트워크를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기반으로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모든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리스크가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사전에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통제된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본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거래에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무루아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이성용</a:t>
            </a:r>
            <a:r>
              <a:rPr sz="1050" spc="-75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114" dirty="0">
                <a:solidFill>
                  <a:srgbClr val="1D283B"/>
                </a:solidFill>
                <a:latin typeface="Malgun Gothic"/>
                <a:cs typeface="Malgun Gothic"/>
              </a:rPr>
              <a:t>회장님과</a:t>
            </a:r>
            <a:r>
              <a:rPr sz="1050" spc="-3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디딤파트너스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측의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전격적인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동참과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85" dirty="0">
                <a:solidFill>
                  <a:srgbClr val="1D283B"/>
                </a:solidFill>
                <a:latin typeface="Malgun Gothic"/>
                <a:cs typeface="Malgun Gothic"/>
              </a:rPr>
              <a:t>결단을</a:t>
            </a:r>
            <a:r>
              <a:rPr sz="1050" spc="-80" dirty="0">
                <a:solidFill>
                  <a:srgbClr val="1D283B"/>
                </a:solidFill>
                <a:latin typeface="Malgun Gothic"/>
                <a:cs typeface="Malgun Gothic"/>
              </a:rPr>
              <a:t> </a:t>
            </a:r>
            <a:r>
              <a:rPr sz="1050" spc="-65" dirty="0">
                <a:solidFill>
                  <a:srgbClr val="1D283B"/>
                </a:solidFill>
                <a:latin typeface="Malgun Gothic"/>
                <a:cs typeface="Malgun Gothic"/>
              </a:rPr>
              <a:t>기대합니다.</a:t>
            </a:r>
            <a:endParaRPr sz="10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Malgun Gothic"/>
              <a:cs typeface="Malgun Gothic"/>
            </a:endParaRPr>
          </a:p>
          <a:p>
            <a:pPr marL="374650" lvl="1" indent="-361950">
              <a:lnSpc>
                <a:spcPct val="100000"/>
              </a:lnSpc>
              <a:spcBef>
                <a:spcPts val="5"/>
              </a:spcBef>
              <a:buClr>
                <a:srgbClr val="334154"/>
              </a:buClr>
              <a:buFont typeface="Malgun Gothic"/>
              <a:buAutoNum type="arabicPeriod" startAt="2"/>
              <a:tabLst>
                <a:tab pos="374650" algn="l"/>
              </a:tabLst>
            </a:pP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법적</a:t>
            </a:r>
            <a:r>
              <a:rPr sz="1200" b="1" spc="-75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105" dirty="0">
                <a:solidFill>
                  <a:srgbClr val="334154"/>
                </a:solidFill>
                <a:latin typeface="Malgun Gothic"/>
                <a:cs typeface="Malgun Gothic"/>
              </a:rPr>
              <a:t>면책</a:t>
            </a:r>
            <a:r>
              <a:rPr sz="1200" b="1" spc="-70" dirty="0">
                <a:solidFill>
                  <a:srgbClr val="334154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334154"/>
                </a:solidFill>
                <a:latin typeface="Malgun Gothic"/>
                <a:cs typeface="Malgun Gothic"/>
              </a:rPr>
              <a:t>고지</a:t>
            </a:r>
            <a:endParaRPr sz="1200">
              <a:latin typeface="Malgun Gothic"/>
              <a:cs typeface="Malgun Gothic"/>
            </a:endParaRPr>
          </a:p>
          <a:p>
            <a:pPr marL="12700" marR="5715" algn="just">
              <a:lnSpc>
                <a:spcPct val="125000"/>
              </a:lnSpc>
              <a:spcBef>
                <a:spcPts val="1010"/>
              </a:spcBef>
            </a:pP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본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제안서는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정보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제공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및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전략적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파트너십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유치를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목적으로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작성된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55" dirty="0">
                <a:solidFill>
                  <a:srgbClr val="64748A"/>
                </a:solidFill>
                <a:latin typeface="Malgun Gothic"/>
                <a:cs typeface="Malgun Gothic"/>
              </a:rPr>
              <a:t>문서이며,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실제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계약의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효력은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향후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정식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서명될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본계약서에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55" dirty="0">
                <a:solidFill>
                  <a:srgbClr val="64748A"/>
                </a:solidFill>
                <a:latin typeface="Malgun Gothic"/>
                <a:cs typeface="Malgun Gothic"/>
              </a:rPr>
              <a:t>준합니다.</a:t>
            </a:r>
            <a:r>
              <a:rPr sz="850" spc="-2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문서에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포함된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가치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평가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및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시뮬레이션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수치는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시장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상황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및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관계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기관의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회계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감정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결과에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따라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미세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조정될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수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55" dirty="0">
                <a:solidFill>
                  <a:srgbClr val="64748A"/>
                </a:solidFill>
                <a:latin typeface="Malgun Gothic"/>
                <a:cs typeface="Malgun Gothic"/>
              </a:rPr>
              <a:t>있습니다.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본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문서는</a:t>
            </a:r>
            <a:r>
              <a:rPr sz="850" spc="-40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대외</a:t>
            </a:r>
            <a:r>
              <a:rPr sz="850" spc="-2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비로서</a:t>
            </a:r>
            <a:r>
              <a:rPr sz="850" spc="-6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수신처</a:t>
            </a:r>
            <a:r>
              <a:rPr sz="850" spc="-6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외의</a:t>
            </a:r>
            <a:r>
              <a:rPr sz="850" spc="-6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55" dirty="0">
                <a:solidFill>
                  <a:srgbClr val="64748A"/>
                </a:solidFill>
                <a:latin typeface="Malgun Gothic"/>
                <a:cs typeface="Malgun Gothic"/>
              </a:rPr>
              <a:t>제3자에게</a:t>
            </a:r>
            <a:r>
              <a:rPr sz="850" spc="-6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무단</a:t>
            </a:r>
            <a:r>
              <a:rPr sz="850" spc="-6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배포</a:t>
            </a:r>
            <a:r>
              <a:rPr sz="850" spc="-6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또는</a:t>
            </a:r>
            <a:r>
              <a:rPr sz="850" spc="-6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복사할</a:t>
            </a:r>
            <a:r>
              <a:rPr sz="850" spc="-6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수</a:t>
            </a:r>
            <a:r>
              <a:rPr sz="850" spc="-6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없음을</a:t>
            </a:r>
            <a:r>
              <a:rPr sz="850" spc="-6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70" dirty="0">
                <a:solidFill>
                  <a:srgbClr val="64748A"/>
                </a:solidFill>
                <a:latin typeface="Malgun Gothic"/>
                <a:cs typeface="Malgun Gothic"/>
              </a:rPr>
              <a:t>엄격히</a:t>
            </a:r>
            <a:r>
              <a:rPr sz="850" spc="-65" dirty="0">
                <a:solidFill>
                  <a:srgbClr val="64748A"/>
                </a:solidFill>
                <a:latin typeface="Malgun Gothic"/>
                <a:cs typeface="Malgun Gothic"/>
              </a:rPr>
              <a:t> </a:t>
            </a:r>
            <a:r>
              <a:rPr sz="850" spc="-55" dirty="0">
                <a:solidFill>
                  <a:srgbClr val="64748A"/>
                </a:solidFill>
                <a:latin typeface="Malgun Gothic"/>
                <a:cs typeface="Malgun Gothic"/>
              </a:rPr>
              <a:t>고지합니다.</a:t>
            </a:r>
            <a:endParaRPr sz="850">
              <a:latin typeface="Malgun Gothic"/>
              <a:cs typeface="Malgun Gothic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C7BA9A4-422D-40B5-A621-7A1E673AEFD3}"/>
              </a:ext>
            </a:extLst>
          </p:cNvPr>
          <p:cNvCxnSpPr/>
          <p:nvPr/>
        </p:nvCxnSpPr>
        <p:spPr>
          <a:xfrm>
            <a:off x="714037" y="4240177"/>
            <a:ext cx="0" cy="233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0613790B-DA2C-4A08-B4BB-26B4DE13B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60" y="4156625"/>
            <a:ext cx="295316" cy="400106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BBFC974-1AFA-4D94-A4E4-2203B1903EB9}"/>
              </a:ext>
            </a:extLst>
          </p:cNvPr>
          <p:cNvCxnSpPr/>
          <p:nvPr/>
        </p:nvCxnSpPr>
        <p:spPr>
          <a:xfrm>
            <a:off x="678767" y="7025994"/>
            <a:ext cx="0" cy="233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325DC126-AE96-4109-9E18-21A330D98E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90" y="6942442"/>
            <a:ext cx="295316" cy="400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2826</Words>
  <Application>Microsoft Office PowerPoint</Application>
  <PresentationFormat>사용자 지정</PresentationFormat>
  <Paragraphs>205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맑은 고딕</vt:lpstr>
      <vt:lpstr>맑은 고딕</vt:lpstr>
      <vt:lpstr>Arial Black</vt:lpstr>
      <vt:lpstr>Calibri</vt:lpstr>
      <vt:lpstr>Calibri Light</vt:lpstr>
      <vt:lpstr>Microsoft Sans Serif</vt:lpstr>
      <vt:lpstr>Times New Roman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메티스 - 전략적 자본 구조화 및 자산 양수도 제안서</dc:title>
  <dc:creator>user</dc:creator>
  <cp:lastModifiedBy>user</cp:lastModifiedBy>
  <cp:revision>9</cp:revision>
  <dcterms:created xsi:type="dcterms:W3CDTF">2026-06-24T08:33:10Z</dcterms:created>
  <dcterms:modified xsi:type="dcterms:W3CDTF">2026-06-24T09:51:28Z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2026-06-24T00:00:00Z</vt:filetime>
  </property>
  <property fmtid="{D5CDD505-2E9C-101B-9397-08002B2CF9AE}" pid="4" name="Producer">
    <vt:lpwstr>WeasyPrint 62.3</vt:lpwstr>
  </property>
  <property fmtid="{D5CDD505-2E9C-101B-9397-08002B2CF9AE}" pid="5" name="LastSaved">
    <vt:filetime>2026-06-24T00:00:00Z</vt:filetime>
  </property>
</Properties>
</file>